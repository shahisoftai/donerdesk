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63040"/>
            <a:ext cx="109728" cy="2926080"/>
          </a:xfrm>
          <a:prstGeom prst="rect">
            <a:avLst/>
          </a:prstGeom>
          <a:solidFill>
            <a:srgbClr val="F2B5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2B544"/>
                </a:solidFill>
                <a:latin typeface="Calibri"/>
              </a:rPr>
              <a:t>DONORDESK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Your whole programme,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2B544"/>
                </a:solidFill>
                <a:latin typeface="Calibri"/>
              </a:rPr>
              <a:t>in one place.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A3B5AD"/>
                </a:solidFill>
                <a:latin typeface="Calibri"/>
              </a:rPr>
              <a:t>Plan, record, monitor and prove the work. Donor reports are drafted from that record and approved by people.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C75"/>
                </a:solidFill>
                <a:latin typeface="Calibri"/>
              </a:rPr>
              <a:t>October 2026 · donordesk.online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7791F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1614"/>
                </a:solidFill>
                <a:latin typeface="Calibri"/>
              </a:rPr>
              <a:t>The work is scattered, then rebuilt for every donor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F3D38"/>
                </a:solidFill>
                <a:latin typeface="Calibri"/>
              </a:rPr>
              <a:t>•  Indicators live in one spreadsheet, activities in another, evidence in folders and chat threads.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F3D38"/>
                </a:solidFill>
                <a:latin typeface="Calibri"/>
              </a:rPr>
              <a:t>•  The report is assembled in the last weeks before the deadline, from numbers nobody can trace back.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F3D38"/>
                </a:solidFill>
                <a:latin typeface="Calibri"/>
              </a:rPr>
              <a:t>•  Compliance gaps (a missing document, an unverified figure) surface on the day of submission.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F3D38"/>
                </a:solidFill>
                <a:latin typeface="Calibri"/>
              </a:rPr>
              <a:t>•  Each new donor wants the same facts in a different template, so the work is repeated.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C75"/>
                </a:solidFill>
                <a:latin typeface="Calibri"/>
              </a:rPr>
              <a:t>DonorDesk · Overview v2.004 · donordesk.online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C7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7791F"/>
                </a:solidFill>
                <a:latin typeface="Calibri"/>
              </a:rPr>
              <a:t>THE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1614"/>
                </a:solidFill>
                <a:latin typeface="Calibri"/>
              </a:rPr>
              <a:t>One record from the work to the donor's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567863" cy="274320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21106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1 ·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2110663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Logframe, indicators, baselines and targets. Import what you already have from Excel, CSV or Google Sheets.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0823" y="1828800"/>
            <a:ext cx="2567863" cy="274320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9423" y="2011680"/>
            <a:ext cx="21106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2 ·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9423" y="2514600"/>
            <a:ext cx="2110663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Field staff log activities as they happen, typed or dictated. Indicator values are entered once per period.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6" y="1828800"/>
            <a:ext cx="2567863" cy="274320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1606" y="2011680"/>
            <a:ext cx="21106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3 ·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1606" y="2514600"/>
            <a:ext cx="2110663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Evidence is linked to the activities it proves. The checklist shows what is missing and what closes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5189" y="1828800"/>
            <a:ext cx="2567863" cy="274320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03789" y="2011680"/>
            <a:ext cx="211066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4 ·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03789" y="2514600"/>
            <a:ext cx="2110663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The donor template structures the report. Drafts cite their sources. A person approves before export.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63029"/>
                </a:solidFill>
                <a:latin typeface="Calibri"/>
              </a:rPr>
              <a:t>The record holds the work. The report is one thing it produces.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C75"/>
                </a:solidFill>
                <a:latin typeface="Calibri"/>
              </a:rPr>
              <a:t>DonorDesk · Overview v2.004 · donordesk.online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C7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7791F"/>
                </a:solidFill>
                <a:latin typeface="Calibri"/>
              </a:rPr>
              <a:t>RUN THE PROGRAMME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1614"/>
                </a:solidFill>
                <a:latin typeface="Calibri"/>
              </a:rPr>
              <a:t>The working system your team uses every 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15258" cy="201168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Logframe and indicators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305805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Goals to activities, with indicators, baselines, targets and frequency. Archive rather than delete once values exist.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828800"/>
            <a:ext cx="3515258" cy="201168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Activity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6818" y="2514600"/>
            <a:ext cx="305805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Date, place, participants and a narrative. The reporting period is worked out from the date. Dictation and offline saving.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6" y="1828800"/>
            <a:ext cx="3515258" cy="201168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6396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Data Center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6396" y="2514600"/>
            <a:ext cx="305805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Every indicator value across every period in one sheet. Download, change, import with a preview. Charts from the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14800"/>
            <a:ext cx="3515258" cy="201168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97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Evidence library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305805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Files in your Google Drive or managed storage. Linked to activities and indicators. Evidence packs as ZIP.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8218" y="4114800"/>
            <a:ext cx="3515258" cy="201168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4297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Team and 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6818" y="4800600"/>
            <a:ext cx="305805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Seven roles: Admin, Project Manager, M&amp;E, Grants, Field, Compliance and Viewer. Seats follow the plan.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7796" y="4114800"/>
            <a:ext cx="3515258" cy="201168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6396" y="4297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My 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6396" y="4800600"/>
            <a:ext cx="305805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One queue across every project: reports to review, checklist items, evidence to verify, activities to accept.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C75"/>
                </a:solidFill>
                <a:latin typeface="Calibri"/>
              </a:rPr>
              <a:t>DonorDesk · Overview v2.004 · donordesk.online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C7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7791F"/>
                </a:solidFill>
                <a:latin typeface="Calibri"/>
              </a:rPr>
              <a:t>FIELD CAPTURE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1614"/>
                </a:solidFill>
                <a:latin typeface="Calibri"/>
              </a:rPr>
              <a:t>Activities recorded when the work happens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5760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F3D38"/>
                </a:solidFill>
                <a:latin typeface="Calibri"/>
              </a:rPr>
              <a:t>•  Date, place, participants with breakdowns, and a narrative. A record can cover a date span.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F3D38"/>
                </a:solidFill>
                <a:latin typeface="Calibri"/>
              </a:rPr>
              <a:t>•  Dictate the narrative with the microphone button. The form fills in date, place and people only from what the words state.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F3D38"/>
                </a:solidFill>
                <a:latin typeface="Calibri"/>
              </a:rPr>
              <a:t>•  A finished record is saved on the device and sent when the connection returns.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F3D38"/>
                </a:solidFill>
                <a:latin typeface="Calibri"/>
              </a:rPr>
              <a:t>•  Managers accept, send back or reject records, one at a time or in bulk.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0" y="1828800"/>
            <a:ext cx="4846320" cy="402336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0" y="201168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Status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2560320"/>
            <a:ext cx="43891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F3D38"/>
                </a:solidFill>
                <a:latin typeface="Calibri"/>
              </a:rPr>
              <a:t>Draft → Submitted → Accepted</a:t>
            </a:r>
          </a:p>
          <a:p>
            <a:pPr algn="l"/>
            <a:r>
              <a:rPr sz="1400" b="0">
                <a:solidFill>
                  <a:srgbClr val="2F3D38"/>
                </a:solidFill>
                <a:latin typeface="Calibri"/>
              </a:rPr>
              <a:t>Submitted → Needs revision → Submitted</a:t>
            </a:r>
          </a:p>
          <a:p>
            <a:pPr algn="l"/>
            <a:r>
              <a:rPr sz="1400" b="0">
                <a:solidFill>
                  <a:srgbClr val="2F3D38"/>
                </a:solidFill>
                <a:latin typeface="Calibri"/>
              </a:rPr>
              <a:t>Rejected or Withdrawn from most states</a:t>
            </a:r>
          </a:p>
          <a:p>
            <a:pPr algn="l"/>
            <a:r>
              <a:rPr sz="1400" b="0">
                <a:solidFill>
                  <a:srgbClr val="2F3D38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2F3D38"/>
                </a:solidFill>
                <a:latin typeface="Calibri"/>
              </a:rPr>
              <a:t>Undoing an accepted record is refused when an approved report already used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4553F"/>
                </a:solidFill>
                <a:latin typeface="Calibri"/>
              </a:rPr>
              <a:t>Limit: the app needs a connection to open. Offline use is queued saving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C75"/>
                </a:solidFill>
                <a:latin typeface="Calibri"/>
              </a:rPr>
              <a:t>DonorDesk · Overview v2.004 · donordesk.online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C7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7791F"/>
                </a:solidFill>
                <a:latin typeface="Calibri"/>
              </a:rPr>
              <a:t>DATA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1614"/>
                </a:solidFill>
                <a:latin typeface="Calibri"/>
              </a:rPr>
              <a:t>Every indicator value, every period, one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2F3D38"/>
                </a:solidFill>
                <a:latin typeface="Calibri"/>
              </a:rPr>
              <a:t>•  See all reporting periods side by side, by period or as a list.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F3D38"/>
                </a:solidFill>
                <a:latin typeface="Calibri"/>
              </a:rPr>
              <a:t>•  Download the sheet to Excel or CSV. A missing value stays blank, never zero.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F3D38"/>
                </a:solidFill>
                <a:latin typeface="Calibri"/>
              </a:rPr>
              <a:t>•  Import the edited sheet and see every change before it applies. Empty cells never clear a stored value.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F3D38"/>
                </a:solidFill>
                <a:latin typeface="Calibri"/>
              </a:rPr>
              <a:t>•  A problem in any row blocks the whole import, so a half-applied update cannot happen.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2F3D38"/>
                </a:solidFill>
                <a:latin typeface="Calibri"/>
              </a:rPr>
              <a:t>•  Draw charts from the data. A chart added to a report is a snapshot you update when you choose.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4553F"/>
                </a:solidFill>
                <a:latin typeface="Calibri"/>
              </a:rPr>
              <a:t>Finance figures appear only when finance mode is on for the project (off by default).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C75"/>
                </a:solidFill>
                <a:latin typeface="Calibri"/>
              </a:rPr>
              <a:t>DonorDesk · Overview v2.004 · donordesk.online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C7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7791F"/>
                </a:solidFill>
                <a:latin typeface="Calibri"/>
              </a:rPr>
              <a:t>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1614"/>
                </a:solidFill>
                <a:latin typeface="Calibri"/>
              </a:rPr>
              <a:t>Evidence that stays linked to the work it proves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Where files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305805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Your own Google Drive (linked files do not count toward storage), or DonorDesk managed storage within your plan.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82880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Linked to the 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6818" y="2514600"/>
            <a:ext cx="305805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Attach a file to an activity or an indicator value, and mark it verified. One linker does this everywhere.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6" y="182880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6396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Read by the drafts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6396" y="2514600"/>
            <a:ext cx="305805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Text is read from Word, PDF, Excel, CSV, text and Markdown. Cited text is fingerprinted, so a later change to the source is detectable.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F3D38"/>
                </a:solidFill>
                <a:latin typeface="Calibri"/>
              </a:rPr>
              <a:t>Evidence packs export as a ZIP with a README. Files that cannot be included (Drive-only or unreadable) are named in the README.</a:t>
            </a:r>
          </a:p>
          <a:p>
            <a:pPr algn="l"/>
            <a:r>
              <a:rPr sz="1500" b="0">
                <a:solidFill>
                  <a:srgbClr val="2F3D38"/>
                </a:solidFill>
                <a:latin typeface="Calibri"/>
              </a:rPr>
              <a:t>Every change to the record is kept in a hash-chained audit log.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C75"/>
                </a:solidFill>
                <a:latin typeface="Calibri"/>
              </a:rPr>
              <a:t>DonorDesk · Overview v2.004 · donordesk.online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C7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7791F"/>
                </a:solidFill>
                <a:latin typeface="Calibri"/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1614"/>
                </a:solidFill>
                <a:latin typeface="Calibri"/>
              </a:rPr>
              <a:t>Gaps found weeks before the deadline, not on the 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Live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305805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Every requirement from the donor template and the project's rules, with the blocker and the action that closes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82880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Closes by itself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6818" y="2514600"/>
            <a:ext cx="305805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A verified procurement document closes its item. Items that need a decision stay open until a person decides.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6" y="182880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6396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Readiness by stage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6396" y="2514600"/>
            <a:ext cx="305805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Drafting, review and submission. A confidentiality check blocks submission while it is open.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F3D38"/>
                </a:solidFill>
                <a:latin typeface="Calibri"/>
              </a:rPr>
              <a:t>Readiness guides what remains. It does not replace the donor's own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C75"/>
                </a:solidFill>
                <a:latin typeface="Calibri"/>
              </a:rPr>
              <a:t>DonorDesk · Overview v2.004 · donordesk.online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C7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7791F"/>
                </a:solidFill>
                <a:latin typeface="Calibri"/>
              </a:rPr>
              <a:t>DONOR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1614"/>
                </a:solidFill>
                <a:latin typeface="Calibri"/>
              </a:rPr>
              <a:t>Drafted from the record, approved, then exported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Donor templates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305805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Upload Word, PDF, text, Markdown, Excel or CSV. Sections, instructions, required tables and page limits are extracted for your review.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82880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Sourced drafting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6818" y="2514600"/>
            <a:ext cx="305805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Each section follows the approved template and cites its sources. A figure not in the inputs is rejected and regenerated, or the section falls back and says why.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6" y="182880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6396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Approve and export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6396" y="2514600"/>
            <a:ext cx="305805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Second-approver rules, a sealed submission snapshot, exports to Word, PDF, Excel and ZIP. A watermarked internal copy for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F3D38"/>
                </a:solidFill>
                <a:latin typeface="Calibri"/>
              </a:rPr>
              <a:t>Period types: monthly, quarterly, semi-annual, annual, final and custom. Roll-up reports show life-of-project totals and percent of target.</a:t>
            </a:r>
          </a:p>
          <a:p>
            <a:pPr algn="l"/>
            <a:r>
              <a:rPr sz="1500" b="0">
                <a:solidFill>
                  <a:srgbClr val="2F3D38"/>
                </a:solidFill>
                <a:latin typeface="Calibri"/>
              </a:rPr>
              <a:t>An approved report can be reopened, with a reason, and approved again.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C75"/>
                </a:solidFill>
                <a:latin typeface="Calibri"/>
              </a:rPr>
              <a:t>DonorDesk · Overview v2.004 · donordesk.online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C7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7791F"/>
                </a:solidFill>
                <a:latin typeface="Calibri"/>
              </a:rPr>
              <a:t>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1614"/>
                </a:solidFill>
                <a:latin typeface="Calibri"/>
              </a:rPr>
              <a:t>People decide. The record checks the numbers.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Verified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305805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Tables and charts come from verified data. The AI writes prose only, and every figure is checked against the inputs.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82880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Traceable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6818" y="2514600"/>
            <a:ext cx="305805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Each AI output stores the model, prompt version and sources. Failed or timed-out drafts are not billed.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6" y="1828800"/>
            <a:ext cx="3515258" cy="237744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6396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Isolation and roles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6396" y="2514600"/>
            <a:ext cx="3058058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Row-level security keeps each organisation separate. Least-privilege roles per project. Hash-chained audit log.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2F3D38"/>
                </a:solidFill>
                <a:latin typeface="Calibri"/>
              </a:rPr>
              <a:t>Published: data processing agreement, subprocessor list, privacy and security pages.</a:t>
            </a:r>
          </a:p>
          <a:p>
            <a:pPr algn="l"/>
            <a:r>
              <a:rPr sz="1500" b="0">
                <a:solidFill>
                  <a:srgbClr val="2F3D38"/>
                </a:solidFill>
                <a:latin typeface="Calibri"/>
              </a:rPr>
              <a:t>No external certifications are held. None are claimed.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C75"/>
                </a:solidFill>
                <a:latin typeface="Calibri"/>
              </a:rPr>
              <a:t>DonorDesk · Overview v2.004 · donordesk.online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C7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7791F"/>
                </a:solidFill>
                <a:latin typeface="Calibri"/>
              </a:rPr>
              <a:t>WHO IT'S FOR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1614"/>
                </a:solidFill>
                <a:latin typeface="Calibri"/>
              </a:rPr>
              <a:t>Built for grant-funded programmes and their reporting teams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15258" cy="182880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M&amp;E Officer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14600"/>
            <a:ext cx="305805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Enter each value once; every report and chart reads the same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828800"/>
            <a:ext cx="3515258" cy="182880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66818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Grants Officer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6818" y="2514600"/>
            <a:ext cx="305805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See readiness and blockers weeks before the deadline.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6" y="1828800"/>
            <a:ext cx="3515258" cy="182880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56396" y="201168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Project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6396" y="2514600"/>
            <a:ext cx="305805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Review and accept field records in one place.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3515258" cy="182880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1480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Field Officer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17720"/>
            <a:ext cx="305805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Record what happened in a few lines, or by dictation.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8218" y="3931920"/>
            <a:ext cx="3515258" cy="182880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6818" y="411480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Compliance Officer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6818" y="4617720"/>
            <a:ext cx="305805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Every claim links to its evidence; the audit log shows who changed what.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7796" y="3931920"/>
            <a:ext cx="3515258" cy="1828800"/>
          </a:xfrm>
          <a:prstGeom prst="roundRect">
            <a:avLst>
              <a:gd name="adj" fmla="val 6000"/>
            </a:avLst>
          </a:prstGeom>
          <a:solidFill>
            <a:srgbClr val="F3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6396" y="411480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63029"/>
                </a:solidFill>
                <a:latin typeface="Calibri"/>
              </a:rPr>
              <a:t>Admin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6396" y="4617720"/>
            <a:ext cx="3058058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F3D38"/>
                </a:solidFill>
                <a:latin typeface="Calibri"/>
              </a:rPr>
              <a:t>Manages the workspace, members and plan. Second-approver rules and sealed submissions are set per project.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C75"/>
                </a:solidFill>
                <a:latin typeface="Calibri"/>
              </a:rPr>
              <a:t>DonorDesk · Overview v2.004 · donordesk.online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C7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7791F"/>
                </a:solidFill>
                <a:latin typeface="Calibri"/>
              </a:rPr>
              <a:t>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1614"/>
                </a:solidFill>
                <a:latin typeface="Calibri"/>
              </a:rPr>
              <a:t>Start free. Upgrade when the programme grows.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642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828800"/>
                <a:gridCol w="2011680"/>
                <a:gridCol w="2011680"/>
                <a:gridCol w="1920240"/>
              </a:tblGrid>
              <a:tr h="357447">
                <a:tc>
                  <a:txBody>
                    <a:bodyPr/>
                    <a:lstStyle/>
                    <a:p>
                      <a:pPr algn="l"/>
                    </a:p>
                  </a:txBody>
                  <a:tcPr>
                    <a:solidFill>
                      <a:srgbClr val="1630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Starter</a:t>
                      </a:r>
                    </a:p>
                  </a:txBody>
                  <a:tcPr>
                    <a:solidFill>
                      <a:srgbClr val="1630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>
                    <a:solidFill>
                      <a:srgbClr val="1630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>
                    <a:solidFill>
                      <a:srgbClr val="16302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Enterprise</a:t>
                      </a:r>
                    </a:p>
                  </a:txBody>
                  <a:tcPr>
                    <a:solidFill>
                      <a:srgbClr val="163029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F3D38"/>
                          </a:solidFill>
                          <a:latin typeface="Calibri"/>
                        </a:rPr>
                        <a:t>Monthly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$79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$149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Contract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F3D38"/>
                          </a:solidFill>
                          <a:latin typeface="Calibri"/>
                        </a:rPr>
                        <a:t>Annual (two months free)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$790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$1,490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From $12,000 a year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F3D38"/>
                          </a:solidFill>
                          <a:latin typeface="Calibri"/>
                        </a:rPr>
                        <a:t>NGO price, first year (25% off)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$59.25 / month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$111.75 / month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In the contract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F3D38"/>
                          </a:solidFill>
                          <a:latin typeface="Calibri"/>
                        </a:rPr>
                        <a:t>Active projects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Contracted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F3D38"/>
                          </a:solidFill>
                          <a:latin typeface="Calibri"/>
                        </a:rPr>
                        <a:t>Full seats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Contracted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F3D38"/>
                          </a:solidFill>
                          <a:latin typeface="Calibri"/>
                        </a:rPr>
                        <a:t>Viewer seats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Unlimited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Unlimited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Unlimited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F3D38"/>
                          </a:solidFill>
                          <a:latin typeface="Calibri"/>
                        </a:rPr>
                        <a:t>Managed storage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1 GB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25 GB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100 GB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Contracted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F3D38"/>
                          </a:solidFill>
                          <a:latin typeface="Calibri"/>
                        </a:rPr>
                        <a:t>AI report drafts / 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Contracted pool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744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F3D38"/>
                          </a:solidFill>
                          <a:latin typeface="Calibri"/>
                        </a:rPr>
                        <a:t>Own AI provider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3F1EA"/>
                    </a:solidFill>
                  </a:tcPr>
                </a:tc>
              </a:tr>
              <a:tr h="35745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2F3D38"/>
                          </a:solidFill>
                          <a:latin typeface="Calibri"/>
                        </a:rPr>
                        <a:t>SSO / SCIM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F3D38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053328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C75"/>
                </a:solidFill>
                <a:latin typeface="Calibri"/>
              </a:rPr>
              <a:t>Prices from the billing catalogue. Enterprise is by contract. Trial availability is set per launch.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C75"/>
                </a:solidFill>
                <a:latin typeface="Calibri"/>
              </a:rPr>
              <a:t>DonorDesk · Overview v2.004 · donordesk.online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C7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7791F"/>
                </a:solidFill>
                <a:latin typeface="Calibri"/>
              </a:rPr>
              <a:t>HONEST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B1614"/>
                </a:solidFill>
                <a:latin typeface="Calibri"/>
              </a:rPr>
              <a:t>What DonorDesk does not do, stated up front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2F3D38"/>
                </a:solidFill>
                <a:latin typeface="Calibri"/>
              </a:rPr>
              <a:t>•  It does not send reports to donors. You upload the approved file.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F3D38"/>
                </a:solidFill>
                <a:latin typeface="Calibri"/>
              </a:rPr>
              <a:t>•  The app does not open offline. Finished activities are queued and sent later.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F3D38"/>
                </a:solidFill>
                <a:latin typeface="Calibri"/>
              </a:rPr>
              <a:t>•  Dictation uses the browser's speech recognition (Chrome, Edge, Safari).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F3D38"/>
                </a:solidFill>
                <a:latin typeface="Calibri"/>
              </a:rPr>
              <a:t>•  Donor-template Word exports do not include charts. Charts appear in the standard exports.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F3D38"/>
                </a:solidFill>
                <a:latin typeface="Calibri"/>
              </a:rPr>
              <a:t>•  Finance figures are off by default and appear only when switched on for a project.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F3D38"/>
                </a:solidFill>
                <a:latin typeface="Calibri"/>
              </a:rPr>
              <a:t>•  Enterprise SSO (OIDC) and SCIM are set up with support, not self-serve.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F3D38"/>
                </a:solidFill>
                <a:latin typeface="Calibri"/>
              </a:rPr>
              <a:t>•  No customer case studies or certifications are claimed in this deck.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C75"/>
                </a:solidFill>
                <a:latin typeface="Calibri"/>
              </a:rPr>
              <a:t>DonorDesk · Overview v2.004 · donordesk.online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B7C75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2B544"/>
                </a:solidFill>
                <a:latin typeface="Calibri"/>
              </a:rP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See it on a real programme.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A3B5AD"/>
                </a:solidFill>
                <a:latin typeface="Calibri"/>
              </a:rPr>
              <a:t>•  Take the narrated product tour: donordesk.online/tour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A3B5AD"/>
                </a:solidFill>
                <a:latin typeface="Calibri"/>
              </a:rPr>
              <a:t>•  Create a free workspace; the demo project is included and uses no AI credits: donordesk.online/signup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A3B5AD"/>
                </a:solidFill>
                <a:latin typeface="Calibri"/>
              </a:rPr>
              <a:t>•  Read every feature with its limits: donordesk.online/features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A3B5AD"/>
                </a:solidFill>
                <a:latin typeface="Calibri"/>
              </a:rPr>
              <a:t>•  Enterprise and pilots: donordesk.online/contact-sales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
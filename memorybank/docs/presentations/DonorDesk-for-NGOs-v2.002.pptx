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38b5453d-7206-eb2e-df70-72ae57b0b399}">
          <p14:sldIdLst>
            <p14:sldId id="256"/>
          </p14:sldIdLst>
        </p14:section>
        <p14:section name="Why" id="{7442cce4-9173-6587-0c00-fe5b8407253d}">
          <p14:sldIdLst>
            <p14:sldId id="257"/>
            <p14:sldId id="258"/>
            <p14:sldId id="259"/>
          </p14:sldIdLst>
        </p14:section>
        <p14:section name="Journey" id="{e00f90cb-8765-a6d7-f390-9dbdac57b1e4}">
          <p14:sldIdLst>
            <p14:sldId id="260"/>
          </p14:sldIdLst>
        </p14:section>
        <p14:section name="Set up" id="{66b5cd46-6f7c-e013-0364-2c9e42b3d687}">
          <p14:sldIdLst>
            <p14:sldId id="261"/>
            <p14:sldId id="262"/>
            <p14:sldId id="263"/>
          </p14:sldIdLst>
        </p14:section>
        <p14:section name="Capture" id="{5a481fea-dc8c-3b92-5011-db9bd02f8b2f}">
          <p14:sldIdLst>
            <p14:sldId id="264"/>
            <p14:sldId id="265"/>
            <p14:sldId id="266"/>
            <p14:sldId id="267"/>
            <p14:sldId id="268"/>
          </p14:sldIdLst>
        </p14:section>
        <p14:section name="Report" id="{cb030bca-97bc-167e-7bca-470d50afe837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Trust" id="{02c5e2b3-0f36-3457-33b9-a00920f7f7ec}">
          <p14:sldIdLst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Get started" id="{ea9c81ae-d141-f979-4b17-9db38485a28b}">
          <p14:sldIdLst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3D2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A3D2B"/>
                </a:solidFill>
                <a:latin typeface="+mn-lt"/>
              </a:rPr>
              <a:t>Water points working (illustrative)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</c:v>
                </c:pt>
              </c:strCache>
            </c:strRef>
          </c:tx>
          <c:spPr>
            <a:solidFill>
              <a:srgbClr val="0E5A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D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</c:v>
                  </c:pt>
                  <c:pt idx="1">
                    <c:v>Mar</c:v>
                  </c:pt>
                  <c:pt idx="2">
                    <c:v>Apr</c:v>
                  </c:pt>
                  <c:pt idx="3">
                    <c:v>May</c:v>
                  </c:pt>
                  <c:pt idx="4">
                    <c:v>Jun</c:v>
                  </c:pt>
                  <c:pt idx="5">
                    <c:v>Jul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</c:v>
                </c:pt>
                <c:pt idx="2">
                  <c:v>5</c:v>
                </c:pt>
                <c:pt idx="3">
                  <c:v>8</c:v>
                </c:pt>
                <c:pt idx="4">
                  <c:v>12</c:v>
                </c:pt>
                <c:pt idx="5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D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C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people your teams serve. Reporting exists to show donors and communities that help reached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</a:rPr>
              <a:t>DonorDesk  ·  donordesk.online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-bg"/>
          <p:cNvSpPr/>
          <p:nvPr/>
        </p:nvSpPr>
        <p:spPr>
          <a:xfrm>
            <a:off x="5943600" y="822960"/>
            <a:ext cx="2834640" cy="2834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DonorDesk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371600"/>
            <a:ext cx="1188720" cy="12893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0972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DonorDesk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011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2A541"/>
                </a:solidFill>
              </a:rPr>
              <a:t>From field evidence to donor-ready reports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089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D6"/>
                </a:solidFill>
              </a:rPr>
              <a:t>So your teams spend their time with communities, not with spreadsheets.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2AE"/>
                </a:solidFill>
              </a:rPr>
              <a:t>Reporting and evidence platform for NGOs  ·  donordesk.online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641B"/>
                </a:solidFill>
              </a:rPr>
              <a:t>THE REALITY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steals time from the field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371600"/>
            <a:ext cx="4000500" cy="1325880"/>
          </a:xfrm>
          <a:prstGeom prst="roundRect">
            <a:avLst>
              <a:gd name="adj" fmla="val 8276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5" name="icon-bg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6" name="Image 0" descr="FaFolderOp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6687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554480"/>
            <a:ext cx="3131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B"/>
                </a:solidFill>
              </a:rPr>
              <a:t>Evidence everywhere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03120"/>
            <a:ext cx="3634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Photos in WhatsApp, attendance sheets in email, receipts in folders.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686300" y="1371600"/>
            <a:ext cx="4000500" cy="1325880"/>
          </a:xfrm>
          <a:prstGeom prst="roundRect">
            <a:avLst>
              <a:gd name="adj" fmla="val 8276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0" name="icon-bg"/>
          <p:cNvSpPr/>
          <p:nvPr/>
        </p:nvSpPr>
        <p:spPr>
          <a:xfrm>
            <a:off x="4869180" y="1554480"/>
            <a:ext cx="457200" cy="45720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11" name="Image 1" descr="FaCalendar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6878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17820" y="1554480"/>
            <a:ext cx="3131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B"/>
                </a:solidFill>
              </a:rPr>
              <a:t>Deadlines that bite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869180" y="2103120"/>
            <a:ext cx="3634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Missing annexes are found the night before the donor deadline.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457200" y="2926080"/>
            <a:ext cx="4000500" cy="1325880"/>
          </a:xfrm>
          <a:prstGeom prst="roundRect">
            <a:avLst>
              <a:gd name="adj" fmla="val 8276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5" name="icon-bg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16" name="Image 2" descr="FaFile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22326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88720" y="3108960"/>
            <a:ext cx="3131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B"/>
                </a:solidFill>
              </a:rPr>
              <a:t>Every donor, a new format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3657600"/>
            <a:ext cx="3634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Teams re-type the same results into a different template each cycle.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4686300" y="2926080"/>
            <a:ext cx="4000500" cy="1325880"/>
          </a:xfrm>
          <a:prstGeom prst="roundRect">
            <a:avLst>
              <a:gd name="adj" fmla="val 8276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20" name="icon-bg"/>
          <p:cNvSpPr/>
          <p:nvPr/>
        </p:nvSpPr>
        <p:spPr>
          <a:xfrm>
            <a:off x="4869180" y="3108960"/>
            <a:ext cx="457200" cy="45720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21" name="Image 3" descr="FaUs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2326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17820" y="3108960"/>
            <a:ext cx="3131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B"/>
                </a:solidFill>
              </a:rPr>
              <a:t>Knowledge walks out the door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4869180" y="3657600"/>
            <a:ext cx="3634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When a colleague leaves, the story of the project leaves with them.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5A3A"/>
                </a:solidFill>
              </a:rPr>
              <a:t>Donors expect proof. Communities deserve to see their needs reflected. Teams deserve better tools.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641B"/>
                </a:solidFill>
              </a:rPr>
              <a:t>THE PROMISE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Messy field evidence in. Donor-ready out</a:t>
            </a:r>
            <a:endParaRPr lang="en-US" sz="3000" dirty="0"/>
          </a:p>
        </p:txBody>
      </p:sp>
      <p:sp>
        <p:nvSpPr>
          <p:cNvPr id="4" name="icon-bg"/>
          <p:cNvSpPr/>
          <p:nvPr/>
        </p:nvSpPr>
        <p:spPr>
          <a:xfrm>
            <a:off x="777240" y="1554480"/>
            <a:ext cx="914400" cy="91440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5" name="Image 0" descr="FaCam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3D2B"/>
                </a:solidFill>
              </a:rPr>
              <a:t>Field updates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63"/>
                </a:solidFill>
              </a:rPr>
              <a:t>Notes, photos, voice</a:t>
            </a:r>
            <a:endParaRPr lang="en-US" sz="1300" dirty="0"/>
          </a:p>
        </p:txBody>
      </p:sp>
      <p:pic>
        <p:nvPicPr>
          <p:cNvPr id="8" name="Image 1" descr="th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74520"/>
            <a:ext cx="256032" cy="256032"/>
          </a:xfrm>
          <a:prstGeom prst="rect">
            <a:avLst/>
          </a:prstGeom>
        </p:spPr>
      </p:pic>
      <p:sp>
        <p:nvSpPr>
          <p:cNvPr id="9" name="icon-bg"/>
          <p:cNvSpPr/>
          <p:nvPr/>
        </p:nvSpPr>
        <p:spPr>
          <a:xfrm>
            <a:off x="2468880" y="1554480"/>
            <a:ext cx="914400" cy="91440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10" name="Image 2" descr="FaFolderOp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178308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05740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3D2B"/>
                </a:solidFill>
              </a:rPr>
              <a:t>Evidence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205740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63"/>
                </a:solidFill>
              </a:rPr>
              <a:t>Linked to results</a:t>
            </a:r>
            <a:endParaRPr lang="en-US" sz="1300" dirty="0"/>
          </a:p>
        </p:txBody>
      </p:sp>
      <p:pic>
        <p:nvPicPr>
          <p:cNvPr id="13" name="Image 3" descr="th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874520"/>
            <a:ext cx="256032" cy="256032"/>
          </a:xfrm>
          <a:prstGeom prst="rect">
            <a:avLst/>
          </a:prstGeom>
        </p:spPr>
      </p:pic>
      <p:sp>
        <p:nvSpPr>
          <p:cNvPr id="14" name="icon-bg"/>
          <p:cNvSpPr/>
          <p:nvPr/>
        </p:nvSpPr>
        <p:spPr>
          <a:xfrm>
            <a:off x="4160520" y="1554480"/>
            <a:ext cx="914400" cy="91440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15" name="Image 4" descr="FaRobo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783080"/>
            <a:ext cx="457200" cy="4572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374904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3D2B"/>
                </a:solidFill>
              </a:rPr>
              <a:t>AI draft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374904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63"/>
                </a:solidFill>
              </a:rPr>
              <a:t>Written from facts</a:t>
            </a:r>
            <a:endParaRPr lang="en-US" sz="1300" dirty="0"/>
          </a:p>
        </p:txBody>
      </p:sp>
      <p:pic>
        <p:nvPicPr>
          <p:cNvPr id="18" name="Image 5" descr="the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0" y="1874520"/>
            <a:ext cx="256032" cy="256032"/>
          </a:xfrm>
          <a:prstGeom prst="rect">
            <a:avLst/>
          </a:prstGeom>
        </p:spPr>
      </p:pic>
      <p:sp>
        <p:nvSpPr>
          <p:cNvPr id="19" name="icon-bg"/>
          <p:cNvSpPr/>
          <p:nvPr/>
        </p:nvSpPr>
        <p:spPr>
          <a:xfrm>
            <a:off x="5852160" y="1554480"/>
            <a:ext cx="914400" cy="91440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20" name="Image 6" descr="FaClipboard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60" y="1783080"/>
            <a:ext cx="457200" cy="45720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544068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3D2B"/>
                </a:solidFill>
              </a:rPr>
              <a:t>Human review</a:t>
            </a:r>
            <a:endParaRPr lang="en-US" sz="1500" dirty="0"/>
          </a:p>
        </p:txBody>
      </p:sp>
      <p:sp>
        <p:nvSpPr>
          <p:cNvPr id="22" name="Text 13"/>
          <p:cNvSpPr txBox="1"/>
          <p:nvPr/>
        </p:nvSpPr>
        <p:spPr>
          <a:xfrm>
            <a:off x="544068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63"/>
                </a:solidFill>
              </a:rPr>
              <a:t>You decide</a:t>
            </a:r>
            <a:endParaRPr lang="en-US" sz="1300" dirty="0"/>
          </a:p>
        </p:txBody>
      </p:sp>
      <p:pic>
        <p:nvPicPr>
          <p:cNvPr id="23" name="Image 7" descr="the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0" y="1874520"/>
            <a:ext cx="256032" cy="256032"/>
          </a:xfrm>
          <a:prstGeom prst="rect">
            <a:avLst/>
          </a:prstGeom>
        </p:spPr>
      </p:pic>
      <p:sp>
        <p:nvSpPr>
          <p:cNvPr id="24" name="icon-bg"/>
          <p:cNvSpPr/>
          <p:nvPr/>
        </p:nvSpPr>
        <p:spPr>
          <a:xfrm>
            <a:off x="7543800" y="1554480"/>
            <a:ext cx="914400" cy="914400"/>
          </a:xfrm>
          <a:prstGeom prst="ellipse">
            <a:avLst/>
          </a:prstGeom>
          <a:solidFill>
            <a:srgbClr val="E8641B"/>
          </a:solidFill>
          <a:ln w="12700">
            <a:solidFill>
              <a:srgbClr val="E8641B"/>
            </a:solidFill>
            <a:prstDash val="solid"/>
          </a:ln>
        </p:spPr>
      </p:sp>
      <p:pic>
        <p:nvPicPr>
          <p:cNvPr id="25" name="Image 8" descr="FaFileExpor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0" y="1783080"/>
            <a:ext cx="457200" cy="457200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713232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3D2B"/>
                </a:solidFill>
              </a:rPr>
              <a:t>Donor report</a:t>
            </a:r>
            <a:endParaRPr lang="en-US" sz="1500" dirty="0"/>
          </a:p>
        </p:txBody>
      </p:sp>
      <p:sp>
        <p:nvSpPr>
          <p:cNvPr id="27" name="Text 16"/>
          <p:cNvSpPr txBox="1"/>
          <p:nvPr/>
        </p:nvSpPr>
        <p:spPr>
          <a:xfrm>
            <a:off x="713232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63"/>
                </a:solidFill>
              </a:rPr>
              <a:t>Word or PDF</a:t>
            </a:r>
            <a:endParaRPr lang="en-US" sz="1300" dirty="0"/>
          </a:p>
        </p:txBody>
      </p:sp>
      <p:sp>
        <p:nvSpPr>
          <p:cNvPr id="28" name="Text 17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5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assists. People approve. Every statement can be traced back to proof.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641B"/>
                </a:solidFill>
              </a:rPr>
              <a:t>BUILT FOR YOU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Made for the people doing the work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371600"/>
            <a:ext cx="2621280" cy="1325880"/>
          </a:xfrm>
          <a:prstGeom prst="roundRect">
            <a:avLst>
              <a:gd name="adj" fmla="val 8276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5" name="icon-bg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6" name="Image 0" descr="FaHandsHelp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6687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554480"/>
            <a:ext cx="175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B"/>
                </a:solidFill>
              </a:rPr>
              <a:t>Local &amp; national NGOs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03120"/>
            <a:ext cx="225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Professional reporting without a large back office.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3261360" y="1371600"/>
            <a:ext cx="2621280" cy="1325880"/>
          </a:xfrm>
          <a:prstGeom prst="roundRect">
            <a:avLst>
              <a:gd name="adj" fmla="val 8276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0" name="icon-bg"/>
          <p:cNvSpPr/>
          <p:nvPr/>
        </p:nvSpPr>
        <p:spPr>
          <a:xfrm>
            <a:off x="3444240" y="1554480"/>
            <a:ext cx="457200" cy="45720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11" name="Image 1" descr="FaGlobeAfri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540" y="166878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992880" y="1554480"/>
            <a:ext cx="175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B"/>
                </a:solidFill>
              </a:rPr>
              <a:t>INGOs &amp; UN partners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44240" y="2103120"/>
            <a:ext cx="225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Many projects, many donors, one consistent standard.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6065520" y="1371600"/>
            <a:ext cx="2621280" cy="1325880"/>
          </a:xfrm>
          <a:prstGeom prst="roundRect">
            <a:avLst>
              <a:gd name="adj" fmla="val 8276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5" name="icon-bg"/>
          <p:cNvSpPr/>
          <p:nvPr/>
        </p:nvSpPr>
        <p:spPr>
          <a:xfrm>
            <a:off x="6248400" y="1554480"/>
            <a:ext cx="457200" cy="45720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16" name="Image 2" descr="FaBullsey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166878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797040" y="1554480"/>
            <a:ext cx="175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B"/>
                </a:solidFill>
              </a:rPr>
              <a:t>M&amp;E teams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248400" y="2103120"/>
            <a:ext cx="225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Indicators, baselines and targets always in sync.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457200" y="2880360"/>
            <a:ext cx="2621280" cy="1325880"/>
          </a:xfrm>
          <a:prstGeom prst="roundRect">
            <a:avLst>
              <a:gd name="adj" fmla="val 8276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20" name="icon-bg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21" name="Image 3" descr="FaFileSignatu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17754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88720" y="3063240"/>
            <a:ext cx="175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B"/>
                </a:solidFill>
              </a:rPr>
              <a:t>Grants &amp; compliance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3611880"/>
            <a:ext cx="225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Donor requirements tracked until they are met.</a:t>
            </a:r>
            <a:endParaRPr lang="en-US" sz="1300" dirty="0"/>
          </a:p>
        </p:txBody>
      </p:sp>
      <p:sp>
        <p:nvSpPr>
          <p:cNvPr id="24" name="card"/>
          <p:cNvSpPr/>
          <p:nvPr/>
        </p:nvSpPr>
        <p:spPr>
          <a:xfrm>
            <a:off x="3261360" y="2880360"/>
            <a:ext cx="2621280" cy="1325880"/>
          </a:xfrm>
          <a:prstGeom prst="roundRect">
            <a:avLst>
              <a:gd name="adj" fmla="val 8276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25" name="icon-bg"/>
          <p:cNvSpPr/>
          <p:nvPr/>
        </p:nvSpPr>
        <p:spPr>
          <a:xfrm>
            <a:off x="3444240" y="3063240"/>
            <a:ext cx="457200" cy="45720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26" name="Image 4" descr="FaCamer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8540" y="3177540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992880" y="3063240"/>
            <a:ext cx="175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B"/>
                </a:solidFill>
              </a:rPr>
              <a:t>Field officers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3444240" y="3611880"/>
            <a:ext cx="225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Capture an activity in a minute, even offline.</a:t>
            </a:r>
            <a:endParaRPr lang="en-US" sz="1300" dirty="0"/>
          </a:p>
        </p:txBody>
      </p:sp>
      <p:sp>
        <p:nvSpPr>
          <p:cNvPr id="29" name="card"/>
          <p:cNvSpPr/>
          <p:nvPr/>
        </p:nvSpPr>
        <p:spPr>
          <a:xfrm>
            <a:off x="6065520" y="2880360"/>
            <a:ext cx="2621280" cy="1325880"/>
          </a:xfrm>
          <a:prstGeom prst="roundRect">
            <a:avLst>
              <a:gd name="adj" fmla="val 8276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30" name="icon-bg"/>
          <p:cNvSpPr/>
          <p:nvPr/>
        </p:nvSpPr>
        <p:spPr>
          <a:xfrm>
            <a:off x="6248400" y="3063240"/>
            <a:ext cx="457200" cy="45720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31" name="Image 5" descr="FaUser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2700" y="3177540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797040" y="3063240"/>
            <a:ext cx="175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B"/>
                </a:solidFill>
              </a:rPr>
              <a:t>Programme managers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6248400" y="3611880"/>
            <a:ext cx="225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See where every report stands and approve with confidence.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3"/>
                </a:solidFill>
              </a:rPr>
              <a:t>Health  ·  WASH  ·  Nutrition  ·  Food security  ·  Education  ·  Protection  ·  Livelihoods  ·  Emergency response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641B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workspace, start-up to final report</a:t>
            </a:r>
            <a:endParaRPr lang="en-US" sz="3000" dirty="0"/>
          </a:p>
        </p:txBody>
      </p:sp>
      <p:sp>
        <p:nvSpPr>
          <p:cNvPr id="4" name="step"/>
          <p:cNvSpPr/>
          <p:nvPr/>
        </p:nvSpPr>
        <p:spPr>
          <a:xfrm>
            <a:off x="457200" y="146304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5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2B"/>
                </a:solidFill>
              </a:rPr>
              <a:t>Set up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40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Project, donor template, logframe</a:t>
            </a:r>
            <a:endParaRPr lang="en-US" sz="1300" dirty="0"/>
          </a:p>
        </p:txBody>
      </p:sp>
      <p:sp>
        <p:nvSpPr>
          <p:cNvPr id="8" name="step"/>
          <p:cNvSpPr/>
          <p:nvPr/>
        </p:nvSpPr>
        <p:spPr>
          <a:xfrm>
            <a:off x="3291840" y="146304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6002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5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2B"/>
                </a:solidFill>
              </a:rPr>
              <a:t>Capture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240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Activities and evidence</a:t>
            </a:r>
            <a:endParaRPr lang="en-US" sz="1300" dirty="0"/>
          </a:p>
        </p:txBody>
      </p:sp>
      <p:sp>
        <p:nvSpPr>
          <p:cNvPr id="12" name="step"/>
          <p:cNvSpPr/>
          <p:nvPr/>
        </p:nvSpPr>
        <p:spPr>
          <a:xfrm>
            <a:off x="6126480" y="146304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6002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5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2B"/>
                </a:solidFill>
              </a:rPr>
              <a:t>Measure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240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Indicator results</a:t>
            </a:r>
            <a:endParaRPr lang="en-US" sz="1300" dirty="0"/>
          </a:p>
        </p:txBody>
      </p:sp>
      <p:sp>
        <p:nvSpPr>
          <p:cNvPr id="16" name="step"/>
          <p:cNvSpPr/>
          <p:nvPr/>
        </p:nvSpPr>
        <p:spPr>
          <a:xfrm>
            <a:off x="457200" y="297180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FCE9DD"/>
          </a:solidFill>
          <a:ln w="12700">
            <a:solidFill>
              <a:srgbClr val="FCE9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089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6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2B"/>
                </a:solidFill>
              </a:rPr>
              <a:t>Draft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749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AI writes from verified facts</a:t>
            </a:r>
            <a:endParaRPr lang="en-US" sz="1300" dirty="0"/>
          </a:p>
        </p:txBody>
      </p:sp>
      <p:sp>
        <p:nvSpPr>
          <p:cNvPr id="20" name="step"/>
          <p:cNvSpPr/>
          <p:nvPr/>
        </p:nvSpPr>
        <p:spPr>
          <a:xfrm>
            <a:off x="3291840" y="297180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FCE9DD"/>
          </a:solidFill>
          <a:ln w="12700">
            <a:solidFill>
              <a:srgbClr val="FCE9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74720" y="31089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6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2B"/>
                </a:solidFill>
              </a:rPr>
              <a:t>Review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3474720" y="3749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Checks, comments, sign-off</a:t>
            </a:r>
            <a:endParaRPr lang="en-US" sz="1300" dirty="0"/>
          </a:p>
        </p:txBody>
      </p:sp>
      <p:sp>
        <p:nvSpPr>
          <p:cNvPr id="24" name="step"/>
          <p:cNvSpPr/>
          <p:nvPr/>
        </p:nvSpPr>
        <p:spPr>
          <a:xfrm>
            <a:off x="6126480" y="297180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FCE9DD"/>
          </a:solidFill>
          <a:ln w="12700">
            <a:solidFill>
              <a:srgbClr val="FCE9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31089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6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2B"/>
                </a:solidFill>
              </a:rPr>
              <a:t>Submit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3749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Export and keep the proof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641B"/>
                </a:solidFill>
              </a:rPr>
              <a:t>SET 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a project in minutes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297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A guided wizard asks for what you already know: donor, country, sector, dates and budget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Copy the setup of an earlier project: definitions only, never your data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Sensible defaults, every field stays editable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A setup check shows exactly what is still missing, with a Fix link</a:t>
            </a:r>
            <a:endParaRPr lang="en-US" sz="1500" dirty="0"/>
          </a:p>
        </p:txBody>
      </p:sp>
      <p:sp>
        <p:nvSpPr>
          <p:cNvPr id="5" name="panel"/>
          <p:cNvSpPr/>
          <p:nvPr/>
        </p:nvSpPr>
        <p:spPr>
          <a:xfrm>
            <a:off x="5120640" y="1371600"/>
            <a:ext cx="3566160" cy="3017520"/>
          </a:xfrm>
          <a:prstGeom prst="roundRect">
            <a:avLst>
              <a:gd name="adj" fmla="val 4545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6" name="row"/>
          <p:cNvSpPr/>
          <p:nvPr/>
        </p:nvSpPr>
        <p:spPr>
          <a:xfrm>
            <a:off x="5257800" y="155448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5E4D9"/>
            </a:solidFill>
            <a:prstDash val="solid"/>
          </a:ln>
        </p:spPr>
      </p:sp>
      <p:sp>
        <p:nvSpPr>
          <p:cNvPr id="7" name="chip"/>
          <p:cNvSpPr/>
          <p:nvPr/>
        </p:nvSpPr>
        <p:spPr>
          <a:xfrm>
            <a:off x="5367528" y="1700784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67528" y="17007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DONE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5544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Donor template reviewed</a:t>
            </a:r>
            <a:endParaRPr lang="en-US" sz="1300" dirty="0"/>
          </a:p>
        </p:txBody>
      </p:sp>
      <p:sp>
        <p:nvSpPr>
          <p:cNvPr id="10" name="row"/>
          <p:cNvSpPr/>
          <p:nvPr/>
        </p:nvSpPr>
        <p:spPr>
          <a:xfrm>
            <a:off x="5257800" y="2258568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5E4D9"/>
            </a:solidFill>
            <a:prstDash val="solid"/>
          </a:ln>
        </p:spPr>
      </p:sp>
      <p:sp>
        <p:nvSpPr>
          <p:cNvPr id="11" name="chip"/>
          <p:cNvSpPr/>
          <p:nvPr/>
        </p:nvSpPr>
        <p:spPr>
          <a:xfrm>
            <a:off x="5367528" y="2404872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67528" y="24048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DONE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2585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Indicators with targets</a:t>
            </a:r>
            <a:endParaRPr lang="en-US" sz="1300" dirty="0"/>
          </a:p>
        </p:txBody>
      </p:sp>
      <p:sp>
        <p:nvSpPr>
          <p:cNvPr id="14" name="row"/>
          <p:cNvSpPr/>
          <p:nvPr/>
        </p:nvSpPr>
        <p:spPr>
          <a:xfrm>
            <a:off x="5257800" y="2962656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5E4D9"/>
            </a:solidFill>
            <a:prstDash val="solid"/>
          </a:ln>
        </p:spPr>
      </p:sp>
      <p:sp>
        <p:nvSpPr>
          <p:cNvPr id="15" name="chip"/>
          <p:cNvSpPr/>
          <p:nvPr/>
        </p:nvSpPr>
        <p:spPr>
          <a:xfrm>
            <a:off x="5367528" y="310896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 w="12700">
            <a:solidFill>
              <a:srgbClr val="E864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67528" y="31089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 DO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96265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Add a team member</a:t>
            </a:r>
            <a:endParaRPr lang="en-US" sz="1300" dirty="0"/>
          </a:p>
        </p:txBody>
      </p:sp>
      <p:sp>
        <p:nvSpPr>
          <p:cNvPr id="18" name="row"/>
          <p:cNvSpPr/>
          <p:nvPr/>
        </p:nvSpPr>
        <p:spPr>
          <a:xfrm>
            <a:off x="5257800" y="3666744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5E4D9"/>
            </a:solidFill>
            <a:prstDash val="solid"/>
          </a:ln>
        </p:spPr>
      </p:sp>
      <p:sp>
        <p:nvSpPr>
          <p:cNvPr id="19" name="chip"/>
          <p:cNvSpPr/>
          <p:nvPr/>
        </p:nvSpPr>
        <p:spPr>
          <a:xfrm>
            <a:off x="5367528" y="381304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67528" y="38130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READY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366674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Mark setup complete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641B"/>
                </a:solidFill>
              </a:rPr>
              <a:t>SET 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DonorDesk reads your donor's template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D27"/>
                </a:solidFill>
              </a:rPr>
              <a:t>Upload the donor's Word or PDF template. DonorDesk finds the table of contents, the questions each section must answer, the required tables and the page limits.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You review and correct it once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Every later report follows it exactly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Different template per report type, monthly to final</a:t>
            </a:r>
            <a:endParaRPr lang="en-US" sz="1500" dirty="0"/>
          </a:p>
        </p:txBody>
      </p:sp>
      <p:sp>
        <p:nvSpPr>
          <p:cNvPr id="6" name="panel"/>
          <p:cNvSpPr/>
          <p:nvPr/>
        </p:nvSpPr>
        <p:spPr>
          <a:xfrm>
            <a:off x="5120640" y="1371600"/>
            <a:ext cx="3566160" cy="3017520"/>
          </a:xfrm>
          <a:prstGeom prst="roundRect">
            <a:avLst>
              <a:gd name="adj" fmla="val 4545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49240" y="155448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A3D2B"/>
                </a:solidFill>
              </a:rPr>
              <a:t>1. Executive Summary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A3D2B"/>
                </a:solidFill>
              </a:rPr>
              <a:t>2. Progress against results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A3D2B"/>
                </a:solidFill>
              </a:rPr>
              <a:t>    2.1 Outcome 1: Safe water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A3D2B"/>
                </a:solidFill>
              </a:rPr>
              <a:t>    2.2 Outcome 2: Hygiene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A3D2B"/>
                </a:solidFill>
              </a:rPr>
              <a:t>3. Challenges and lessons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A3D2B"/>
                </a:solidFill>
              </a:rPr>
              <a:t>4. Financial summary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A3D2B"/>
                </a:solidFill>
              </a:rPr>
              <a:t>5. Conclusion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641B"/>
                </a:solidFill>
              </a:rPr>
              <a:t>SET 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logframe, living and connected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463040"/>
            <a:ext cx="2590800" cy="2377440"/>
          </a:xfrm>
          <a:prstGeom prst="roundRect">
            <a:avLst>
              <a:gd name="adj" fmla="val 4615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5" name="icon-bg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6" name="Image 0" descr="FaProject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76022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645920"/>
            <a:ext cx="172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B"/>
                </a:solidFill>
              </a:rPr>
              <a:t>Import in one go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94560"/>
            <a:ext cx="222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Paste or upload goal, outcomes, outputs and activities. DonorDesk builds the hierarchy.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3276600" y="1463040"/>
            <a:ext cx="2590800" cy="2377440"/>
          </a:xfrm>
          <a:prstGeom prst="roundRect">
            <a:avLst>
              <a:gd name="adj" fmla="val 4615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0" name="icon-bg"/>
          <p:cNvSpPr/>
          <p:nvPr/>
        </p:nvSpPr>
        <p:spPr>
          <a:xfrm>
            <a:off x="3459480" y="1645920"/>
            <a:ext cx="457200" cy="45720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11" name="Image 1" descr="FaBullsey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780" y="176022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08120" y="1645920"/>
            <a:ext cx="172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B"/>
                </a:solidFill>
              </a:rPr>
              <a:t>Clear indicators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59480" y="2194560"/>
            <a:ext cx="222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Baseline, target, unit and frequency for each one, with direction: is higher or lower better?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6096000" y="1463040"/>
            <a:ext cx="2590800" cy="2377440"/>
          </a:xfrm>
          <a:prstGeom prst="roundRect">
            <a:avLst>
              <a:gd name="adj" fmla="val 4615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5" name="icon-bg"/>
          <p:cNvSpPr/>
          <p:nvPr/>
        </p:nvSpPr>
        <p:spPr>
          <a:xfrm>
            <a:off x="6278880" y="1645920"/>
            <a:ext cx="457200" cy="45720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16" name="Image 2" descr="FaBalanceSca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180" y="176022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27520" y="1645920"/>
            <a:ext cx="172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B"/>
                </a:solidFill>
              </a:rPr>
              <a:t>Disaggregation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278880" y="2194560"/>
            <a:ext cx="222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Record results by sex and other groups where the donor asks for it.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5A3A"/>
                </a:solidFill>
              </a:rPr>
              <a:t>Indicators are retired, never deleted, once results exist, so history stays honest.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641B"/>
                </a:solidFill>
              </a:rPr>
              <a:t>CAPTURE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an activity as fast as you can say 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297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Speak or type what happened; DonorDesk fills in the form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It only fills what your words state, never invents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The reporting period is worked out from the date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A record can cover a span, e.g. a training week</a:t>
            </a:r>
            <a:endParaRPr lang="en-US" sz="1500" dirty="0"/>
          </a:p>
        </p:txBody>
      </p:sp>
      <p:sp>
        <p:nvSpPr>
          <p:cNvPr id="5" name="panel"/>
          <p:cNvSpPr/>
          <p:nvPr/>
        </p:nvSpPr>
        <p:spPr>
          <a:xfrm>
            <a:off x="5120640" y="1371600"/>
            <a:ext cx="3566160" cy="3017520"/>
          </a:xfrm>
          <a:prstGeom prst="roundRect">
            <a:avLst>
              <a:gd name="adj" fmla="val 4545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6" name="icon-bg"/>
          <p:cNvSpPr/>
          <p:nvPr/>
        </p:nvSpPr>
        <p:spPr>
          <a:xfrm>
            <a:off x="5349240" y="1600200"/>
            <a:ext cx="640080" cy="640080"/>
          </a:xfrm>
          <a:prstGeom prst="ellipse">
            <a:avLst/>
          </a:prstGeom>
          <a:solidFill>
            <a:srgbClr val="E8641B"/>
          </a:solidFill>
          <a:ln w="12700">
            <a:solidFill>
              <a:srgbClr val="E8641B"/>
            </a:solidFill>
            <a:prstDash val="solid"/>
          </a:ln>
        </p:spPr>
      </p:sp>
      <p:pic>
        <p:nvPicPr>
          <p:cNvPr id="7" name="Image 0" descr="FaMicro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9260" y="17602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126480" y="15544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3D2B"/>
                </a:solidFill>
              </a:rPr>
              <a:t>“Today we trained 40 mothers on handwashing in Konduga…”</a:t>
            </a:r>
            <a:endParaRPr lang="en-US" sz="1300" dirty="0"/>
          </a:p>
        </p:txBody>
      </p:sp>
      <p:sp>
        <p:nvSpPr>
          <p:cNvPr id="9" name="row"/>
          <p:cNvSpPr/>
          <p:nvPr/>
        </p:nvSpPr>
        <p:spPr>
          <a:xfrm>
            <a:off x="5257800" y="251460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5E4D9"/>
            </a:solidFill>
            <a:prstDash val="solid"/>
          </a:ln>
        </p:spPr>
      </p:sp>
      <p:sp>
        <p:nvSpPr>
          <p:cNvPr id="10" name="chip"/>
          <p:cNvSpPr/>
          <p:nvPr/>
        </p:nvSpPr>
        <p:spPr>
          <a:xfrm>
            <a:off x="5367528" y="262890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367528" y="26289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DATE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Filled: today</a:t>
            </a:r>
            <a:endParaRPr lang="en-US" sz="1300" dirty="0"/>
          </a:p>
        </p:txBody>
      </p:sp>
      <p:sp>
        <p:nvSpPr>
          <p:cNvPr id="13" name="row"/>
          <p:cNvSpPr/>
          <p:nvPr/>
        </p:nvSpPr>
        <p:spPr>
          <a:xfrm>
            <a:off x="5257800" y="3127248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5E4D9"/>
            </a:solidFill>
            <a:prstDash val="solid"/>
          </a:ln>
        </p:spPr>
      </p:sp>
      <p:sp>
        <p:nvSpPr>
          <p:cNvPr id="14" name="chip"/>
          <p:cNvSpPr/>
          <p:nvPr/>
        </p:nvSpPr>
        <p:spPr>
          <a:xfrm>
            <a:off x="5367528" y="324154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67528" y="32415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PLACE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355080" y="31272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Filled: Konduga</a:t>
            </a:r>
            <a:endParaRPr lang="en-US" sz="1300" dirty="0"/>
          </a:p>
        </p:txBody>
      </p:sp>
      <p:sp>
        <p:nvSpPr>
          <p:cNvPr id="17" name="row"/>
          <p:cNvSpPr/>
          <p:nvPr/>
        </p:nvSpPr>
        <p:spPr>
          <a:xfrm>
            <a:off x="5257800" y="3739896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5E4D9"/>
            </a:solidFill>
            <a:prstDash val="solid"/>
          </a:ln>
        </p:spPr>
      </p:sp>
      <p:sp>
        <p:nvSpPr>
          <p:cNvPr id="18" name="chip"/>
          <p:cNvSpPr/>
          <p:nvPr/>
        </p:nvSpPr>
        <p:spPr>
          <a:xfrm>
            <a:off x="5367528" y="385419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367528" y="385419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PEOPLE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355080" y="373989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Filled: 40 women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641B"/>
                </a:solidFill>
              </a:rPr>
              <a:t>CAPTURE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that finds its own place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297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Upload photos, attendance sheets, receipts, reports, or link them from Google Drive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Each file attaches to the activity or indicator result it proves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Choose the link while uploading, with no extra step later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Search the whole library in seconds</a:t>
            </a:r>
            <a:endParaRPr lang="en-US" sz="1500" dirty="0"/>
          </a:p>
        </p:txBody>
      </p:sp>
      <p:sp>
        <p:nvSpPr>
          <p:cNvPr id="5" name="panel"/>
          <p:cNvSpPr/>
          <p:nvPr/>
        </p:nvSpPr>
        <p:spPr>
          <a:xfrm>
            <a:off x="5120640" y="1371600"/>
            <a:ext cx="3566160" cy="3017520"/>
          </a:xfrm>
          <a:prstGeom prst="roundRect">
            <a:avLst>
              <a:gd name="adj" fmla="val 4545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6" name="file"/>
          <p:cNvSpPr/>
          <p:nvPr/>
        </p:nvSpPr>
        <p:spPr>
          <a:xfrm>
            <a:off x="5303520" y="160020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4D9"/>
            </a:solidFill>
            <a:prstDash val="solid"/>
          </a:ln>
        </p:spPr>
      </p:sp>
      <p:sp>
        <p:nvSpPr>
          <p:cNvPr id="7" name="icon-bg"/>
          <p:cNvSpPr/>
          <p:nvPr/>
        </p:nvSpPr>
        <p:spPr>
          <a:xfrm>
            <a:off x="5440680" y="1737360"/>
            <a:ext cx="457200" cy="45720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8" name="Image 0" descr="FaCam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4980" y="1851660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035040" y="16002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2B"/>
                </a:solidFill>
              </a:rPr>
              <a:t>Handpump handover photo</a:t>
            </a:r>
            <a:endParaRPr lang="en-US" sz="1300" dirty="0"/>
          </a:p>
        </p:txBody>
      </p:sp>
      <p:sp>
        <p:nvSpPr>
          <p:cNvPr id="10" name="file"/>
          <p:cNvSpPr/>
          <p:nvPr/>
        </p:nvSpPr>
        <p:spPr>
          <a:xfrm>
            <a:off x="5303520" y="246888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4D9"/>
            </a:solidFill>
            <a:prstDash val="solid"/>
          </a:ln>
        </p:spPr>
      </p:sp>
      <p:sp>
        <p:nvSpPr>
          <p:cNvPr id="11" name="icon-bg"/>
          <p:cNvSpPr/>
          <p:nvPr/>
        </p:nvSpPr>
        <p:spPr>
          <a:xfrm>
            <a:off x="5440680" y="2606040"/>
            <a:ext cx="457200" cy="45720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12" name="Image 1" descr="FaFile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4980" y="272034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035040" y="2468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2B"/>
                </a:solidFill>
              </a:rPr>
              <a:t>Training attendance sheet</a:t>
            </a:r>
            <a:endParaRPr lang="en-US" sz="1300" dirty="0"/>
          </a:p>
        </p:txBody>
      </p:sp>
      <p:sp>
        <p:nvSpPr>
          <p:cNvPr id="14" name="file"/>
          <p:cNvSpPr/>
          <p:nvPr/>
        </p:nvSpPr>
        <p:spPr>
          <a:xfrm>
            <a:off x="5303520" y="333756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4D9"/>
            </a:solidFill>
            <a:prstDash val="solid"/>
          </a:ln>
        </p:spPr>
      </p:sp>
      <p:sp>
        <p:nvSpPr>
          <p:cNvPr id="15" name="icon-bg"/>
          <p:cNvSpPr/>
          <p:nvPr/>
        </p:nvSpPr>
        <p:spPr>
          <a:xfrm>
            <a:off x="5440680" y="3474720"/>
            <a:ext cx="457200" cy="45720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16" name="Image 2" descr="FaFileSignatu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980" y="358902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035040" y="33375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2B"/>
                </a:solidFill>
              </a:rPr>
              <a:t>Procurement record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641B"/>
                </a:solidFill>
              </a:rPr>
              <a:t>CAPTURE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sorts the paperwork, you confirm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D27"/>
                </a:solidFill>
              </a:rPr>
              <a:t>DonorDesk reads each file, recognises what it is and suggests where it belongs. A person verifies it before it counts.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457200" y="214884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6" name="icon-bg"/>
          <p:cNvSpPr/>
          <p:nvPr/>
        </p:nvSpPr>
        <p:spPr>
          <a:xfrm>
            <a:off x="1417320" y="2331720"/>
            <a:ext cx="640080" cy="64008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7" name="Image 0" descr="Fa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24917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2B"/>
                </a:solidFill>
              </a:rPr>
              <a:t>Recognise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Attendance list, photo, receipt, report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3291840" y="214884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1" name="icon-bg"/>
          <p:cNvSpPr/>
          <p:nvPr/>
        </p:nvSpPr>
        <p:spPr>
          <a:xfrm>
            <a:off x="4251960" y="2331720"/>
            <a:ext cx="640080" cy="64008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12" name="Image 1" descr="FaTa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24917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29184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2B"/>
                </a:solidFill>
              </a:rPr>
              <a:t>Suggest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Activity, indicator and donor requirement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6126480" y="214884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6" name="icon-bg"/>
          <p:cNvSpPr/>
          <p:nvPr/>
        </p:nvSpPr>
        <p:spPr>
          <a:xfrm>
            <a:off x="7086600" y="2331720"/>
            <a:ext cx="640080" cy="64008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17" name="Image 2" descr="FaCheck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620" y="24917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12648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2B"/>
                </a:solidFill>
              </a:rPr>
              <a:t>Verify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30936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One click by your team: verified evidence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bg"/>
          <p:cNvSpPr/>
          <p:nvPr/>
        </p:nvSpPr>
        <p:spPr>
          <a:xfrm>
            <a:off x="640080" y="1280160"/>
            <a:ext cx="1005840" cy="1005840"/>
          </a:xfrm>
          <a:prstGeom prst="ellipse">
            <a:avLst/>
          </a:prstGeom>
          <a:solidFill>
            <a:srgbClr val="E8641B"/>
          </a:solidFill>
          <a:ln w="12700">
            <a:solidFill>
              <a:srgbClr val="E8641B"/>
            </a:solidFill>
            <a:prstDash val="solid"/>
          </a:ln>
        </p:spPr>
      </p:sp>
      <p:pic>
        <p:nvPicPr>
          <p:cNvPr id="3" name="Image 0" descr="FaWif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53162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011680" y="10972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Connectivity is not guaranteed. Your reporting should be.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2011680" y="27432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DEBE2"/>
                </a:solidFill>
              </a:rPr>
              <a:t>Finish an activity with no signal and it waits safely on the device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DEBE2"/>
                </a:solidFill>
              </a:rPr>
              <a:t>It sends itself when the connection returns, and never twice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DDEBE2"/>
                </a:solidFill>
              </a:rPr>
              <a:t>Drafts are saved as you go, so a dropped connection loses nothing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541"/>
                </a:solidFill>
              </a:rPr>
              <a:t>CAPTURE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641B"/>
                </a:solidFill>
              </a:rPr>
              <a:t>MEASURE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Indicator results in one simple grid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Enter a whole period's results like a spreadsheet, or import from Google Sheets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See last period's value and the running total beside each box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Attach the proof right where you type the number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Indicators not due this period are never shown as missing</a:t>
            </a:r>
            <a:endParaRPr lang="en-US" sz="1500" dirty="0"/>
          </a:p>
        </p:txBody>
      </p:sp>
      <p:sp>
        <p:nvSpPr>
          <p:cNvPr id="5" name="panel"/>
          <p:cNvSpPr/>
          <p:nvPr/>
        </p:nvSpPr>
        <p:spPr>
          <a:xfrm>
            <a:off x="4846320" y="1371600"/>
            <a:ext cx="3840480" cy="3017520"/>
          </a:xfrm>
          <a:prstGeom prst="roundRect">
            <a:avLst>
              <a:gd name="adj" fmla="val 4545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645920"/>
          <a:ext cx="3474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731520"/>
                <a:gridCol w="640080"/>
                <a:gridCol w="8229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points working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Women trained in hygiene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Households with latrines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641B"/>
                </a:solidFill>
              </a:rPr>
              <a:t>REPORT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kind of report your donor asks for</a:t>
            </a:r>
            <a:endParaRPr lang="en-US" sz="3000" dirty="0"/>
          </a:p>
        </p:txBody>
      </p:sp>
      <p:sp>
        <p:nvSpPr>
          <p:cNvPr id="4" name="pill"/>
          <p:cNvSpPr/>
          <p:nvPr/>
        </p:nvSpPr>
        <p:spPr>
          <a:xfrm>
            <a:off x="457200" y="1463040"/>
            <a:ext cx="1874520" cy="731520"/>
          </a:xfrm>
          <a:prstGeom prst="roundRect">
            <a:avLst>
              <a:gd name="adj" fmla="val 50000"/>
            </a:avLst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Monthly</a:t>
            </a:r>
            <a:endParaRPr lang="en-US" sz="1600" dirty="0"/>
          </a:p>
        </p:txBody>
      </p:sp>
      <p:sp>
        <p:nvSpPr>
          <p:cNvPr id="6" name="pill"/>
          <p:cNvSpPr/>
          <p:nvPr/>
        </p:nvSpPr>
        <p:spPr>
          <a:xfrm>
            <a:off x="2560320" y="1463040"/>
            <a:ext cx="1874520" cy="731520"/>
          </a:xfrm>
          <a:prstGeom prst="roundRect">
            <a:avLst>
              <a:gd name="adj" fmla="val 50000"/>
            </a:avLst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4630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Quarterly</a:t>
            </a:r>
            <a:endParaRPr lang="en-US" sz="1600" dirty="0"/>
          </a:p>
        </p:txBody>
      </p:sp>
      <p:sp>
        <p:nvSpPr>
          <p:cNvPr id="8" name="pill"/>
          <p:cNvSpPr/>
          <p:nvPr/>
        </p:nvSpPr>
        <p:spPr>
          <a:xfrm>
            <a:off x="4663440" y="1463040"/>
            <a:ext cx="1874520" cy="731520"/>
          </a:xfrm>
          <a:prstGeom prst="roundRect">
            <a:avLst>
              <a:gd name="adj" fmla="val 50000"/>
            </a:avLst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4630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Semi-annual</a:t>
            </a:r>
            <a:endParaRPr lang="en-US" sz="1600" dirty="0"/>
          </a:p>
        </p:txBody>
      </p:sp>
      <p:sp>
        <p:nvSpPr>
          <p:cNvPr id="10" name="pill"/>
          <p:cNvSpPr/>
          <p:nvPr/>
        </p:nvSpPr>
        <p:spPr>
          <a:xfrm>
            <a:off x="6766560" y="1463040"/>
            <a:ext cx="1874520" cy="731520"/>
          </a:xfrm>
          <a:prstGeom prst="roundRect">
            <a:avLst>
              <a:gd name="adj" fmla="val 50000"/>
            </a:avLst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14630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Annual</a:t>
            </a:r>
            <a:endParaRPr lang="en-US" sz="1600" dirty="0"/>
          </a:p>
        </p:txBody>
      </p:sp>
      <p:sp>
        <p:nvSpPr>
          <p:cNvPr id="12" name="pill"/>
          <p:cNvSpPr/>
          <p:nvPr/>
        </p:nvSpPr>
        <p:spPr>
          <a:xfrm>
            <a:off x="457200" y="2377440"/>
            <a:ext cx="1874520" cy="73152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 w="12700">
            <a:solidFill>
              <a:srgbClr val="E8641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3774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Final</a:t>
            </a:r>
            <a:endParaRPr lang="en-US" sz="1600" dirty="0"/>
          </a:p>
        </p:txBody>
      </p:sp>
      <p:sp>
        <p:nvSpPr>
          <p:cNvPr id="14" name="pill"/>
          <p:cNvSpPr/>
          <p:nvPr/>
        </p:nvSpPr>
        <p:spPr>
          <a:xfrm>
            <a:off x="2560320" y="2377440"/>
            <a:ext cx="1874520" cy="73152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 w="12700">
            <a:solidFill>
              <a:srgbClr val="E8641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60320" y="23774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Situation</a:t>
            </a:r>
            <a:endParaRPr lang="en-US" sz="1600" dirty="0"/>
          </a:p>
        </p:txBody>
      </p:sp>
      <p:sp>
        <p:nvSpPr>
          <p:cNvPr id="16" name="pill"/>
          <p:cNvSpPr/>
          <p:nvPr/>
        </p:nvSpPr>
        <p:spPr>
          <a:xfrm>
            <a:off x="4663440" y="2377440"/>
            <a:ext cx="1874520" cy="73152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23774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Activity</a:t>
            </a:r>
            <a:endParaRPr lang="en-US" sz="1600" dirty="0"/>
          </a:p>
        </p:txBody>
      </p:sp>
      <p:sp>
        <p:nvSpPr>
          <p:cNvPr id="18" name="pill"/>
          <p:cNvSpPr/>
          <p:nvPr/>
        </p:nvSpPr>
        <p:spPr>
          <a:xfrm>
            <a:off x="6766560" y="2377440"/>
            <a:ext cx="1874520" cy="73152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0" y="23774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Custom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D27"/>
                </a:solidFill>
              </a:rPr>
              <a:t>DonorDesk knows which periods are allowed and explains why. </a:t>
            </a:r>
            <a:pPr indent="0" marL="0">
              <a:buNone/>
            </a:pPr>
            <a:r>
              <a:rPr lang="en-US" sz="1500" dirty="0">
                <a:solidFill>
                  <a:srgbClr val="1F2D27"/>
                </a:solidFill>
              </a:rPr>
              <a:t>Rapid situation reports for floods or outbreaks sit beside routine cycles. A report is compared only with reports of its own kind.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641B"/>
                </a:solidFill>
              </a:rPr>
              <a:t>REPORT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first draft in minutes, section by section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297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Follows your donor's own structure and word limits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Writes in clear, humanitarian language: people first, honest about challenges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Uses only verified results, activities and evidence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Report in the language of your profile; section titles are translated too</a:t>
            </a:r>
            <a:endParaRPr lang="en-US" sz="1500" dirty="0"/>
          </a:p>
        </p:txBody>
      </p:sp>
      <p:sp>
        <p:nvSpPr>
          <p:cNvPr id="5" name="panel"/>
          <p:cNvSpPr/>
          <p:nvPr/>
        </p:nvSpPr>
        <p:spPr>
          <a:xfrm>
            <a:off x="5120640" y="1371600"/>
            <a:ext cx="3566160" cy="3017520"/>
          </a:xfrm>
          <a:prstGeom prst="roundRect">
            <a:avLst>
              <a:gd name="adj" fmla="val 4545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6" name="icon-bg"/>
          <p:cNvSpPr/>
          <p:nvPr/>
        </p:nvSpPr>
        <p:spPr>
          <a:xfrm>
            <a:off x="5349240" y="1600200"/>
            <a:ext cx="548640" cy="54864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7" name="Image 0" descr="FaRo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7373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1600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2B"/>
                </a:solidFill>
              </a:rPr>
              <a:t>Section 2.1  ·  Safe water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349240" y="233172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D27"/>
                </a:solidFill>
              </a:rPr>
              <a:t>By June, 16 of 20 planned water points were serving families in Jere and Konduga. Heavy rains in May delayed two sites; the team adjusted the schedule with community leaders…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541"/>
                </a:solidFill>
              </a:rPr>
              <a:t>REPORT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invented numbers. Ever.</a:t>
            </a:r>
            <a:endParaRPr lang="en-US" sz="3800" dirty="0"/>
          </a:p>
        </p:txBody>
      </p:sp>
      <p:sp>
        <p:nvSpPr>
          <p:cNvPr id="4" name="card"/>
          <p:cNvSpPr/>
          <p:nvPr/>
        </p:nvSpPr>
        <p:spPr>
          <a:xfrm>
            <a:off x="457200" y="164592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11513B"/>
          </a:solidFill>
          <a:ln w="12700">
            <a:solidFill>
              <a:srgbClr val="1151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60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Tables and charts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017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D6"/>
                </a:solidFill>
              </a:rPr>
              <a:t>Built from verified results by the system, not by the AI.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91840" y="164592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11513B"/>
          </a:solidFill>
          <a:ln w="12700">
            <a:solidFill>
              <a:srgbClr val="1151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560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Number check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3017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D6"/>
                </a:solidFill>
              </a:rPr>
              <a:t>A figure that is not in your records is rejected.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6126480" y="164592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11513B"/>
          </a:solidFill>
          <a:ln w="12700">
            <a:solidFill>
              <a:srgbClr val="1151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560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Honest gaps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3017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D6"/>
                </a:solidFill>
              </a:rPr>
              <a:t>Not measured is shown as Not measured, never as zero.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A541"/>
                </a:solidFill>
              </a:rPr>
              <a:t>Donors trust numbers they can check. So can you.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641B"/>
                </a:solidFill>
              </a:rPr>
              <a:t>REPORT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statement checked against proof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D27"/>
                </a:solidFill>
              </a:rPr>
              <a:t>Each claim in the draft is matched to your evidence and your own project records. Anything unsupported is flagged for a person to decide.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27"/>
                </a:solidFill>
              </a:rPr>
              <a:t>Click a statement to see its source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27"/>
                </a:solidFill>
              </a:rPr>
              <a:t>Resolve a flag with a short note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27"/>
                </a:solidFill>
              </a:rPr>
              <a:t>Causes your own records state need no extra decision</a:t>
            </a:r>
            <a:endParaRPr lang="en-US" sz="1400" dirty="0"/>
          </a:p>
        </p:txBody>
      </p:sp>
      <p:sp>
        <p:nvSpPr>
          <p:cNvPr id="6" name="panel"/>
          <p:cNvSpPr/>
          <p:nvPr/>
        </p:nvSpPr>
        <p:spPr>
          <a:xfrm>
            <a:off x="4846320" y="1371600"/>
            <a:ext cx="3840480" cy="3017520"/>
          </a:xfrm>
          <a:prstGeom prst="roundRect">
            <a:avLst>
              <a:gd name="adj" fmla="val 4545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7" name="row"/>
          <p:cNvSpPr/>
          <p:nvPr/>
        </p:nvSpPr>
        <p:spPr>
          <a:xfrm>
            <a:off x="4983480" y="160020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E4D9"/>
            </a:solidFill>
            <a:prstDash val="solid"/>
          </a:ln>
        </p:spPr>
      </p:sp>
      <p:sp>
        <p:nvSpPr>
          <p:cNvPr id="8" name="chip"/>
          <p:cNvSpPr/>
          <p:nvPr/>
        </p:nvSpPr>
        <p:spPr>
          <a:xfrm>
            <a:off x="5093208" y="178308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93208" y="17830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SUPPORTED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80760" y="1600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16 water points functional</a:t>
            </a:r>
            <a:endParaRPr lang="en-US" sz="1300" dirty="0"/>
          </a:p>
        </p:txBody>
      </p:sp>
      <p:sp>
        <p:nvSpPr>
          <p:cNvPr id="11" name="row"/>
          <p:cNvSpPr/>
          <p:nvPr/>
        </p:nvSpPr>
        <p:spPr>
          <a:xfrm>
            <a:off x="4983480" y="242316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E4D9"/>
            </a:solidFill>
            <a:prstDash val="solid"/>
          </a:ln>
        </p:spPr>
      </p:sp>
      <p:sp>
        <p:nvSpPr>
          <p:cNvPr id="12" name="chip"/>
          <p:cNvSpPr/>
          <p:nvPr/>
        </p:nvSpPr>
        <p:spPr>
          <a:xfrm>
            <a:off x="5093208" y="26060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93208" y="2606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SUPPORTED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24231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40 mothers attended the session</a:t>
            </a:r>
            <a:endParaRPr lang="en-US" sz="1300" dirty="0"/>
          </a:p>
        </p:txBody>
      </p:sp>
      <p:sp>
        <p:nvSpPr>
          <p:cNvPr id="15" name="row"/>
          <p:cNvSpPr/>
          <p:nvPr/>
        </p:nvSpPr>
        <p:spPr>
          <a:xfrm>
            <a:off x="4983480" y="324612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E4D9"/>
            </a:solidFill>
            <a:prstDash val="solid"/>
          </a:ln>
        </p:spPr>
      </p:sp>
      <p:sp>
        <p:nvSpPr>
          <p:cNvPr id="16" name="chip"/>
          <p:cNvSpPr/>
          <p:nvPr/>
        </p:nvSpPr>
        <p:spPr>
          <a:xfrm>
            <a:off x="5093208" y="342900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 w="12700">
            <a:solidFill>
              <a:srgbClr val="E8641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93208" y="3429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REVIEW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080760" y="3246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Cholera cases fell after the campaign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3840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3"/>
                </a:solidFill>
              </a:rPr>
              <a:t>Flagged statements need a person's decision before approval.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641B"/>
                </a:solidFill>
              </a:rPr>
              <a:t>REPORT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Charts that tell the story, honestly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47548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0" y="146304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27"/>
                </a:solidFill>
              </a:rPr>
              <a:t>Drawn from the tables in your report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27"/>
                </a:solidFill>
              </a:rPr>
              <a:t>Bar, line, pie, area, radar or gauge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27"/>
                </a:solidFill>
              </a:rPr>
              <a:t>Cumulative to date against the project target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27"/>
                </a:solidFill>
              </a:rPr>
              <a:t>Appear identically in Word and PDF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641B"/>
                </a:solidFill>
              </a:rPr>
              <a:t>REPORT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editor that guides, never blocks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Familiar rich-text editing with autosave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Dictate straight into any section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A live readiness score: for example 72% ready, 3 to do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Outline follows your donor's numbering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Regenerate one section without touching the rest</a:t>
            </a:r>
            <a:endParaRPr lang="en-US" sz="1500" dirty="0"/>
          </a:p>
        </p:txBody>
      </p:sp>
      <p:sp>
        <p:nvSpPr>
          <p:cNvPr id="5" name="panel"/>
          <p:cNvSpPr/>
          <p:nvPr/>
        </p:nvSpPr>
        <p:spPr>
          <a:xfrm>
            <a:off x="5120640" y="1371600"/>
            <a:ext cx="3566160" cy="3017520"/>
          </a:xfrm>
          <a:prstGeom prst="roundRect">
            <a:avLst>
              <a:gd name="adj" fmla="val 4545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4924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2B"/>
                </a:solidFill>
              </a:rPr>
              <a:t>Report readiness</a:t>
            </a:r>
            <a:endParaRPr lang="en-US" sz="1400" dirty="0"/>
          </a:p>
        </p:txBody>
      </p:sp>
      <p:sp>
        <p:nvSpPr>
          <p:cNvPr id="7" name="bar-track"/>
          <p:cNvSpPr/>
          <p:nvPr/>
        </p:nvSpPr>
        <p:spPr>
          <a:xfrm>
            <a:off x="5349240" y="2011680"/>
            <a:ext cx="3108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4D9"/>
            </a:solidFill>
            <a:prstDash val="solid"/>
          </a:ln>
        </p:spPr>
      </p:sp>
      <p:sp>
        <p:nvSpPr>
          <p:cNvPr id="8" name="bar-fill"/>
          <p:cNvSpPr/>
          <p:nvPr/>
        </p:nvSpPr>
        <p:spPr>
          <a:xfrm>
            <a:off x="5349240" y="2011680"/>
            <a:ext cx="2240280" cy="27432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49240" y="2423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5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3200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27"/>
                </a:solidFill>
              </a:rPr>
              <a:t>3 things left to do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3566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641B"/>
                </a:solidFill>
              </a:rPr>
              <a:t>Next: confirm 2 flagged statements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641B"/>
                </a:solidFill>
              </a:rPr>
              <a:t>REPORT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more missing annexes at the deadline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A compliance checklist built from donor requirements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Missing evidence is flagged early, with a plain-language reason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Items close themselves when the data arrives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Confidential material is flagged before it leaves the building</a:t>
            </a:r>
            <a:endParaRPr lang="en-US" sz="1500" dirty="0"/>
          </a:p>
        </p:txBody>
      </p:sp>
      <p:sp>
        <p:nvSpPr>
          <p:cNvPr id="5" name="panel"/>
          <p:cNvSpPr/>
          <p:nvPr/>
        </p:nvSpPr>
        <p:spPr>
          <a:xfrm>
            <a:off x="5120640" y="1371600"/>
            <a:ext cx="3566160" cy="3017520"/>
          </a:xfrm>
          <a:prstGeom prst="roundRect">
            <a:avLst>
              <a:gd name="adj" fmla="val 4545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pic>
        <p:nvPicPr>
          <p:cNvPr id="6" name="Image 0" descr="stat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6916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06440" y="1600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27"/>
                </a:solidFill>
              </a:rPr>
              <a:t>Beneficiary lists attached</a:t>
            </a:r>
            <a:endParaRPr lang="en-US" sz="1400" dirty="0"/>
          </a:p>
        </p:txBody>
      </p:sp>
      <p:pic>
        <p:nvPicPr>
          <p:cNvPr id="8" name="Image 1" descr="stat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3317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806440" y="2240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27"/>
                </a:solidFill>
              </a:rPr>
              <a:t>Procurement records available</a:t>
            </a:r>
            <a:endParaRPr lang="en-US" sz="1400" dirty="0"/>
          </a:p>
        </p:txBody>
      </p:sp>
      <p:pic>
        <p:nvPicPr>
          <p:cNvPr id="10" name="Image 2" descr="statu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297180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806440" y="2880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27"/>
                </a:solidFill>
              </a:rPr>
              <a:t>Photo consent confirmed?</a:t>
            </a:r>
            <a:endParaRPr lang="en-US" sz="1400" dirty="0"/>
          </a:p>
        </p:txBody>
      </p:sp>
      <p:pic>
        <p:nvPicPr>
          <p:cNvPr id="12" name="Image 3" descr="statu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3611880"/>
            <a:ext cx="320040" cy="32004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806440" y="3520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27"/>
                </a:solidFill>
              </a:rPr>
              <a:t>Site visit report missing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641B"/>
                </a:solidFill>
              </a:rPr>
              <a:t>TRUST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 your donor will respect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463040"/>
            <a:ext cx="1874520" cy="1828800"/>
          </a:xfrm>
          <a:prstGeom prst="roundRect">
            <a:avLst>
              <a:gd name="adj" fmla="val 6000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5" name="icon-bg"/>
          <p:cNvSpPr/>
          <p:nvPr/>
        </p:nvSpPr>
        <p:spPr>
          <a:xfrm>
            <a:off x="1097280" y="1645920"/>
            <a:ext cx="594360" cy="59436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6" name="Image 0" descr="FaEd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5870" y="179451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3774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3D2B"/>
                </a:solidFill>
              </a:rPr>
              <a:t>Draft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7432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Author writes and edits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2560320" y="1463040"/>
            <a:ext cx="1874520" cy="1828800"/>
          </a:xfrm>
          <a:prstGeom prst="roundRect">
            <a:avLst>
              <a:gd name="adj" fmla="val 6000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0" name="icon-bg"/>
          <p:cNvSpPr/>
          <p:nvPr/>
        </p:nvSpPr>
        <p:spPr>
          <a:xfrm>
            <a:off x="3200400" y="1645920"/>
            <a:ext cx="594360" cy="59436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11" name="Image 1" descr="FaClipboard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990" y="179451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560320" y="23774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3D2B"/>
                </a:solidFill>
              </a:rPr>
              <a:t>Review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2697480" y="27432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Comments on each section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4663440" y="1463040"/>
            <a:ext cx="1874520" cy="1828800"/>
          </a:xfrm>
          <a:prstGeom prst="roundRect">
            <a:avLst>
              <a:gd name="adj" fmla="val 6000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5" name="icon-bg"/>
          <p:cNvSpPr/>
          <p:nvPr/>
        </p:nvSpPr>
        <p:spPr>
          <a:xfrm>
            <a:off x="5303520" y="1645920"/>
            <a:ext cx="594360" cy="59436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16" name="Image 2" descr="FaUser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110" y="179451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663440" y="23774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3D2B"/>
                </a:solidFill>
              </a:rPr>
              <a:t>Approve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4800600" y="27432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A second person signs off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6766560" y="1463040"/>
            <a:ext cx="1874520" cy="1828800"/>
          </a:xfrm>
          <a:prstGeom prst="roundRect">
            <a:avLst>
              <a:gd name="adj" fmla="val 6000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20" name="icon-bg"/>
          <p:cNvSpPr/>
          <p:nvPr/>
        </p:nvSpPr>
        <p:spPr>
          <a:xfrm>
            <a:off x="7406640" y="1645920"/>
            <a:ext cx="594360" cy="594360"/>
          </a:xfrm>
          <a:prstGeom prst="ellipse">
            <a:avLst/>
          </a:prstGeom>
          <a:solidFill>
            <a:srgbClr val="E8641B"/>
          </a:solidFill>
          <a:ln w="12700">
            <a:solidFill>
              <a:srgbClr val="E8641B"/>
            </a:solidFill>
            <a:prstDash val="solid"/>
          </a:ln>
        </p:spPr>
      </p:sp>
      <p:pic>
        <p:nvPicPr>
          <p:cNvPr id="21" name="Image 3" descr="FaFileSignatu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230" y="179451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766560" y="23774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3D2B"/>
                </a:solidFill>
              </a:rPr>
              <a:t>Seal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903720" y="27432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Locked for submission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D27"/>
                </a:solidFill>
              </a:rPr>
              <a:t>Optional second-approver rule: the author cannot approve their own report. Self sign-offs are recorded.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641B"/>
                </a:solidFill>
              </a:rPr>
              <a:t>TRUST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in the format your donor needs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371600"/>
            <a:ext cx="4000500" cy="1325880"/>
          </a:xfrm>
          <a:prstGeom prst="roundRect">
            <a:avLst>
              <a:gd name="adj" fmla="val 8276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5" name="icon-bg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6" name="Image 0" descr="FaF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6687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554480"/>
            <a:ext cx="3131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B"/>
                </a:solidFill>
              </a:rPr>
              <a:t>Word and PDF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03120"/>
            <a:ext cx="3634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Clean reports with tables and charts, in the donor's own numbering.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686300" y="1371600"/>
            <a:ext cx="4000500" cy="1325880"/>
          </a:xfrm>
          <a:prstGeom prst="roundRect">
            <a:avLst>
              <a:gd name="adj" fmla="val 8276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0" name="icon-bg"/>
          <p:cNvSpPr/>
          <p:nvPr/>
        </p:nvSpPr>
        <p:spPr>
          <a:xfrm>
            <a:off x="4869180" y="1554480"/>
            <a:ext cx="457200" cy="45720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11" name="Image 1" descr="FaFolderOp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6878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17820" y="1554480"/>
            <a:ext cx="3131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B"/>
                </a:solidFill>
              </a:rPr>
              <a:t>Evidence pack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869180" y="2103120"/>
            <a:ext cx="3634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The supporting files bundled with a README, ready for audit or a donor visit.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457200" y="2926080"/>
            <a:ext cx="4000500" cy="1325880"/>
          </a:xfrm>
          <a:prstGeom prst="roundRect">
            <a:avLst>
              <a:gd name="adj" fmla="val 8276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5" name="icon-bg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16" name="Image 2" descr="FaClipboar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22326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88720" y="3108960"/>
            <a:ext cx="3131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B"/>
                </a:solidFill>
              </a:rPr>
              <a:t>Checklist export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3657600"/>
            <a:ext cx="3634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A compliance checklist the donor can read at a glance.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4686300" y="2926080"/>
            <a:ext cx="4000500" cy="1325880"/>
          </a:xfrm>
          <a:prstGeom prst="roundRect">
            <a:avLst>
              <a:gd name="adj" fmla="val 8276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20" name="icon-bg"/>
          <p:cNvSpPr/>
          <p:nvPr/>
        </p:nvSpPr>
        <p:spPr>
          <a:xfrm>
            <a:off x="4869180" y="3108960"/>
            <a:ext cx="457200" cy="45720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21" name="Image 3" descr="FaSear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2326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17820" y="3108960"/>
            <a:ext cx="3131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B"/>
                </a:solidFill>
              </a:rPr>
              <a:t>Internal review copy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4869180" y="3657600"/>
            <a:ext cx="3634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Share any draft with a clear watermark before it is final.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3"/>
                </a:solidFill>
              </a:rPr>
              <a:t>Also: Excel workbook of indicators, with Not measured left clear.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641B"/>
                </a:solidFill>
              </a:rPr>
              <a:t>TRUST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clear trail of who did what, and when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Every change, approval and export is recorded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Answer donor and auditor questions in minutes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Evidence, claims and sign-offs stay linked for years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Prepare for a donor visit from one place</a:t>
            </a:r>
            <a:endParaRPr lang="en-US" sz="1500" dirty="0"/>
          </a:p>
        </p:txBody>
      </p:sp>
      <p:sp>
        <p:nvSpPr>
          <p:cNvPr id="5" name="panel"/>
          <p:cNvSpPr/>
          <p:nvPr/>
        </p:nvSpPr>
        <p:spPr>
          <a:xfrm>
            <a:off x="5120640" y="1371600"/>
            <a:ext cx="3566160" cy="3017520"/>
          </a:xfrm>
          <a:prstGeom prst="roundRect">
            <a:avLst>
              <a:gd name="adj" fmla="val 4545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6" name="row"/>
          <p:cNvSpPr/>
          <p:nvPr/>
        </p:nvSpPr>
        <p:spPr>
          <a:xfrm>
            <a:off x="5257800" y="155448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5E4D9"/>
            </a:solidFill>
            <a:prstDash val="solid"/>
          </a:ln>
        </p:spPr>
      </p:sp>
      <p:sp>
        <p:nvSpPr>
          <p:cNvPr id="7" name="chip"/>
          <p:cNvSpPr/>
          <p:nvPr/>
        </p:nvSpPr>
        <p:spPr>
          <a:xfrm>
            <a:off x="5367528" y="1700784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67528" y="17007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10:42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5544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Evidence verified by Amina</a:t>
            </a:r>
            <a:endParaRPr lang="en-US" sz="1300" dirty="0"/>
          </a:p>
        </p:txBody>
      </p:sp>
      <p:sp>
        <p:nvSpPr>
          <p:cNvPr id="10" name="row"/>
          <p:cNvSpPr/>
          <p:nvPr/>
        </p:nvSpPr>
        <p:spPr>
          <a:xfrm>
            <a:off x="5257800" y="2258568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5E4D9"/>
            </a:solidFill>
            <a:prstDash val="solid"/>
          </a:ln>
        </p:spPr>
      </p:sp>
      <p:sp>
        <p:nvSpPr>
          <p:cNvPr id="11" name="chip"/>
          <p:cNvSpPr/>
          <p:nvPr/>
        </p:nvSpPr>
        <p:spPr>
          <a:xfrm>
            <a:off x="5367528" y="2404872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67528" y="24048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11:05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2585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Section 2.1 edited</a:t>
            </a:r>
            <a:endParaRPr lang="en-US" sz="1300" dirty="0"/>
          </a:p>
        </p:txBody>
      </p:sp>
      <p:sp>
        <p:nvSpPr>
          <p:cNvPr id="14" name="row"/>
          <p:cNvSpPr/>
          <p:nvPr/>
        </p:nvSpPr>
        <p:spPr>
          <a:xfrm>
            <a:off x="5257800" y="2962656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5E4D9"/>
            </a:solidFill>
            <a:prstDash val="solid"/>
          </a:ln>
        </p:spPr>
      </p:sp>
      <p:sp>
        <p:nvSpPr>
          <p:cNvPr id="15" name="chip"/>
          <p:cNvSpPr/>
          <p:nvPr/>
        </p:nvSpPr>
        <p:spPr>
          <a:xfrm>
            <a:off x="5367528" y="310896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 w="12700">
            <a:solidFill>
              <a:srgbClr val="E864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67528" y="31089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14:30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96265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Report approved by Daniel</a:t>
            </a:r>
            <a:endParaRPr lang="en-US" sz="1300" dirty="0"/>
          </a:p>
        </p:txBody>
      </p:sp>
      <p:sp>
        <p:nvSpPr>
          <p:cNvPr id="18" name="row"/>
          <p:cNvSpPr/>
          <p:nvPr/>
        </p:nvSpPr>
        <p:spPr>
          <a:xfrm>
            <a:off x="5257800" y="3666744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5E4D9"/>
            </a:solidFill>
            <a:prstDash val="solid"/>
          </a:ln>
        </p:spPr>
      </p:sp>
      <p:sp>
        <p:nvSpPr>
          <p:cNvPr id="19" name="chip"/>
          <p:cNvSpPr/>
          <p:nvPr/>
        </p:nvSpPr>
        <p:spPr>
          <a:xfrm>
            <a:off x="5367528" y="381304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67528" y="38130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14:31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366674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Export created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641B"/>
                </a:solidFill>
              </a:rPr>
              <a:t>TRUST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learns how your organisation writes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D27"/>
                </a:solidFill>
              </a:rPr>
              <a:t>Tell DonorDesk once how your organisation, or a particular donor, likes to be addressed: tone, terms, structure. Every future draft starts there.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974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27"/>
                </a:solidFill>
              </a:rPr>
              <a:t>“Say people affected, not beneficiaries”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27"/>
                </a:solidFill>
              </a:rPr>
              <a:t>Keep your preferred terms and spellings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27"/>
                </a:solidFill>
              </a:rPr>
              <a:t>Differs per donor if needed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27"/>
                </a:solidFill>
              </a:rPr>
              <a:t>You stay in control and can edit it any time</a:t>
            </a:r>
            <a:endParaRPr lang="en-US" sz="1400" dirty="0"/>
          </a:p>
        </p:txBody>
      </p:sp>
      <p:sp>
        <p:nvSpPr>
          <p:cNvPr id="6" name="panel"/>
          <p:cNvSpPr/>
          <p:nvPr/>
        </p:nvSpPr>
        <p:spPr>
          <a:xfrm>
            <a:off x="5394960" y="1371600"/>
            <a:ext cx="3291840" cy="3017520"/>
          </a:xfrm>
          <a:prstGeom prst="roundRect">
            <a:avLst>
              <a:gd name="adj" fmla="val 4545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7" name="icon-bg"/>
          <p:cNvSpPr/>
          <p:nvPr/>
        </p:nvSpPr>
        <p:spPr>
          <a:xfrm>
            <a:off x="6537960" y="1645920"/>
            <a:ext cx="1005840" cy="100584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8" name="Image 0" descr="FaBra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9420" y="18973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39496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3D2B"/>
                </a:solidFill>
              </a:rPr>
              <a:t>Your AI writing style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F2D27"/>
                </a:solidFill>
              </a:rPr>
              <a:t>Respectful. Plain. People first.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641B"/>
                </a:solidFill>
              </a:rPr>
              <a:t>TRUST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where every report stands</a:t>
            </a:r>
            <a:endParaRPr lang="en-US" sz="3000" dirty="0"/>
          </a:p>
        </p:txBody>
      </p:sp>
      <p:sp>
        <p:nvSpPr>
          <p:cNvPr id="4" name="stat"/>
          <p:cNvSpPr/>
          <p:nvPr/>
        </p:nvSpPr>
        <p:spPr>
          <a:xfrm>
            <a:off x="457200" y="137160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E5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D27"/>
                </a:solidFill>
              </a:rPr>
              <a:t>Active projects</a:t>
            </a:r>
            <a:endParaRPr lang="en-US" sz="1400" dirty="0"/>
          </a:p>
        </p:txBody>
      </p:sp>
      <p:sp>
        <p:nvSpPr>
          <p:cNvPr id="7" name="stat"/>
          <p:cNvSpPr/>
          <p:nvPr/>
        </p:nvSpPr>
        <p:spPr>
          <a:xfrm>
            <a:off x="3291840" y="137160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FCE9DD"/>
          </a:solidFill>
          <a:ln w="12700">
            <a:solidFill>
              <a:srgbClr val="FCE9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6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D27"/>
                </a:solidFill>
              </a:rPr>
              <a:t>Reports due in 30 days</a:t>
            </a:r>
            <a:endParaRPr lang="en-US" sz="1400" dirty="0"/>
          </a:p>
        </p:txBody>
      </p:sp>
      <p:sp>
        <p:nvSpPr>
          <p:cNvPr id="10" name="stat"/>
          <p:cNvSpPr/>
          <p:nvPr/>
        </p:nvSpPr>
        <p:spPr>
          <a:xfrm>
            <a:off x="6126480" y="137160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E5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D27"/>
                </a:solidFill>
              </a:rPr>
              <a:t>Awaiting your review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1089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27"/>
                </a:solidFill>
              </a:rPr>
              <a:t>A home page that opens on what needs you today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27"/>
                </a:solidFill>
              </a:rPr>
              <a:t>My work: your sections to write, review or approve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27"/>
                </a:solidFill>
              </a:rPr>
              <a:t>Project health at a glance, with the next deadline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27"/>
                </a:solidFill>
              </a:rPr>
              <a:t>Notifications that matter, not noise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834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</a:rPr>
              <a:t>Illustrative figures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641B"/>
                </a:solidFill>
              </a:rPr>
              <a:t>TRUST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right people, the right access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5217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5" name="icon-bg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6" name="Image 0" descr="Fa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76022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645920"/>
            <a:ext cx="172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B"/>
                </a:solidFill>
              </a:rPr>
              <a:t>Roles that fit a team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94560"/>
            <a:ext cx="222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Admin, project manager, M&amp;E, finance, field officer, viewer.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5217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0" name="icon-bg"/>
          <p:cNvSpPr/>
          <p:nvPr/>
        </p:nvSpPr>
        <p:spPr>
          <a:xfrm>
            <a:off x="3459480" y="1645920"/>
            <a:ext cx="457200" cy="45720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11" name="Image 1" descr="FaHandshak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780" y="176022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08120" y="1645920"/>
            <a:ext cx="172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B"/>
                </a:solidFill>
              </a:rPr>
              <a:t>Several donors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59480" y="2194560"/>
            <a:ext cx="222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Run each project to its own donor's rules in one workspace.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5217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5" name="icon-bg"/>
          <p:cNvSpPr/>
          <p:nvPr/>
        </p:nvSpPr>
        <p:spPr>
          <a:xfrm>
            <a:off x="6278880" y="1645920"/>
            <a:ext cx="457200" cy="45720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16" name="Image 2" descr="FaUserShiel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180" y="176022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27520" y="1645920"/>
            <a:ext cx="172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B"/>
                </a:solidFill>
              </a:rPr>
              <a:t>Viewers are welcome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278880" y="2194560"/>
            <a:ext cx="222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Share progress with partners and board members without extra seats.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5A3A"/>
                </a:solidFill>
              </a:rPr>
              <a:t>Invite a colleague by email; they join with the access you choose.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641B"/>
                </a:solidFill>
              </a:rPr>
              <a:t>TRUST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data stays yours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371600"/>
            <a:ext cx="4000500" cy="1417320"/>
          </a:xfrm>
          <a:prstGeom prst="roundRect">
            <a:avLst>
              <a:gd name="adj" fmla="val 7742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5" name="icon-bg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6" name="Image 0" descr="FaGoogleDri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6687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554480"/>
            <a:ext cx="3131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B"/>
                </a:solidFill>
              </a:rPr>
              <a:t>Keep files in your Drive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03120"/>
            <a:ext cx="36347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Link evidence from your own Google Drive instead of copying it elsewhere.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686300" y="1371600"/>
            <a:ext cx="4000500" cy="1417320"/>
          </a:xfrm>
          <a:prstGeom prst="roundRect">
            <a:avLst>
              <a:gd name="adj" fmla="val 7742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0" name="icon-bg"/>
          <p:cNvSpPr/>
          <p:nvPr/>
        </p:nvSpPr>
        <p:spPr>
          <a:xfrm>
            <a:off x="4869180" y="1554480"/>
            <a:ext cx="457200" cy="45720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11" name="Image 1" descr="Fa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6878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17820" y="1554480"/>
            <a:ext cx="3131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B"/>
                </a:solidFill>
              </a:rPr>
              <a:t>Each organisation separated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869180" y="2103120"/>
            <a:ext cx="36347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Strict separation between organisations, enforced in the database.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457200" y="3017520"/>
            <a:ext cx="4000500" cy="1417320"/>
          </a:xfrm>
          <a:prstGeom prst="roundRect">
            <a:avLst>
              <a:gd name="adj" fmla="val 7742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5" name="icon-bg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16" name="Image 2" descr="FaShield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88720" y="3200400"/>
            <a:ext cx="3131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B"/>
                </a:solidFill>
              </a:rPr>
              <a:t>Careful with sensitive material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3749040"/>
            <a:ext cx="36347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Restricted sources are flagged before they can reach a report.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4686300" y="3017520"/>
            <a:ext cx="4000500" cy="1417320"/>
          </a:xfrm>
          <a:prstGeom prst="roundRect">
            <a:avLst>
              <a:gd name="adj" fmla="val 7742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20" name="icon-bg"/>
          <p:cNvSpPr/>
          <p:nvPr/>
        </p:nvSpPr>
        <p:spPr>
          <a:xfrm>
            <a:off x="4869180" y="3200400"/>
            <a:ext cx="457200" cy="45720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21" name="Image 3" descr="FaHea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31470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17820" y="3200400"/>
            <a:ext cx="3131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B"/>
                </a:solidFill>
              </a:rPr>
              <a:t>Privacy by design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4869180" y="3749040"/>
            <a:ext cx="36347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27"/>
                </a:solidFill>
              </a:rPr>
              <a:t>Built with GDPR principles; AI output is always reviewed by a person.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641B"/>
                </a:solidFill>
              </a:rPr>
              <a:t>GET STARTED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colleagues productive on day one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A guided tour walks through the real workflow, step by step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A ready-made demo project to practise in, with no risk to real data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Help links on every screen, plus a plain-language help centre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7"/>
                </a:solidFill>
              </a:rPr>
              <a:t>A setup checklist shows what to do next</a:t>
            </a:r>
            <a:endParaRPr lang="en-US" sz="1500" dirty="0"/>
          </a:p>
        </p:txBody>
      </p:sp>
      <p:sp>
        <p:nvSpPr>
          <p:cNvPr id="5" name="panel"/>
          <p:cNvSpPr/>
          <p:nvPr/>
        </p:nvSpPr>
        <p:spPr>
          <a:xfrm>
            <a:off x="5120640" y="1371600"/>
            <a:ext cx="3566160" cy="3017520"/>
          </a:xfrm>
          <a:prstGeom prst="roundRect">
            <a:avLst>
              <a:gd name="adj" fmla="val 4545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6" name="icon-bg"/>
          <p:cNvSpPr/>
          <p:nvPr/>
        </p:nvSpPr>
        <p:spPr>
          <a:xfrm>
            <a:off x="6400800" y="1600200"/>
            <a:ext cx="1005840" cy="1005840"/>
          </a:xfrm>
          <a:prstGeom prst="ellipse">
            <a:avLst/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pic>
        <p:nvPicPr>
          <p:cNvPr id="7" name="Image 0" descr="FaGraduationC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2260" y="18516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120640" y="2788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2B"/>
                </a:solidFill>
              </a:rPr>
              <a:t>DonorDesk Academy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D27"/>
                </a:solidFill>
              </a:rPr>
              <a:t>Learn by doing, inside the product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541"/>
                </a:solidFill>
              </a:rPr>
              <a:t>PUT TO THE TEST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 water, sanitation and hygiene project, start to finish</a:t>
            </a:r>
            <a:endParaRPr lang="en-US" sz="3000" dirty="0"/>
          </a:p>
        </p:txBody>
      </p:sp>
      <p:sp>
        <p:nvSpPr>
          <p:cNvPr id="4" name="stat"/>
          <p:cNvSpPr/>
          <p:nvPr/>
        </p:nvSpPr>
        <p:spPr>
          <a:xfrm>
            <a:off x="457200" y="1737360"/>
            <a:ext cx="1874520" cy="1463040"/>
          </a:xfrm>
          <a:prstGeom prst="roundRect">
            <a:avLst>
              <a:gd name="adj" fmla="val 7500"/>
            </a:avLst>
          </a:prstGeom>
          <a:solidFill>
            <a:srgbClr val="11513B"/>
          </a:solidFill>
          <a:ln w="12700">
            <a:solidFill>
              <a:srgbClr val="1151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8288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months of reporting</a:t>
            </a:r>
            <a:endParaRPr lang="en-US" sz="1300" dirty="0"/>
          </a:p>
        </p:txBody>
      </p:sp>
      <p:sp>
        <p:nvSpPr>
          <p:cNvPr id="7" name="stat"/>
          <p:cNvSpPr/>
          <p:nvPr/>
        </p:nvSpPr>
        <p:spPr>
          <a:xfrm>
            <a:off x="2560320" y="1737360"/>
            <a:ext cx="1874520" cy="1463040"/>
          </a:xfrm>
          <a:prstGeom prst="roundRect">
            <a:avLst>
              <a:gd name="adj" fmla="val 7500"/>
            </a:avLst>
          </a:prstGeom>
          <a:solidFill>
            <a:srgbClr val="11513B"/>
          </a:solidFill>
          <a:ln w="12700">
            <a:solidFill>
              <a:srgbClr val="1151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8288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651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indicators tracked</a:t>
            </a:r>
            <a:endParaRPr lang="en-US" sz="1300" dirty="0"/>
          </a:p>
        </p:txBody>
      </p:sp>
      <p:sp>
        <p:nvSpPr>
          <p:cNvPr id="10" name="stat"/>
          <p:cNvSpPr/>
          <p:nvPr/>
        </p:nvSpPr>
        <p:spPr>
          <a:xfrm>
            <a:off x="4663440" y="1737360"/>
            <a:ext cx="1874520" cy="1463040"/>
          </a:xfrm>
          <a:prstGeom prst="roundRect">
            <a:avLst>
              <a:gd name="adj" fmla="val 7500"/>
            </a:avLst>
          </a:prstGeom>
          <a:solidFill>
            <a:srgbClr val="11513B"/>
          </a:solidFill>
          <a:ln w="12700">
            <a:solidFill>
              <a:srgbClr val="1151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8288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651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evidence files linked</a:t>
            </a:r>
            <a:endParaRPr lang="en-US" sz="1300" dirty="0"/>
          </a:p>
        </p:txBody>
      </p:sp>
      <p:sp>
        <p:nvSpPr>
          <p:cNvPr id="13" name="stat"/>
          <p:cNvSpPr/>
          <p:nvPr/>
        </p:nvSpPr>
        <p:spPr>
          <a:xfrm>
            <a:off x="6766560" y="1737360"/>
            <a:ext cx="1874520" cy="1463040"/>
          </a:xfrm>
          <a:prstGeom prst="roundRect">
            <a:avLst>
              <a:gd name="adj" fmla="val 7500"/>
            </a:avLst>
          </a:prstGeom>
          <a:solidFill>
            <a:srgbClr val="11513B"/>
          </a:solidFill>
          <a:ln w="12700">
            <a:solidFill>
              <a:srgbClr val="1151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18288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2651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reports approved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DEBE2"/>
                </a:solidFill>
              </a:rPr>
              <a:t>Borno State demonstration project, through flood and cholera alerts. The report told the truth: 16 of 20 water points were completed, and DonorDesk said so plainly.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C2AE"/>
                </a:solidFill>
              </a:rPr>
              <a:t>Fictional donor and organisation, run on the live platform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641B"/>
                </a:solidFill>
              </a:rPr>
              <a:t>JOIN 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free. Grow when you are ready</a:t>
            </a:r>
            <a:endParaRPr lang="en-US" sz="3000" dirty="0"/>
          </a:p>
        </p:txBody>
      </p:sp>
      <p:sp>
        <p:nvSpPr>
          <p:cNvPr id="4" name="plan"/>
          <p:cNvSpPr/>
          <p:nvPr/>
        </p:nvSpPr>
        <p:spPr>
          <a:xfrm>
            <a:off x="457200" y="132588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3D2B"/>
                </a:solidFill>
              </a:rPr>
              <a:t>Starter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830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6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68880"/>
            <a:ext cx="16550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27"/>
                </a:solidFill>
              </a:rPr>
              <a:t>1 project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D27"/>
                </a:solidFill>
              </a:rPr>
              <a:t>5 AI drafts a month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D27"/>
                </a:solidFill>
              </a:rPr>
              <a:t>1 seat + 2 viewers</a:t>
            </a:r>
            <a:endParaRPr lang="en-US" sz="1200" dirty="0"/>
          </a:p>
        </p:txBody>
      </p:sp>
      <p:sp>
        <p:nvSpPr>
          <p:cNvPr id="8" name="plan"/>
          <p:cNvSpPr/>
          <p:nvPr/>
        </p:nvSpPr>
        <p:spPr>
          <a:xfrm>
            <a:off x="2560320" y="132588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417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3D2B"/>
                </a:solidFill>
              </a:rPr>
              <a:t>Team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17830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6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$129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2670048" y="2468880"/>
            <a:ext cx="16550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27"/>
                </a:solidFill>
              </a:rPr>
              <a:t>per month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D27"/>
                </a:solidFill>
              </a:rPr>
              <a:t>5 projects, 5 seats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D27"/>
                </a:solidFill>
              </a:rPr>
              <a:t>20 AI drafts a month</a:t>
            </a:r>
            <a:endParaRPr lang="en-US" sz="1200" dirty="0"/>
          </a:p>
        </p:txBody>
      </p:sp>
      <p:sp>
        <p:nvSpPr>
          <p:cNvPr id="12" name="plan"/>
          <p:cNvSpPr/>
          <p:nvPr/>
        </p:nvSpPr>
        <p:spPr>
          <a:xfrm>
            <a:off x="4663440" y="132588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0E5A3A"/>
          </a:solidFill>
          <a:ln w="12700">
            <a:solidFill>
              <a:srgbClr val="0E5A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417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Growth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17830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$299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4773168" y="2468880"/>
            <a:ext cx="16550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per month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20 projects, 15 seats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100 AI drafts a month</a:t>
            </a:r>
            <a:endParaRPr lang="en-US" sz="1200" dirty="0"/>
          </a:p>
        </p:txBody>
      </p:sp>
      <p:sp>
        <p:nvSpPr>
          <p:cNvPr id="16" name="plan"/>
          <p:cNvSpPr/>
          <p:nvPr/>
        </p:nvSpPr>
        <p:spPr>
          <a:xfrm>
            <a:off x="6766560" y="132588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1417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3D2B"/>
                </a:solidFill>
              </a:rPr>
              <a:t>Enterprise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17830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6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6876288" y="2468880"/>
            <a:ext cx="16550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27"/>
                </a:solidFill>
              </a:rPr>
              <a:t>Larger programmes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D27"/>
                </a:solidFill>
              </a:rPr>
              <a:t>Tailored support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D27"/>
                </a:solidFill>
              </a:rPr>
              <a:t>Bring your own AI</a:t>
            </a:r>
            <a:endParaRPr lang="en-US" sz="1200" dirty="0"/>
          </a:p>
        </p:txBody>
      </p:sp>
      <p:sp>
        <p:nvSpPr>
          <p:cNvPr id="20" name="offer"/>
          <p:cNvSpPr/>
          <p:nvPr/>
        </p:nvSpPr>
        <p:spPr>
          <a:xfrm>
            <a:off x="457200" y="388620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CE9DD"/>
          </a:solidFill>
          <a:ln w="12700">
            <a:solidFill>
              <a:srgbClr val="FCE9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8862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41B"/>
                </a:solidFill>
              </a:rPr>
              <a:t>Verified non-profits get 40% off paid plans.  </a:t>
            </a:r>
            <a:pPr indent="0" marL="0">
              <a:buNone/>
            </a:pPr>
            <a:r>
              <a:rPr lang="en-US" sz="1600" dirty="0">
                <a:solidFill>
                  <a:srgbClr val="0A3D2B"/>
                </a:solidFill>
              </a:rPr>
              <a:t>Try it on your own project at donordesk.online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onorDesk Humanitarian">
  <a:themeElements>
    <a:clrScheme name="DonorDesk Humanitarian">
      <a:dk1>
        <a:srgbClr val="1F2D27"/>
      </a:dk1>
      <a:lt1>
        <a:srgbClr val="FFFFFF"/>
      </a:lt1>
      <a:dk2>
        <a:srgbClr val="0A3D2B"/>
      </a:dk2>
      <a:lt2>
        <a:srgbClr val="EAF3EC"/>
      </a:lt2>
      <a:accent1>
        <a:srgbClr val="0E5A3A"/>
      </a:accent1>
      <a:accent2>
        <a:srgbClr val="E8641B"/>
      </a:accent2>
      <a:accent3>
        <a:srgbClr val="2E8B57"/>
      </a:accent3>
      <a:accent4>
        <a:srgbClr val="F2A541"/>
      </a:accent4>
      <a:accent5>
        <a:srgbClr val="5B6B63"/>
      </a:accent5>
      <a:accent6>
        <a:srgbClr val="B5482A"/>
      </a:accent6>
      <a:hlink>
        <a:srgbClr val="0E5A3A"/>
      </a:hlink>
      <a:folHlink>
        <a:srgbClr val="5B6B63"/>
      </a:folHlink>
    </a:clrScheme>
    <a:fontScheme name="DonorDesk Humanitaria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DonorDesk for NGOs</dc:title>
  <dc:subject>PptxGenJS Presentation</dc:subject>
  <dc:creator>DonorDesk</dc:creator>
  <cp:lastModifiedBy>DonorDesk</cp:lastModifiedBy>
  <cp:revision>1</cp:revision>
  <dcterms:created xsi:type="dcterms:W3CDTF">2026-10-14T16:04:30Z</dcterms:created>
  <dcterms:modified xsi:type="dcterms:W3CDTF">2026-10-14T16:04:30Z</dcterms:modified>
</cp:coreProperties>
</file>
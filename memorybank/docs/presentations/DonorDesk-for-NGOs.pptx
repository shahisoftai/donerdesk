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session has two parts: what DonorDesk does, and how an organisation sets up its first project. About 30 minutes plus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of these they recognise. Most will say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limits: the AI never invents numbers, and it never approves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9260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A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DonorDesk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DonorDesk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5603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A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reporting that starts in the field, with evidence you can defend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and how to set up your first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takes longer than the work itself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54864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5" name="Image 0" descr="Scattered 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64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Word files, WhatsApp threads, Drive folders and Kobo exports</a:t>
            </a:r>
            <a:endParaRPr lang="en-US" sz="1400" dirty="0"/>
          </a:p>
        </p:txBody>
      </p:sp>
      <p:sp>
        <p:nvSpPr>
          <p:cNvPr id="8" name="card1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0" name="Image 1" descr="Numbers without proo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647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without proof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874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figure in the report is hard to trace to the register behind it</a:t>
            </a:r>
            <a:endParaRPr lang="en-US" sz="1400" dirty="0"/>
          </a:p>
        </p:txBody>
      </p:sp>
      <p:sp>
        <p:nvSpPr>
          <p:cNvPr id="13" name="card2"/>
          <p:cNvSpPr/>
          <p:nvPr/>
        </p:nvSpPr>
        <p:spPr>
          <a:xfrm>
            <a:off x="548640" y="29718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5" name="Image 2" descr="Weeks of assemb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41071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assembly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report is rebuilt by hand, month after month, to a different donor format</a:t>
            </a:r>
            <a:endParaRPr lang="en-US" sz="1400" dirty="0"/>
          </a:p>
        </p:txBody>
      </p:sp>
      <p:sp>
        <p:nvSpPr>
          <p:cNvPr id="18" name="card3"/>
          <p:cNvSpPr/>
          <p:nvPr/>
        </p:nvSpPr>
        <p:spPr>
          <a:xfrm>
            <a:off x="4663440" y="29718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20" name="Image 3" descr="Gaps found too l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41071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found too late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evidence or a wrong total surfaces at submission, not when it happens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evidence and the report in one place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DonorDesk holds your logframe, your field records and your proof, then drafts the donor report from verified data. People decide; the AI only drafts.</a:t>
            </a:r>
            <a:endParaRPr lang="en-US" sz="1700" dirty="0"/>
          </a:p>
        </p:txBody>
      </p:sp>
      <p:sp>
        <p:nvSpPr>
          <p:cNvPr id="4" name="pillar0"/>
          <p:cNvSpPr/>
          <p:nvPr/>
        </p:nvSpPr>
        <p:spPr>
          <a:xfrm>
            <a:off x="548640" y="228600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5" name="Image 0" descr="Logfr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Logframe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474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Indicators, baselines and targets</a:t>
            </a:r>
            <a:endParaRPr lang="en-US" sz="1400" dirty="0"/>
          </a:p>
        </p:txBody>
      </p:sp>
      <p:sp>
        <p:nvSpPr>
          <p:cNvPr id="8" name="pillar1"/>
          <p:cNvSpPr/>
          <p:nvPr/>
        </p:nvSpPr>
        <p:spPr>
          <a:xfrm>
            <a:off x="2606040" y="228600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9" name="Image 1" descr="Field recor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468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8892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records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788920" y="3474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with participants and narrative</a:t>
            </a:r>
            <a:endParaRPr lang="en-US" sz="1400" dirty="0"/>
          </a:p>
        </p:txBody>
      </p:sp>
      <p:sp>
        <p:nvSpPr>
          <p:cNvPr id="12" name="pillar2"/>
          <p:cNvSpPr/>
          <p:nvPr/>
        </p:nvSpPr>
        <p:spPr>
          <a:xfrm>
            <a:off x="4663440" y="228600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3" name="Image 2" descr="Evide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68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4632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3474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activities and indicators, verified</a:t>
            </a:r>
            <a:endParaRPr lang="en-US" sz="1400" dirty="0"/>
          </a:p>
        </p:txBody>
      </p:sp>
      <p:sp>
        <p:nvSpPr>
          <p:cNvPr id="16" name="pillar3"/>
          <p:cNvSpPr/>
          <p:nvPr/>
        </p:nvSpPr>
        <p:spPr>
          <a:xfrm>
            <a:off x="6720840" y="2286000"/>
            <a:ext cx="1920240" cy="2194560"/>
          </a:xfrm>
          <a:prstGeom prst="roundRect">
            <a:avLst>
              <a:gd name="adj" fmla="val 476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7" name="Image 3" descr="Report draf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4688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03720" y="3063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drafting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903720" y="3474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donor template, every figure checked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field visit to a donor-ready report</a:t>
            </a:r>
            <a:endParaRPr lang="en-US" sz="2600" dirty="0"/>
          </a:p>
        </p:txBody>
      </p:sp>
      <p:sp>
        <p:nvSpPr>
          <p:cNvPr id="3" name="step0"/>
          <p:cNvSpPr/>
          <p:nvPr/>
        </p:nvSpPr>
        <p:spPr>
          <a:xfrm>
            <a:off x="960120" y="1463040"/>
            <a:ext cx="685800" cy="6858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officer records the activity and drops the proof files</a:t>
            </a:r>
            <a:endParaRPr lang="en-US" sz="1300" dirty="0"/>
          </a:p>
        </p:txBody>
      </p:sp>
      <p:sp>
        <p:nvSpPr>
          <p:cNvPr id="7" name="step1"/>
          <p:cNvSpPr/>
          <p:nvPr/>
        </p:nvSpPr>
        <p:spPr>
          <a:xfrm>
            <a:off x="2587752" y="1463040"/>
            <a:ext cx="685800" cy="6858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87752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76272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27432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accepts records and verifies evidence and numbers</a:t>
            </a:r>
            <a:endParaRPr lang="en-US" sz="1300" dirty="0"/>
          </a:p>
        </p:txBody>
      </p:sp>
      <p:sp>
        <p:nvSpPr>
          <p:cNvPr id="11" name="step2"/>
          <p:cNvSpPr/>
          <p:nvPr/>
        </p:nvSpPr>
        <p:spPr>
          <a:xfrm>
            <a:off x="4215384" y="1463040"/>
            <a:ext cx="685800" cy="6858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15384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803904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03904" y="27432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writes each section from verified data and your story</a:t>
            </a:r>
            <a:endParaRPr lang="en-US" sz="1300" dirty="0"/>
          </a:p>
        </p:txBody>
      </p:sp>
      <p:sp>
        <p:nvSpPr>
          <p:cNvPr id="15" name="step3"/>
          <p:cNvSpPr/>
          <p:nvPr/>
        </p:nvSpPr>
        <p:spPr>
          <a:xfrm>
            <a:off x="5843016" y="1463040"/>
            <a:ext cx="685800" cy="6858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43016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31536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27432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statements are decided, sections approved</a:t>
            </a:r>
            <a:endParaRPr lang="en-US" sz="1300" dirty="0"/>
          </a:p>
        </p:txBody>
      </p:sp>
      <p:sp>
        <p:nvSpPr>
          <p:cNvPr id="19" name="step4"/>
          <p:cNvSpPr/>
          <p:nvPr/>
        </p:nvSpPr>
        <p:spPr>
          <a:xfrm>
            <a:off x="7470648" y="14630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0648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7432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PDF, Excel and an evidence pack, sealed for the donor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typed twice: the activity you log is the paragraph, the table and the evidence list in the report.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logframe and indicators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4" name="Image 0" descr="Results frame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framework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logframe and indicators from Excel or CSV, or build them by hand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outcomes, outputs and activities, with several indicators per output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target, unit and frequency for each; breakdowns by sex, age and disability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quarterly survey is only expected in the months it is due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wrong parent or target later: edit, move or retire an indicator</a:t>
            </a:r>
            <a:endParaRPr lang="en-US" sz="1400" dirty="0"/>
          </a:p>
        </p:txBody>
      </p:sp>
      <p:sp>
        <p:nvSpPr>
          <p:cNvPr id="7" name="panel"/>
          <p:cNvSpPr/>
          <p:nvPr/>
        </p:nvSpPr>
        <p:spPr>
          <a:xfrm>
            <a:off x="5486400" y="128016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8745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a report traces back to an indicator value, and every indicator value to its evidence. Percentages and totals are calculated one way, everywhere.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records with linked proof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4" name="Image 0" descr="Activities and evid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and evidence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form: what happened, where, who came, and the proof files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can be linked to the planned logframe activity it delivers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indicator a file proves as you upload 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accept many records at once, or send one back with a note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files stay out of AI drafting and exports unless you decide otherwise</a:t>
            </a:r>
            <a:endParaRPr lang="en-US" sz="1400" dirty="0"/>
          </a:p>
        </p:txBody>
      </p:sp>
      <p:sp>
        <p:nvSpPr>
          <p:cNvPr id="7" name="panel"/>
          <p:cNvSpPr/>
          <p:nvPr/>
        </p:nvSpPr>
        <p:spPr>
          <a:xfrm>
            <a:off x="5486400" y="128016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files, your Drive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8745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can stay in your own Google Drive. DonorDesk keeps the link, and every verification is recorded in the audit trail.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the donor's template once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4" name="Image 0" descr="Donor templ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templates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donor's Word file for each report type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DonorDesk reads the outline, instructions, required tables and word limits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and approve it: nothing is invented, ungrounded items are dropped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final reports each get their own template, chosen automatically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sections (environment, branding, gender) get their own input boxes</a:t>
            </a:r>
            <a:endParaRPr lang="en-US" sz="1400" dirty="0"/>
          </a:p>
        </p:txBody>
      </p:sp>
      <p:sp>
        <p:nvSpPr>
          <p:cNvPr id="7" name="panel"/>
          <p:cNvSpPr/>
          <p:nvPr/>
        </p:nvSpPr>
        <p:spPr>
          <a:xfrm>
            <a:off x="5486400" y="128016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8745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that has the donor's sections, in the donor's order, written to the donor's limits. Change your mind later and re-point a report to another template.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drafts; your verified data decides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4" name="Image 0" descr="Numbers come from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280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come from data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12801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charts and comparisons are built from verified values, not written by the AI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94360" cy="5943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8" name="Image 1" descr="Every figure is check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304288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148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checked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148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that is not in your data is rejected before you see it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017520"/>
            <a:ext cx="594360" cy="59436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12" name="Image 2" descr="Statements are trac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172968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are traced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114800" y="30175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shows its sources and is marked as matching evidence or needing a decision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886200"/>
            <a:ext cx="594360" cy="5943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6" name="Image 3" descr="People stay in char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041648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stay in charge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4114800" y="38862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like a document, keep a statement with a note, or leave it out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section cannot be written safely, you are told why and can retry in one click.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Review, approve and export, step by step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4" name="Image 0" descr="Checks that guide yo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guide you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always shows the next step: review, approve, finish checks, submit, export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checklist that closes items when your data satisfies them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readiness shows what is left, in plain language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as a second person when your project requires 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copy for the donor, or a watermarked internal copy for your team</a:t>
            </a:r>
            <a:endParaRPr lang="en-US" sz="1400" dirty="0"/>
          </a:p>
        </p:txBody>
      </p:sp>
      <p:sp>
        <p:nvSpPr>
          <p:cNvPr id="7" name="panel"/>
          <p:cNvSpPr/>
          <p:nvPr/>
        </p:nvSpPr>
        <p:spPr>
          <a:xfrm>
            <a:off x="5486400" y="128016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download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8745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and PDF reports, an indicator spreadsheet (with life-of-project figures for final reports), an evidence checklist and an evidence pack.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teams, with your data kept separate</a:t>
            </a:r>
            <a:endParaRPr lang="en-US" sz="2600" dirty="0"/>
          </a:p>
        </p:txBody>
      </p:sp>
      <p:sp>
        <p:nvSpPr>
          <p:cNvPr id="3" name="tcard0"/>
          <p:cNvSpPr/>
          <p:nvPr/>
        </p:nvSpPr>
        <p:spPr>
          <a:xfrm>
            <a:off x="54864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pic>
        <p:nvPicPr>
          <p:cNvPr id="4" name="Image 0" descr="Roles for each jo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for each job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Project Manager, M&amp;E Officer, Grants Officer, Field Officer, Compliance Officer, Viewer</a:t>
            </a:r>
            <a:endParaRPr lang="en-US" sz="1300" dirty="0"/>
          </a:p>
        </p:txBody>
      </p:sp>
      <p:sp>
        <p:nvSpPr>
          <p:cNvPr id="7" name="tcard1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pic>
        <p:nvPicPr>
          <p:cNvPr id="8" name="Image 1" descr="Your organisation on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00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7784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organisation only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577840" y="1920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organisation is isolated, enforced by the database itself</a:t>
            </a:r>
            <a:endParaRPr lang="en-US" sz="1300" dirty="0"/>
          </a:p>
        </p:txBody>
      </p:sp>
      <p:sp>
        <p:nvSpPr>
          <p:cNvPr id="11" name="tcard2"/>
          <p:cNvSpPr/>
          <p:nvPr/>
        </p:nvSpPr>
        <p:spPr>
          <a:xfrm>
            <a:off x="548640" y="29718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pic>
        <p:nvPicPr>
          <p:cNvPr id="12" name="Image 2" descr="Everything is record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461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recorded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verifications, decisions and exports go into an audit trail</a:t>
            </a:r>
            <a:endParaRPr lang="en-US" sz="1300" dirty="0"/>
          </a:p>
        </p:txBody>
      </p:sp>
      <p:sp>
        <p:nvSpPr>
          <p:cNvPr id="15" name="tcard3"/>
          <p:cNvSpPr/>
          <p:nvPr/>
        </p:nvSpPr>
        <p:spPr>
          <a:xfrm>
            <a:off x="4663440" y="29718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pic>
        <p:nvPicPr>
          <p:cNvPr id="16" name="Image 3" descr="Your Dr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461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778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Drive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557784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stays in your own Google Drive, or use DonorDesk storage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your first project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926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A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path from an empty workspace to your first report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setup steps, about half a day</a:t>
            </a:r>
            <a:endParaRPr lang="en-US" sz="2600" dirty="0"/>
          </a:p>
        </p:txBody>
      </p:sp>
      <p:sp>
        <p:nvSpPr>
          <p:cNvPr id="3" name="road0"/>
          <p:cNvSpPr/>
          <p:nvPr/>
        </p:nvSpPr>
        <p:spPr>
          <a:xfrm>
            <a:off x="5486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A9CF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organisation, set the default reporting profile, invite your team</a:t>
            </a:r>
            <a:endParaRPr lang="en-US" sz="1200" dirty="0"/>
          </a:p>
        </p:txBody>
      </p:sp>
      <p:sp>
        <p:nvSpPr>
          <p:cNvPr id="8" name="road1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EF5F4"/>
          </a:solidFill>
          <a:ln w="12700">
            <a:solidFill>
              <a:srgbClr val="A9CF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donor, dates, budget and the reporting frequency the donor requires</a:t>
            </a:r>
            <a:endParaRPr lang="en-US" sz="1200" dirty="0"/>
          </a:p>
        </p:txBody>
      </p:sp>
      <p:sp>
        <p:nvSpPr>
          <p:cNvPr id="13" name="road2"/>
          <p:cNvSpPr/>
          <p:nvPr/>
        </p:nvSpPr>
        <p:spPr>
          <a:xfrm>
            <a:off x="60350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A9CF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Logframe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or build the results framework, then the indicators with targets</a:t>
            </a:r>
            <a:endParaRPr lang="en-US" sz="1200" dirty="0"/>
          </a:p>
        </p:txBody>
      </p:sp>
      <p:sp>
        <p:nvSpPr>
          <p:cNvPr id="18" name="road3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EF5F4"/>
          </a:solidFill>
          <a:ln w="12700">
            <a:solidFill>
              <a:srgbClr val="A9CF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approve the donor's Word template for each report type</a:t>
            </a:r>
            <a:endParaRPr lang="en-US" sz="1200" dirty="0"/>
          </a:p>
        </p:txBody>
      </p:sp>
      <p:sp>
        <p:nvSpPr>
          <p:cNvPr id="23" name="road4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A9CF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all reporting periods in one click; the last block is the closing report</a:t>
            </a:r>
            <a:endParaRPr lang="en-US" sz="1200" dirty="0"/>
          </a:p>
        </p:txBody>
      </p:sp>
      <p:sp>
        <p:nvSpPr>
          <p:cNvPr id="28" name="road5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EEF5F4"/>
          </a:solidFill>
          <a:ln w="12700">
            <a:solidFill>
              <a:srgbClr val="A9CF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154680"/>
            <a:ext cx="457200" cy="45720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project roles, mark setup complete and activate the project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these to the first setup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donor's reporting template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234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file for each report type (monthly, quarterly, final)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logframe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1801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outcomes, outputs and activities with codes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368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indicator list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368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type, baseline, target, unit, frequency, and where the data comes from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9352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facts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9352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budget, reporting frequency, donor and partner names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502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list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502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logs, who verifies, who approves; at least two people if you sign off reports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proof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real attendance sheets or registers to try the evidence flow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monthly rhythm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4297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it happens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Officer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each activity with its proof 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M&amp;E Officer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activities, verify 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M&amp;E Officer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indicator values, then Verify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 the story and add compliance statements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Generate, review, approve, export the donor copy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month. Fix a wrong number by editing the value and re-verifying.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project: one guided page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pic>
        <p:nvPicPr>
          <p:cNvPr id="4" name="Image 0" descr="The closing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report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show what is done and what is left, each with a button to fix 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project's whole life: life-of-project figures and all verified evidence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and verify the final financial figures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closing checklist: sign-off, sensitive data, procurement records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project completed, then archive it when you no longer need it</a:t>
            </a:r>
            <a:endParaRPr lang="en-US" sz="1400" dirty="0"/>
          </a:p>
        </p:txBody>
      </p:sp>
      <p:sp>
        <p:nvSpPr>
          <p:cNvPr id="7" name="panel"/>
          <p:cNvSpPr/>
          <p:nvPr/>
        </p:nvSpPr>
        <p:spPr>
          <a:xfrm>
            <a:off x="5486400" y="128016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skip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87452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every earlier monthly report first, and keep the last block of the project free for the closing report. The calendar does this for you.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from a full six-month project</a:t>
            </a:r>
            <a:endParaRPr lang="en-US" sz="2600" dirty="0"/>
          </a:p>
        </p:txBody>
      </p:sp>
      <p:sp>
        <p:nvSpPr>
          <p:cNvPr id="3" name="do"/>
          <p:cNvSpPr/>
          <p:nvPr/>
        </p:nvSpPr>
        <p:spPr>
          <a:xfrm>
            <a:off x="548640" y="12344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4" name="dont"/>
          <p:cNvSpPr/>
          <p:nvPr/>
        </p:nvSpPr>
        <p:spPr>
          <a:xfrm>
            <a:off x="4663440" y="12344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specifics: numbers, places, what changed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indicator a file proves at upload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Create all periods; the closing report makes the last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compliance facts in the story boxes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checklist scan on a final report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leave a template in Needs review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enter zero for an unmeasured indicator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approve a flagged figure unchecked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sign off alone if the donor expects two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wait for month end to upload evidence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free, grow when you need to</a:t>
            </a:r>
            <a:endParaRPr lang="en-US" sz="2600" dirty="0"/>
          </a:p>
        </p:txBody>
      </p:sp>
      <p:sp>
        <p:nvSpPr>
          <p:cNvPr id="3" name="plan0"/>
          <p:cNvSpPr/>
          <p:nvPr/>
        </p:nvSpPr>
        <p:spPr>
          <a:xfrm>
            <a:off x="54864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active project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seat + 2 viewers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drafts</a:t>
            </a:r>
            <a:endParaRPr lang="en-US" sz="1300" dirty="0"/>
          </a:p>
        </p:txBody>
      </p:sp>
      <p:sp>
        <p:nvSpPr>
          <p:cNvPr id="7" name="plan1"/>
          <p:cNvSpPr/>
          <p:nvPr/>
        </p:nvSpPr>
        <p:spPr>
          <a:xfrm>
            <a:off x="260604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$129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517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projects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seats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AI drafts</a:t>
            </a:r>
            <a:endParaRPr lang="en-US" sz="1300" dirty="0"/>
          </a:p>
        </p:txBody>
      </p:sp>
      <p:sp>
        <p:nvSpPr>
          <p:cNvPr id="11" name="plan2"/>
          <p:cNvSpPr/>
          <p:nvPr/>
        </p:nvSpPr>
        <p:spPr>
          <a:xfrm>
            <a:off x="466344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$299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517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active projects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seats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AI drafts</a:t>
            </a:r>
            <a:endParaRPr lang="en-US" sz="1300" dirty="0"/>
          </a:p>
        </p:txBody>
      </p:sp>
      <p:sp>
        <p:nvSpPr>
          <p:cNvPr id="15" name="plan3"/>
          <p:cNvSpPr/>
          <p:nvPr/>
        </p:nvSpPr>
        <p:spPr>
          <a:xfrm>
            <a:off x="672084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Contracted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517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prices in US dollars. Evidence kept in your own Google Drive does not count toward storage.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next three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4" name="Image 0" descr="Try the Academy demo 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38328" cy="3383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6642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Academy demo project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20299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sample project that does not count toward your limits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65176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1" descr="Follow the Project Walkthroug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825496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6700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Project Walkthrough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30358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in order, with links, in the Support Center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365760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Image 2" descr="Book your setup ses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83133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67588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setup session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40416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six items from the checklist and set up your first project together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donordesk.online/support/how-to/project-walkthrough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norDesk NGO">
  <a:themeElements>
    <a:clrScheme name="DonorDesk NGO">
      <a:dk1>
        <a:srgbClr val="13313A"/>
      </a:dk1>
      <a:lt1>
        <a:srgbClr val="FFFFFF"/>
      </a:lt1>
      <a:dk2>
        <a:srgbClr val="0B3C49"/>
      </a:dk2>
      <a:lt2>
        <a:srgbClr val="EEF5F4"/>
      </a:lt2>
      <a:accent1>
        <a:srgbClr val="1C7C7D"/>
      </a:accent1>
      <a:accent2>
        <a:srgbClr val="F2A541"/>
      </a:accent2>
      <a:accent3>
        <a:srgbClr val="3E8E7E"/>
      </a:accent3>
      <a:accent4>
        <a:srgbClr val="D9693B"/>
      </a:accent4>
      <a:accent5>
        <a:srgbClr val="5B7B8C"/>
      </a:accent5>
      <a:accent6>
        <a:srgbClr val="A9CFC9"/>
      </a:accent6>
      <a:hlink>
        <a:srgbClr val="1C7C7D"/>
      </a:hlink>
      <a:folHlink>
        <a:srgbClr val="5B7B8C"/>
      </a:folHlink>
    </a:clrScheme>
    <a:fontScheme name="DonorDesk NG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DonorDesk for NGOs</dc:title>
  <dc:subject>PptxGenJS Presentation</dc:subject>
  <dc:creator>DonorDesk</dc:creator>
  <cp:lastModifiedBy>DonorDesk</cp:lastModifiedBy>
  <cp:revision>1</cp:revision>
  <dcterms:created xsi:type="dcterms:W3CDTF">2026-10-06T14:33:47Z</dcterms:created>
  <dcterms:modified xsi:type="dcterms:W3CDTF">2026-10-06T14:33:47Z</dcterms:modified>
</cp:coreProperties>
</file>
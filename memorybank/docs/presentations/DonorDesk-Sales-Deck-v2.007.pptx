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66748" y="152527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DonorDesk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3085338"/>
            <a:ext cx="11057839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200" b="1" i="0" spc="300">
                <a:solidFill>
                  <a:srgbClr val="06B6D4"/>
                </a:solidFill>
                <a:latin typeface="Calibri"/>
              </a:rPr>
              <a:t>IMPELEMENTATION WITH GUIDED EXCELLENCE</a:t>
            </a:r>
            <a:endParaRPr lang="en-US" sz="1200" b="1" i="0" spc="300">
              <a:solidFill>
                <a:srgbClr val="06B6D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3441573"/>
            <a:ext cx="10607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Calibri"/>
              </a:rPr>
              <a:t>Your whole programme,</a:t>
            </a:r>
            <a:endParaRPr sz="4600" b="1" i="0">
              <a:solidFill>
                <a:srgbClr val="FFFFFF"/>
              </a:solidFill>
              <a:latin typeface="Calibri"/>
            </a:endParaRPr>
          </a:p>
          <a:p>
            <a:r>
              <a:rPr sz="4600" b="1" i="0">
                <a:solidFill>
                  <a:srgbClr val="FFFFFF"/>
                </a:solidFill>
                <a:latin typeface="Calibri"/>
              </a:rPr>
              <a:t>in one place.</a:t>
            </a:r>
            <a:endParaRPr sz="4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4994148"/>
            <a:ext cx="1463040" cy="6400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0533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94A3B8"/>
                </a:solidFill>
                <a:latin typeface="Calibri"/>
              </a:rPr>
              <a:t>October 2026  ·  Version 2.007  ·  donordesk.online</a:t>
            </a:r>
            <a:endParaRPr sz="1100" b="0" i="0">
              <a:solidFill>
                <a:srgbClr val="94A3B8"/>
              </a:solidFill>
              <a:latin typeface="Calibri"/>
            </a:endParaRPr>
          </a:p>
        </p:txBody>
      </p:sp>
      <p:pic>
        <p:nvPicPr>
          <p:cNvPr id="11" name="Picture 10" descr="new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65" y="1098550"/>
            <a:ext cx="1038860" cy="11296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THE PROBLEM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Every quarter, the programme is rebuilt by hand</a:t>
            </a:r>
            <a:endParaRPr sz="3000" b="1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920240"/>
            <a:ext cx="789127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Indicators sit in one spreadsheet, activities in another, evidence in folders and chat threads.</a:t>
            </a:r>
            <a:endParaRPr sz="130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The report is assembled in the last weeks before the deadline, from numbers nobody can trace back.</a:t>
            </a:r>
            <a:endParaRPr sz="130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Compliance gaps — a missing document, an unverified figure — surface at submission, when there is no time to fix them.</a:t>
            </a:r>
            <a:endParaRPr sz="130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Every donor wants the same facts in a different template, so the work is repeated for each grant.</a:t>
            </a:r>
            <a:endParaRPr sz="130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Field staff report after the fact, from memory — and the numbers arrive late, incomplete or in chat messages.</a:t>
            </a:r>
            <a:endParaRPr sz="130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5614416"/>
            <a:ext cx="11057839" cy="658368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The work happened. </a:t>
            </a:r>
            <a:r>
              <a:rPr sz="1100" b="0" i="0">
                <a:solidFill>
                  <a:srgbClr val="CBD5E1"/>
                </a:solidFill>
                <a:latin typeface="Calibri"/>
              </a:rPr>
              <a:t>Proving it is the hard part — the number no one remembers, the file no one can find, the checklist item found on the last day.</a:t>
            </a:r>
            <a:endParaRPr sz="1100" b="0" i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41080" y="1874519"/>
            <a:ext cx="2980944" cy="3712463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t"/>
          <a:lstStyle/>
          <a:p>
            <a:pPr algn="l">
              <a:spcAft>
                <a:spcPts val="700"/>
              </a:spcAft>
            </a:pPr>
            <a:r>
              <a:rPr sz="1000" b="1" i="0" spc="180">
                <a:solidFill>
                  <a:srgbClr val="2563EB"/>
                </a:solidFill>
                <a:latin typeface="Calibri"/>
              </a:rPr>
              <a:t>HOW DONORDESK ANSWERS IT</a:t>
            </a:r>
            <a:endParaRPr sz="1000" b="1" i="0" spc="180">
              <a:solidFill>
                <a:srgbClr val="2563E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Logframe and targets imported once from Excel, CSV or Google Sheets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Activities recorded in the field; the period derived from the date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Evidence linked to the work, fingerprinted where cited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Donor templates extracted by AI, approved by a person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One gate for approval, preflight, submission and export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Hash-chained audit log over every change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THE SHIFT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Stop rebuilding the programme every quarter</a:t>
            </a:r>
            <a:endParaRPr sz="3000" b="1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3831336" cy="169164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92608" rIns="182880" bIns="128016" rtlCol="0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1 · Plan</a:t>
            </a:r>
            <a:endParaRPr sz="140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Set the logframe, indicators, baselines and targets once. Import what you already have from Excel, CSV or Google Sheets.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9808" y="2039111"/>
            <a:ext cx="50292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26864" y="1874519"/>
            <a:ext cx="3831336" cy="169164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92608" rIns="182880" bIns="128016" rtlCol="0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2 · Deliver</a:t>
            </a:r>
            <a:endParaRPr sz="140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Field staff record activities as they happen, from a phone, typed or dictated. Indicator values are entered once per period.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809744" y="2039111"/>
            <a:ext cx="50292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3767327"/>
            <a:ext cx="3831336" cy="169164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92608" rIns="182880" bIns="128016" rtlCol="0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3 · Monitor</a:t>
            </a:r>
            <a:endParaRPr sz="140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Every indicator, every period, one sheet against its own target. Gaps show while there is still time to act.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9808" y="3931919"/>
            <a:ext cx="50292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26864" y="3767327"/>
            <a:ext cx="3831336" cy="169164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92608" rIns="182880" bIns="128016" rtlCol="0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4 · Demonstrate</a:t>
            </a:r>
            <a:endParaRPr sz="140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The donor's template structures the report. Drafts cite their sources. A person approves before export.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809744" y="3931919"/>
            <a:ext cx="50292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5742432"/>
            <a:ext cx="11057839" cy="4754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ctr"/>
            <a:r>
              <a:rPr sz="1200" b="1" i="0">
                <a:solidFill>
                  <a:srgbClr val="1E3A8A"/>
                </a:solidFill>
                <a:latin typeface="Calibri"/>
              </a:rPr>
              <a:t>Enter each value once. The record holds the work — the report is one thing it produces.</a:t>
            </a:r>
            <a:endParaRPr sz="1200" b="1" i="0">
              <a:solidFill>
                <a:srgbClr val="1E3A8A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641080" y="1874519"/>
            <a:ext cx="2980944" cy="3712463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t"/>
          <a:lstStyle/>
          <a:p>
            <a:pPr algn="l">
              <a:spcAft>
                <a:spcPts val="700"/>
              </a:spcAft>
            </a:pPr>
            <a:r>
              <a:rPr sz="1000" b="1" i="0" spc="180">
                <a:solidFill>
                  <a:srgbClr val="2563EB"/>
                </a:solidFill>
                <a:latin typeface="Calibri"/>
              </a:rPr>
              <a:t>UNDER THE HOOD</a:t>
            </a:r>
            <a:endParaRPr sz="1000" b="1" i="0" spc="180">
              <a:solidFill>
                <a:srgbClr val="2563E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Import resolves logframe parents and codes automatically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Reporting period derived from each activity's date — never guessed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Readiness computed live; data-settled checklist items close themselves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Drafts cite evidence, activity records and indicator values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Versioned AI writer contract (v6 in production), mirrored and pinned by tests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IN THE PRODUCT · PROJECT OVERVIEW · DEMO-9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Calibri"/>
              </a:rPr>
              <a:t>Where the programme stands today</a:t>
            </a:r>
            <a:endParaRPr sz="2600" b="1" i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03-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549640" cy="480917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9345168" y="1627632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0928" y="1609344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Pulse — delivery, results pace, compliance, in one view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345168" y="2377440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10928" y="2359152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Calendar — everything due, next six weeks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45168" y="580644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1">
                <a:solidFill>
                  <a:srgbClr val="64748B"/>
                </a:solidFill>
                <a:latin typeface="Calibri"/>
              </a:rPr>
              <a:t>Live screens from the demo workspace — sample data · October 2026.</a:t>
            </a:r>
            <a:endParaRPr sz="85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WHAT YOU GET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Six capabilities your team feels in the first month</a:t>
            </a:r>
            <a:endParaRPr sz="3000" b="1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2505456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6B6D4"/>
                </a:solidFill>
                <a:latin typeface="Calibri"/>
              </a:rPr>
              <a:t>01   </a:t>
            </a:r>
            <a:r>
              <a:rPr sz="1250" b="1" i="0">
                <a:solidFill>
                  <a:srgbClr val="0F172A"/>
                </a:solidFill>
                <a:latin typeface="Calibri"/>
              </a:rPr>
              <a:t>Logframe &amp; Data Center</a:t>
            </a:r>
            <a:endParaRPr sz="12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Targets set once; every indicator value across every period in one sheet, with charts drawn from the data.</a:t>
            </a:r>
            <a:endParaRPr sz="100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255264" y="1874519"/>
            <a:ext cx="2505456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6B6D4"/>
                </a:solidFill>
                <a:latin typeface="Calibri"/>
              </a:rPr>
              <a:t>02   </a:t>
            </a:r>
            <a:r>
              <a:rPr sz="1250" b="1" i="0">
                <a:solidFill>
                  <a:srgbClr val="0F172A"/>
                </a:solidFill>
                <a:latin typeface="Calibri"/>
              </a:rPr>
              <a:t>Field capture</a:t>
            </a:r>
            <a:endParaRPr sz="12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Activities recorded the day they happen — typed or dictated — and reviewed in one queue.</a:t>
            </a:r>
            <a:endParaRPr sz="100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0" y="1874519"/>
            <a:ext cx="2505456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6B6D4"/>
                </a:solidFill>
                <a:latin typeface="Calibri"/>
              </a:rPr>
              <a:t>03   </a:t>
            </a:r>
            <a:r>
              <a:rPr sz="1250" b="1" i="0">
                <a:solidFill>
                  <a:srgbClr val="0F172A"/>
                </a:solidFill>
                <a:latin typeface="Calibri"/>
              </a:rPr>
              <a:t>Evidence library</a:t>
            </a:r>
            <a:endParaRPr sz="12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Files stay linked to the work they prove, fingerprinted when cited, exportable as a pack.</a:t>
            </a:r>
            <a:endParaRPr sz="100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3886199"/>
            <a:ext cx="2505456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6B6D4"/>
                </a:solidFill>
                <a:latin typeface="Calibri"/>
              </a:rPr>
              <a:t>04   </a:t>
            </a:r>
            <a:r>
              <a:rPr sz="1250" b="1" i="0">
                <a:solidFill>
                  <a:srgbClr val="0F172A"/>
                </a:solidFill>
                <a:latin typeface="Calibri"/>
              </a:rPr>
              <a:t>Donor templates</a:t>
            </a:r>
            <a:endParaRPr sz="12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Upload each donor's format once; the outline, questions and required tables are extracted for review.</a:t>
            </a:r>
            <a:endParaRPr sz="100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55264" y="3886199"/>
            <a:ext cx="2505456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6B6D4"/>
                </a:solidFill>
                <a:latin typeface="Calibri"/>
              </a:rPr>
              <a:t>05   </a:t>
            </a:r>
            <a:r>
              <a:rPr sz="1250" b="1" i="0">
                <a:solidFill>
                  <a:srgbClr val="0F172A"/>
                </a:solidFill>
                <a:latin typeface="Calibri"/>
              </a:rPr>
              <a:t>AI-assisted drafting</a:t>
            </a:r>
            <a:endParaRPr sz="12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Sections drafted from your record, every statement sourced, every figure checked against the inputs.</a:t>
            </a:r>
            <a:endParaRPr sz="100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0" y="3886199"/>
            <a:ext cx="2505456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6B6D4"/>
                </a:solidFill>
                <a:latin typeface="Calibri"/>
              </a:rPr>
              <a:t>06   </a:t>
            </a:r>
            <a:r>
              <a:rPr sz="1250" b="1" i="0">
                <a:solidFill>
                  <a:srgbClr val="0F172A"/>
                </a:solidFill>
                <a:latin typeface="Calibri"/>
              </a:rPr>
              <a:t>Compliance, approval &amp; export</a:t>
            </a:r>
            <a:endParaRPr sz="12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Gaps surface early; a clean, sealed submission exports to Word, PDF, Excel and ZIP.</a:t>
            </a:r>
            <a:endParaRPr sz="100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41080" y="1874519"/>
            <a:ext cx="2980944" cy="3712463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t"/>
          <a:lstStyle/>
          <a:p>
            <a:pPr algn="l">
              <a:spcAft>
                <a:spcPts val="700"/>
              </a:spcAft>
            </a:pPr>
            <a:r>
              <a:rPr sz="1000" b="1" i="0" spc="180">
                <a:solidFill>
                  <a:srgbClr val="2563EB"/>
                </a:solidFill>
                <a:latin typeface="Calibri"/>
              </a:rPr>
              <a:t>ALSO ON BOARD</a:t>
            </a:r>
            <a:endParaRPr sz="1000" b="1" i="0" spc="180">
              <a:solidFill>
                <a:srgbClr val="2563E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My Work — one queue across every project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In-app notifications for reviews, comments, approvals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Seven roles, least privilege, set per project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Version history on every report section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Guided tour plus the Academy demo project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Help articles inside the app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IN THE PRODUCT · LOGFRAME · DEMO-9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Calibri"/>
              </a:rPr>
              <a:t>The plan behind the results</a:t>
            </a:r>
            <a:endParaRPr sz="2600" b="1" i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04-logfra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549640" cy="480917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9345168" y="1627632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0928" y="1609344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Results hierarchy — goal → outcome → output → activity, with live progress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345168" y="2377440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10928" y="2359152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Framework history — every change kept as a version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45168" y="580644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1">
                <a:solidFill>
                  <a:srgbClr val="64748B"/>
                </a:solidFill>
                <a:latin typeface="Calibri"/>
              </a:rPr>
              <a:t>Live screens from the demo workspace — sample data · October 2026.</a:t>
            </a:r>
            <a:endParaRPr sz="85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PLAN &amp; MONITOR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Set the target once. Enter each value once.</a:t>
            </a:r>
            <a:endParaRPr sz="3000" b="1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Logframe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Goal, outcome, output and activity levels, imported from Excel, CSV or text — parent links and codes resolved automatically.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26864" y="1874519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Indicators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Baseline, target, frequency, aggregation and disaggregation defined once. Indicators are archived, never deleted, so history stays honest.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3831335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Per-period grid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 spreadsheet-style grid per reporting period. It suggests the previous value and running totals — suggestions never overwrite a typed value.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26864" y="3831335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Data Center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Every indicator, every period, one sheet. Download to Excel, edit, import back with a full preview — and draw charts straight from the data.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5742432"/>
            <a:ext cx="11057839" cy="4754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ctr"/>
            <a:r>
              <a:rPr sz="1200" b="1" i="0">
                <a:solidFill>
                  <a:srgbClr val="1E3A8A"/>
                </a:solidFill>
                <a:latin typeface="Calibri"/>
              </a:rPr>
              <a:t>The same numbers feed every report, chart and export — entered once, reused everywhere.</a:t>
            </a:r>
            <a:endParaRPr sz="1200" b="1" i="0">
              <a:solidFill>
                <a:srgbClr val="1E3A8A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41080" y="1874519"/>
            <a:ext cx="2980944" cy="3712463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t"/>
          <a:lstStyle/>
          <a:p>
            <a:pPr algn="l">
              <a:spcAft>
                <a:spcPts val="700"/>
              </a:spcAft>
            </a:pPr>
            <a:r>
              <a:rPr sz="1000" b="1" i="0" spc="180">
                <a:solidFill>
                  <a:srgbClr val="2563EB"/>
                </a:solidFill>
                <a:latin typeface="Calibri"/>
              </a:rPr>
              <a:t>TECHNICAL NOTES</a:t>
            </a:r>
            <a:endParaRPr sz="1000" b="1" i="0" spc="180">
              <a:solidFill>
                <a:srgbClr val="2563E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Aggregation: sum, latest or rate; higher-or-lower direction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Import preview blocks any bad row; empty cells never clear stored values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Moving or deleting an indicator is refused once an approved report used it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Charts: different units never share an axis; rates stay out of progress charts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Server-rendered charts (ECharts → PNG) so exports match the screen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IN THE PRODUCT · DATA CENTER · DEMO-8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Calibri"/>
              </a:rPr>
              <a:t>Every indicator, every period, one sheet</a:t>
            </a:r>
            <a:endParaRPr sz="2600" b="1" i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05-dat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549640" cy="480917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9345168" y="1627632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0928" y="1609344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Tabs — indicator data, charts, finance, import / export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345168" y="2377440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10928" y="2359152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Download, edit offline, import back with a full preview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345168" y="3127248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0928" y="3108960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Period columns — a missing value stays blank, never zero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45168" y="580644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1">
                <a:solidFill>
                  <a:srgbClr val="64748B"/>
                </a:solidFill>
                <a:latin typeface="Calibri"/>
              </a:rPr>
              <a:t>Live screens from the demo workspace — sample data · October 2026.</a:t>
            </a:r>
            <a:endParaRPr sz="85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8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FIELD CAPTURE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The record starts where the work happens</a:t>
            </a:r>
            <a:endParaRPr sz="3000" b="1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789127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3000"/>
              </a:lnSpc>
              <a:spcAft>
                <a:spcPts val="9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Record in a few lines.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Date, place, participants with breakdowns, and a narrative — captured from a phone, the day it happens.</a:t>
            </a:r>
            <a:endParaRPr sz="120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3000"/>
              </a:lnSpc>
              <a:spcAft>
                <a:spcPts val="9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Dictate the story.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The form fills date, place and people only from what your words state; it never invents a detail.</a:t>
            </a:r>
            <a:endParaRPr sz="120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3000"/>
              </a:lnSpc>
              <a:spcAft>
                <a:spcPts val="9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Works with weak signal.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A finished activity is kept on the device and sent when the connection returns; drafts save as you type.</a:t>
            </a:r>
            <a:endParaRPr sz="120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3000"/>
              </a:lnSpc>
              <a:spcAft>
                <a:spcPts val="9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Managers stay in control.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Accept, request changes or reject in bulk — and an accepted record is not quietly undone once an approved report has used it.</a:t>
            </a:r>
            <a:endParaRPr sz="120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4315968"/>
            <a:ext cx="3831336" cy="1261872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Status workflow</a:t>
            </a:r>
            <a:endParaRPr sz="130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Draft → Submitted → Accepted</a:t>
            </a:r>
            <a:endParaRPr sz="1000" b="0" i="0">
              <a:solidFill>
                <a:srgbClr val="334155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Needs revision → back to the officer</a:t>
            </a:r>
            <a:endParaRPr sz="1000" b="0" i="0">
              <a:solidFill>
                <a:srgbClr val="334155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Rejected or withdrawn, with a reason</a:t>
            </a:r>
            <a:endParaRPr sz="100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26864" y="4315968"/>
            <a:ext cx="3831336" cy="1261872"/>
          </a:xfrm>
          <a:prstGeom prst="roundRect">
            <a:avLst>
              <a:gd name="adj" fmla="val 4500"/>
            </a:avLst>
          </a:prstGeom>
          <a:solidFill>
            <a:srgbClr val="FFFBEB"/>
          </a:solidFill>
          <a:ln w="9525">
            <a:solidFill>
              <a:srgbClr val="FDE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925B06"/>
                </a:solidFill>
                <a:latin typeface="Calibri"/>
              </a:rPr>
              <a:t>Stated plainly</a:t>
            </a:r>
            <a:endParaRPr sz="1200" b="1" i="0">
              <a:solidFill>
                <a:srgbClr val="925B06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25B06"/>
                </a:solidFill>
                <a:latin typeface="Calibri"/>
              </a:rPr>
              <a:t>The app needs a connection to open. Offline use is queued saving — nothing is lost, nothing is faked.</a:t>
            </a:r>
            <a:endParaRPr sz="1000" b="0" i="0">
              <a:solidFill>
                <a:srgbClr val="925B06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41080" y="1874519"/>
            <a:ext cx="2980944" cy="3712463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t"/>
          <a:lstStyle/>
          <a:p>
            <a:pPr algn="l">
              <a:spcAft>
                <a:spcPts val="700"/>
              </a:spcAft>
            </a:pPr>
            <a:r>
              <a:rPr sz="1000" b="1" i="0" spc="180">
                <a:solidFill>
                  <a:srgbClr val="2563EB"/>
                </a:solidFill>
                <a:latin typeface="Calibri"/>
              </a:rPr>
              <a:t>TECHNICAL NOTES</a:t>
            </a:r>
            <a:endParaRPr sz="1000" b="1" i="0" spc="180">
              <a:solidFill>
                <a:srgbClr val="2563E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Narrative proposal fills only what the words state — never invents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Dictation via browser speech recognition (Chrome, Edge, Safari)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Offline queue in per-user IndexedDB; the entry id doubles as the create's idempotency key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Status transitions enforced in one table, shared by UI and server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Spreadsheet import names any row with a problem — nothing dropped silently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9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IN THE PRODUCT · ACTIVITY CAPTURE · DEMO-8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Calibri"/>
              </a:rPr>
              <a:t>Capture in the field — type or speak</a:t>
            </a:r>
            <a:endParaRPr sz="2600" b="1" i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06-activ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549640" cy="480917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9345168" y="1627632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0928" y="1609344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“Type or speak” — the form fills what your words state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345168" y="2377440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10928" y="2359152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Date and Through — the reporting period follows the date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45168" y="580644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1">
                <a:solidFill>
                  <a:srgbClr val="64748B"/>
                </a:solidFill>
                <a:latin typeface="Calibri"/>
              </a:rPr>
              <a:t>Live screens from the demo workspace — sample data · October 2026.</a:t>
            </a:r>
            <a:endParaRPr sz="85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10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EVIDENCE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Proof that stays linked to the work it proves</a:t>
            </a:r>
            <a:endParaRPr sz="3000" b="1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Your files, your place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Keep evidence in your own Google Drive — linked files do not count toward storage — or in DonorDesk managed storage.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26864" y="1874519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Linked and verified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Each file is attached to the activity or indicator value it proves, and carries its own verification state.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3831335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Cited, fingerprinted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Text is read from Word, PDF, Excel and more so drafts can cite it; the cited text is fingerprinted, so a later change to the source is detectable.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26864" y="3831335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Packs, not scavenger hunts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AI suggests tags for a person to confirm. Export the ZIP evidence pack behind any report — the README names anything not included.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5742432"/>
            <a:ext cx="11057839" cy="4754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ctr"/>
            <a:r>
              <a:rPr sz="1200" b="1" i="0">
                <a:solidFill>
                  <a:srgbClr val="1E3A8A"/>
                </a:solidFill>
                <a:latin typeface="Calibri"/>
              </a:rPr>
              <a:t>Auditors, evaluators and donors can follow every claim back to a file — in minutes, not weeks.</a:t>
            </a:r>
            <a:endParaRPr sz="1200" b="1" i="0">
              <a:solidFill>
                <a:srgbClr val="1E3A8A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41080" y="1874519"/>
            <a:ext cx="2980944" cy="3712463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t"/>
          <a:lstStyle/>
          <a:p>
            <a:pPr algn="l">
              <a:spcAft>
                <a:spcPts val="700"/>
              </a:spcAft>
            </a:pPr>
            <a:r>
              <a:rPr sz="1000" b="1" i="0" spc="180">
                <a:solidFill>
                  <a:srgbClr val="2563EB"/>
                </a:solidFill>
                <a:latin typeface="Calibri"/>
              </a:rPr>
              <a:t>TECHNICAL NOTES</a:t>
            </a:r>
            <a:endParaRPr sz="1000" b="1" i="0" spc="180">
              <a:solidFill>
                <a:srgbClr val="2563E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Google Drive link-first; Cloudflare R2 for managed storage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Text extraction from Word, PDF, Excel, CSV, text and Markdown (Tika flow)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SHA-256 fingerprint over the exact text a draft cites — later edits detectable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Evidence packs: ZIP with README, 150 MB cap, exclusions named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Restricted sources block submission while cited (confidentiality gate)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11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IN THE PRODUCT · EVIDENCE LIBRARY · DEMO-8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Calibri"/>
              </a:rPr>
              <a:t>Evidence, linked and verified</a:t>
            </a:r>
            <a:endParaRPr sz="2600" b="1" i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07-evid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549640" cy="480917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9345168" y="1627632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0928" y="1609344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Filter by verification, confidentiality, type, period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345168" y="2377440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10928" y="2359152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Every file linked to the activity or value it proves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45168" y="580644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1">
                <a:solidFill>
                  <a:srgbClr val="64748B"/>
                </a:solidFill>
                <a:latin typeface="Calibri"/>
              </a:rPr>
              <a:t>Live screens from the demo workspace — sample data · October 2026.</a:t>
            </a:r>
            <a:endParaRPr sz="85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12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DONOR TEMPLATES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Load each donor's format once — reuse it on every grant</a:t>
            </a:r>
            <a:endParaRPr sz="3000" b="1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Any format in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Upload Word, PDF, text, Markdown, Excel or CSV. Scanned, styled or plain — the structure is read either way.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26864" y="1874519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AI does the reading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The outline, instructions, mandatory questions, evidence needs, required tables and page limits are extracted — with a flagged fallback when the file resists.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3831335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People approve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Nothing reaches a draft until a person has reviewed and approved the extracted template. Every edit is saved as a version.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26864" y="3831335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Defaults per report type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One default template per report type. Uploading or approving a template never silently changes a default.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5742432"/>
            <a:ext cx="11057839" cy="4754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ctr"/>
            <a:r>
              <a:rPr sz="1200" b="1" i="0">
                <a:solidFill>
                  <a:srgbClr val="1E3A8A"/>
                </a:solidFill>
                <a:latin typeface="Calibri"/>
              </a:rPr>
              <a:t>The same facts, in each donor's own structure — without retyping a word.</a:t>
            </a:r>
            <a:endParaRPr sz="1200" b="1" i="0">
              <a:solidFill>
                <a:srgbClr val="1E3A8A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41080" y="1874519"/>
            <a:ext cx="2980944" cy="3712463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t"/>
          <a:lstStyle/>
          <a:p>
            <a:pPr algn="l">
              <a:spcAft>
                <a:spcPts val="700"/>
              </a:spcAft>
            </a:pPr>
            <a:r>
              <a:rPr sz="1000" b="1" i="0" spc="180">
                <a:solidFill>
                  <a:srgbClr val="2563EB"/>
                </a:solidFill>
                <a:latin typeface="Calibri"/>
              </a:rPr>
              <a:t>TECHNICAL NOTES</a:t>
            </a:r>
            <a:endParaRPr sz="1000" b="1" i="0" spc="180">
              <a:solidFill>
                <a:srgbClr val="2563E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Formats: DOCX, PDF, XLSX, CSV, TXT, Markdown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Table-of-contents-first extraction over the whole document; titles grounded and ordered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Hierarchy kept: level, numbering and parent links per section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A full draft pins the reviewed template as a snapshot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Donor instructions, questions, tables and page limits travel into every draft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Heuristic fallback is flagged, never passed off as AI output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13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IN THE PRODUCT · DONOR TEMPLATES · DEMO-8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Calibri"/>
              </a:rPr>
              <a:t>The donor's template, extracted and reviewed</a:t>
            </a:r>
            <a:endParaRPr sz="2600" b="1" i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08-templat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549640" cy="480917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9345168" y="1627632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0928" y="1609344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Reviewed, AI-extracted — one per report type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345168" y="2377440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10928" y="2359152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Template library — reuse across projects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45168" y="580644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1">
                <a:solidFill>
                  <a:srgbClr val="64748B"/>
                </a:solidFill>
                <a:latin typeface="Calibri"/>
              </a:rPr>
              <a:t>Live screens from the demo workspace — sample data · October 2026.</a:t>
            </a:r>
            <a:endParaRPr sz="85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14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AI-ASSISTED DRAFTING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Drafts you can defend</a:t>
            </a:r>
            <a:endParaRPr sz="3000" b="1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789127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</a:pPr>
            <a:r>
              <a:rPr sz="115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0F172A"/>
                </a:solidFill>
                <a:latin typeface="Calibri"/>
              </a:rPr>
              <a:t>Drafted from your record. 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Each section follows the approved donor template — its instructions, questions and word limits — and draws on activities, verified indicator values, evidence text and your story inputs.</a:t>
            </a:r>
            <a:endParaRPr sz="11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3000"/>
              </a:lnSpc>
              <a:spcAft>
                <a:spcPts val="800"/>
              </a:spcAft>
            </a:pPr>
            <a:r>
              <a:rPr sz="115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0F172A"/>
                </a:solidFill>
                <a:latin typeface="Calibri"/>
              </a:rPr>
              <a:t>Every statement shows its source. 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The evidence file, activity record or indicator value behind each claim is one click away.</a:t>
            </a:r>
            <a:endParaRPr sz="11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3000"/>
              </a:lnSpc>
              <a:spcAft>
                <a:spcPts val="800"/>
              </a:spcAft>
            </a:pPr>
            <a:r>
              <a:rPr sz="115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0F172A"/>
                </a:solidFill>
                <a:latin typeface="Calibri"/>
              </a:rPr>
              <a:t>Numbers are guarded. 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A figure that is not in the inputs is rejected and regenerated. If it still fails, the section falls back to plain text that says why.</a:t>
            </a:r>
            <a:endParaRPr sz="11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3000"/>
              </a:lnSpc>
              <a:spcAft>
                <a:spcPts val="800"/>
              </a:spcAft>
            </a:pPr>
            <a:r>
              <a:rPr sz="115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0F172A"/>
                </a:solidFill>
                <a:latin typeface="Calibri"/>
              </a:rPr>
              <a:t>Claims are checked. 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Each factual claim is verified against evidence and your own records; conflicting figures are flagged for a person.</a:t>
            </a:r>
            <a:endParaRPr sz="11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3000"/>
              </a:lnSpc>
              <a:spcAft>
                <a:spcPts val="800"/>
              </a:spcAft>
            </a:pPr>
            <a:r>
              <a:rPr sz="115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0F172A"/>
                </a:solidFill>
                <a:latin typeface="Calibri"/>
              </a:rPr>
              <a:t>Your style, your credits. 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A team writing style shapes tone — never facts. Failed or timed-out drafts are not billed.</a:t>
            </a:r>
            <a:endParaRPr sz="11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4956048"/>
            <a:ext cx="2505456" cy="896112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Verified numbers</a:t>
            </a:r>
            <a:endParaRPr sz="1150" b="1" i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CBD5E1"/>
                </a:solidFill>
                <a:latin typeface="Calibri"/>
              </a:rPr>
              <a:t>Built from verified data — the AI writes prose only.</a:t>
            </a:r>
            <a:endParaRPr sz="950" b="0" i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55264" y="4956048"/>
            <a:ext cx="2505456" cy="896112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Human approval</a:t>
            </a:r>
            <a:endParaRPr sz="1150" b="1" i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CBD5E1"/>
                </a:solidFill>
                <a:latin typeface="Calibri"/>
              </a:rPr>
              <a:t>Nothing is final until a person approves it.</a:t>
            </a:r>
            <a:endParaRPr sz="950" b="0" i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0" y="4956048"/>
            <a:ext cx="2505456" cy="896112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Fully traceable</a:t>
            </a:r>
            <a:endParaRPr sz="1150" b="1" i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CBD5E1"/>
                </a:solidFill>
                <a:latin typeface="Calibri"/>
              </a:rPr>
              <a:t>Model, prompt version and sources stored per output.</a:t>
            </a:r>
            <a:endParaRPr sz="950" b="0" i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41080" y="1874519"/>
            <a:ext cx="2980944" cy="3712463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t"/>
          <a:lstStyle/>
          <a:p>
            <a:pPr algn="l">
              <a:spcAft>
                <a:spcPts val="700"/>
              </a:spcAft>
            </a:pPr>
            <a:r>
              <a:rPr sz="1000" b="1" i="0" spc="180">
                <a:solidFill>
                  <a:srgbClr val="2563EB"/>
                </a:solidFill>
                <a:latin typeface="Calibri"/>
              </a:rPr>
              <a:t>TECHNICAL NOTES</a:t>
            </a:r>
            <a:endParaRPr sz="1000" b="1" i="0" spc="180">
              <a:solidFill>
                <a:srgbClr val="2563E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Draft → critique → refine pipeline under writer contract v6 (Python SSOT, TS mirror pinned by tests)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Semantic retrieval over embedded evidence (pgvector, HNSW index)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Grounding: every figure walked against the request; deterministic fallback that says why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Per-section time budget; timed-out drafts are not billed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Prior-period consistency with previously approved narrative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Manual writing never uses AI credits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15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IN THE PRODUCT · REPORT WORKSPACE · DEMO-8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Calibri"/>
              </a:rPr>
              <a:t>The report workspace — 98% ready</a:t>
            </a:r>
            <a:endParaRPr sz="2600" b="1" i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09-repo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549640" cy="480917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9345168" y="1627632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0928" y="1609344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98% ready, two statements flagged for a person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345168" y="2377440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10928" y="2359152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Outline — 12 of 14 sections approved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345168" y="3127248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0928" y="3108960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Sources beside every statement — all 10 backed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45168" y="580644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1">
                <a:solidFill>
                  <a:srgbClr val="64748B"/>
                </a:solidFill>
                <a:latin typeface="Calibri"/>
              </a:rPr>
              <a:t>Live screens from the demo workspace — sample data · October 2026.</a:t>
            </a:r>
            <a:endParaRPr sz="85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16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COMPLIANCE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Gaps surface in week one, not on deadline day</a:t>
            </a:r>
            <a:endParaRPr sz="3000" b="1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A live checklist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Drawn from the donor template and the project's own rules: missing evidence, unverified indicators, late activities, open confidentiality checks.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26864" y="1874519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It closes itself where it can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 verified procurement document closes its item. Items that need a person stay open until a person decides.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3831335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Readiness by stage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Drafting, review and submission each report readiness — every blocker with plain-language advice and the action that closes it.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26864" y="3831335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A hard gate where it matters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Submission stays blocked while a confidentiality check is open or a restricted source is cited.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5742432"/>
            <a:ext cx="11057839" cy="4754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ctr"/>
            <a:r>
              <a:rPr sz="1200" b="1" i="0">
                <a:solidFill>
                  <a:srgbClr val="1E3A8A"/>
                </a:solidFill>
                <a:latin typeface="Calibri"/>
              </a:rPr>
              <a:t>The final report is a list you have been working through all quarter — not a surprise.</a:t>
            </a:r>
            <a:endParaRPr sz="1200" b="1" i="0">
              <a:solidFill>
                <a:srgbClr val="1E3A8A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41080" y="1874519"/>
            <a:ext cx="2980944" cy="3712463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t"/>
          <a:lstStyle/>
          <a:p>
            <a:pPr algn="l">
              <a:spcAft>
                <a:spcPts val="700"/>
              </a:spcAft>
            </a:pPr>
            <a:r>
              <a:rPr sz="1000" b="1" i="0" spc="180">
                <a:solidFill>
                  <a:srgbClr val="2563EB"/>
                </a:solidFill>
                <a:latin typeface="Calibri"/>
              </a:rPr>
              <a:t>TECHNICAL NOTES</a:t>
            </a:r>
            <a:endParaRPr sz="1000" b="1" i="0" spc="180">
              <a:solidFill>
                <a:srgbClr val="2563E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Two checklist kinds: items data settles close themselves; attestations wait for a person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Readiness stages: drafting, review, submission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A decided attestation is never raised again unless a new one appears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Every blocker names its cause and deep-links to the work that closes it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Closing-report plan lists what the final report still needs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17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IN THE PRODUCT · COMPLIANCE · DEMO-8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Calibri"/>
              </a:rPr>
              <a:t>Every gap has a next action</a:t>
            </a:r>
            <a:endParaRPr sz="2600" b="1" i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10-complia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549640" cy="480917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9345168" y="1627632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0928" y="1609344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Filter by period, status and severity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345168" y="2377440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10928" y="2359152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A flagged claim with its options: resolve, accept risk, not applicable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45168" y="580644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1">
                <a:solidFill>
                  <a:srgbClr val="64748B"/>
                </a:solidFill>
                <a:latin typeface="Calibri"/>
              </a:rPr>
              <a:t>Live screens from the demo workspace — sample data · October 2026.</a:t>
            </a:r>
            <a:endParaRPr sz="85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18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APPROVE &amp; EXPORT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From approved draft to sealed submission</a:t>
            </a:r>
            <a:endParaRPr sz="3000" b="1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One gate, everywhere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The same rule decides approval, preflight, submission and export — no weak side door.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26864" y="1874519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Approvals with teeth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Second-approver rules per project; the author cannot quietly approve their own report, and self sign-off is audited.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3831335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Two kinds of export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Any draft becomes a watermarked internal review copy. A donor submission needs a clean, sealed snapshot — that sealed file is what goes to the donor.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26864" y="3831335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Locked once approved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Approved figures cannot change under a report; a correction goes through reopening, with a reason. Formats: Word, PDF, Excel and ZIP evidence packs.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5742432"/>
            <a:ext cx="11057839" cy="4754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ctr"/>
            <a:r>
              <a:rPr sz="1200" b="1" i="0">
                <a:solidFill>
                  <a:srgbClr val="1E3A8A"/>
                </a:solidFill>
                <a:latin typeface="Calibri"/>
              </a:rPr>
              <a:t>Periods: monthly, quarterly, semi-annual, annual, final and custom — roll-ups show life-of-project totals and % of target.</a:t>
            </a:r>
            <a:endParaRPr sz="1200" b="1" i="0">
              <a:solidFill>
                <a:srgbClr val="1E3A8A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41080" y="1874519"/>
            <a:ext cx="2980944" cy="3712463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t"/>
          <a:lstStyle/>
          <a:p>
            <a:pPr algn="l">
              <a:spcAft>
                <a:spcPts val="700"/>
              </a:spcAft>
            </a:pPr>
            <a:r>
              <a:rPr sz="1000" b="1" i="0" spc="180">
                <a:solidFill>
                  <a:srgbClr val="2563EB"/>
                </a:solidFill>
                <a:latin typeface="Calibri"/>
              </a:rPr>
              <a:t>TECHNICAL NOTES</a:t>
            </a:r>
            <a:endParaRPr sz="1000" b="1" i="0" spc="180">
              <a:solidFill>
                <a:srgbClr val="2563E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One gate evaluator shared by approval, preflight, submission and export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Sealed submission snapshot; approved figures locked, reopening audited with a reason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Watermark on every page of internal review copies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Excel output: indicator tables and the full data sheet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A report is only compared with reports of its own type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19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IN THE PRODUCT · EXPORT CENTER · DEMO-8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Calibri"/>
              </a:rPr>
              <a:t>The gate before export</a:t>
            </a:r>
            <a:endParaRPr sz="2600" b="1" i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11-expo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549640" cy="480917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9345168" y="1627632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0928" y="1609344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Numeric assertion failed — “Fix this” opens the sentence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345168" y="2377440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10928" y="2359152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Unapproved reports export as watermarked internal review only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45168" y="580644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1">
                <a:solidFill>
                  <a:srgbClr val="64748B"/>
                </a:solidFill>
                <a:latin typeface="Calibri"/>
              </a:rPr>
              <a:t>Live screens from the demo workspace — sample data · October 2026.</a:t>
            </a:r>
            <a:endParaRPr sz="85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WORK PLAN · NEW IN 2026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Plan ahead, watch it deliver</a:t>
            </a:r>
            <a:endParaRPr sz="3000" b="1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Start from the logframe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Planned activities with dates, a lead and a place — proposed from your logframe in three steps. One date makes a milestone.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26864" y="1874519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One honest signal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On time, Late or Done, per planned activity — worked out from the completed work linked to it, with the reason in words.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3831335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Overview cards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Done, late and starting soon; per output, activities done of planned beside the indicator's percent of target.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26864" y="3831335"/>
            <a:ext cx="3831336" cy="1755648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Problems and risks</a:t>
            </a:r>
            <a:endParaRPr sz="13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What happened, how serious, what we are doing, who owns it — reviewed every 30 days. They live on the Overview, never inside a donor report.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5852160"/>
            <a:ext cx="78912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64748B"/>
                </a:solidFill>
                <a:latin typeface="Calibri"/>
              </a:rPr>
              <a:t>Live today on the product; further programme-management features (requests, reminders, portfolio view) are rolling out — ask us for the current status.</a:t>
            </a:r>
            <a:endParaRPr sz="100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41080" y="1874519"/>
            <a:ext cx="2980944" cy="3712463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t"/>
          <a:lstStyle/>
          <a:p>
            <a:pPr algn="l">
              <a:spcAft>
                <a:spcPts val="700"/>
              </a:spcAft>
            </a:pPr>
            <a:r>
              <a:rPr sz="1000" b="1" i="0" spc="180">
                <a:solidFill>
                  <a:srgbClr val="2563EB"/>
                </a:solidFill>
                <a:latin typeface="Calibri"/>
              </a:rPr>
              <a:t>TECHNICAL NOTES</a:t>
            </a:r>
            <a:endParaRPr sz="1000" b="1" i="0" spc="180">
              <a:solidFill>
                <a:srgbClr val="2563E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Delivery state derived from dates and linked completed work — never stored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A milestone is a planned activity with start = end — same table, no special case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Recording a finished activity moves its plan item to Done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Risks: four fields, 30-day review, never sent to the AI writer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Plan dates are plain calendar days; moved items keep their original dates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21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IN THE PRODUCT · WORK PLAN · DEMO-9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Calibri"/>
              </a:rPr>
              <a:t>The plan, on a timeline</a:t>
            </a:r>
            <a:endParaRPr sz="2600" b="1" i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12-pl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549640" cy="480917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9345168" y="1627632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0928" y="1609344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Outputs with done counts and late flags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345168" y="2377440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10928" y="2359152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Timeline with today markers and date spans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345168" y="3127248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0928" y="3108960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Mine, Late, Completed — one click each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45168" y="580644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1">
                <a:solidFill>
                  <a:srgbClr val="64748B"/>
                </a:solidFill>
                <a:latin typeface="Calibri"/>
              </a:rPr>
              <a:t>Live screens from the demo workspace — sample data · October 2026.</a:t>
            </a:r>
            <a:endParaRPr sz="85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22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WHO IT'S FOR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Every role gets its day back</a:t>
            </a:r>
            <a:endParaRPr sz="3000" b="1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2505456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M&amp;E Officer</a:t>
            </a:r>
            <a:endParaRPr sz="130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Enter each value once; every report, chart and export reads the same data.</a:t>
            </a:r>
            <a:endParaRPr sz="100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255264" y="1874519"/>
            <a:ext cx="2505456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Grants Officer</a:t>
            </a:r>
            <a:endParaRPr sz="130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See readiness and blockers weeks before the deadline — and what closes each one.</a:t>
            </a:r>
            <a:endParaRPr sz="100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0" y="1874519"/>
            <a:ext cx="2505456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Project Manager</a:t>
            </a:r>
            <a:endParaRPr sz="130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Review and accept field records in one place; the plan shows what is late.</a:t>
            </a:r>
            <a:endParaRPr sz="100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3886199"/>
            <a:ext cx="2505456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Field Officer</a:t>
            </a:r>
            <a:endParaRPr sz="130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Record what happened in a few lines, or by dictation, before leaving the site.</a:t>
            </a:r>
            <a:endParaRPr sz="100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55264" y="3886199"/>
            <a:ext cx="2505456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Compliance Officer</a:t>
            </a:r>
            <a:endParaRPr sz="130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Every claim links to its evidence; the audit log shows who changed what.</a:t>
            </a:r>
            <a:endParaRPr sz="100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0" y="3886199"/>
            <a:ext cx="2505456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Director / approver</a:t>
            </a:r>
            <a:endParaRPr sz="130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Second-approver rules and a sealed snapshot — sign what you can actually check.</a:t>
            </a:r>
            <a:endParaRPr sz="100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5742432"/>
            <a:ext cx="11057839" cy="4754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ctr"/>
            <a:r>
              <a:rPr sz="1200" b="1" i="0">
                <a:solidFill>
                  <a:srgbClr val="1E3A8A"/>
                </a:solidFill>
                <a:latin typeface="Calibri"/>
              </a:rPr>
              <a:t>Seven roles, least privilege per project — each person sees the work they own.</a:t>
            </a:r>
            <a:endParaRPr sz="1200" b="1" i="0">
              <a:solidFill>
                <a:srgbClr val="1E3A8A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41080" y="1874519"/>
            <a:ext cx="2980944" cy="3712463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t"/>
          <a:lstStyle/>
          <a:p>
            <a:pPr algn="l">
              <a:spcAft>
                <a:spcPts val="700"/>
              </a:spcAft>
            </a:pPr>
            <a:r>
              <a:rPr sz="1000" b="1" i="0" spc="180">
                <a:solidFill>
                  <a:srgbClr val="2563EB"/>
                </a:solidFill>
                <a:latin typeface="Calibri"/>
              </a:rPr>
              <a:t>GOVERNANCE</a:t>
            </a:r>
            <a:endParaRPr sz="1000" b="1" i="0" spc="180">
              <a:solidFill>
                <a:srgbClr val="2563E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Roles set per project; the UI hides what a role cannot use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Access follows project membership; removed members lose access at once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Bulk attestation limited to Admin and Project Manager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Self sign-off is allowed only where the rule permits — and always audited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The audit log answers “who changed what” per section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23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IN THE PRODUCT · MY WORK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Calibri"/>
              </a:rPr>
              <a:t>Everything that is yours, by due day</a:t>
            </a:r>
            <a:endParaRPr sz="2600" b="1" i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13-my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549640" cy="480917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9345168" y="1627632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0928" y="1609344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One queue across every project — 43 items here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345168" y="2377440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10928" y="2359152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Everything by due day — files to check, reports due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45168" y="580644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1">
                <a:solidFill>
                  <a:srgbClr val="64748B"/>
                </a:solidFill>
                <a:latin typeface="Calibri"/>
              </a:rPr>
              <a:t>Live screens from the demo workspace — sample data · October 2026.</a:t>
            </a:r>
            <a:endParaRPr sz="85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24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TRUST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Auditable by design</a:t>
            </a:r>
            <a:endParaRPr sz="3000" b="1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789127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3000"/>
              </a:lnSpc>
              <a:spcAft>
                <a:spcPts val="9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Hash-chained audit log.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Every change is recorded; any later edit to history is detectable.</a:t>
            </a:r>
            <a:endParaRPr sz="120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3000"/>
              </a:lnSpc>
              <a:spcAft>
                <a:spcPts val="9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Tenant isolation.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Row-level security in the database keeps each organisation's data separate.</a:t>
            </a:r>
            <a:endParaRPr sz="120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3000"/>
              </a:lnSpc>
              <a:spcAft>
                <a:spcPts val="9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Least-privilege roles.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Seven roles, set per project; removed or suspended people lose access at once.</a:t>
            </a:r>
            <a:endParaRPr sz="120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3000"/>
              </a:lnSpc>
              <a:spcAft>
                <a:spcPts val="9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AI traceability.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Each AI output stores its model, prompt version and sources; AI cost and usage are itemised per month.</a:t>
            </a:r>
            <a:endParaRPr sz="120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3000"/>
              </a:lnSpc>
              <a:spcAft>
                <a:spcPts val="9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Published legal pack.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Privacy, terms, DPA, subprocessor list and a security page — on the site, not on request.</a:t>
            </a:r>
            <a:endParaRPr sz="120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4736592"/>
            <a:ext cx="7891272" cy="841248"/>
          </a:xfrm>
          <a:prstGeom prst="roundRect">
            <a:avLst>
              <a:gd name="adj" fmla="val 4500"/>
            </a:avLst>
          </a:prstGeom>
          <a:solidFill>
            <a:srgbClr val="FFFBEB"/>
          </a:solidFill>
          <a:ln w="9525">
            <a:solidFill>
              <a:srgbClr val="FDE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925B06"/>
                </a:solidFill>
                <a:latin typeface="Calibri"/>
              </a:rPr>
              <a:t>What we will not claim</a:t>
            </a:r>
            <a:endParaRPr sz="1200" b="1" i="0">
              <a:solidFill>
                <a:srgbClr val="925B06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25B06"/>
                </a:solidFill>
                <a:latin typeface="Calibri"/>
              </a:rPr>
              <a:t>No external certifications are held, and none are claimed. We say what the product does — and what it does not — on every page.</a:t>
            </a:r>
            <a:endParaRPr sz="1000" b="0" i="0">
              <a:solidFill>
                <a:srgbClr val="925B06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41080" y="1874519"/>
            <a:ext cx="2980944" cy="3712463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t"/>
          <a:lstStyle/>
          <a:p>
            <a:pPr algn="l">
              <a:spcAft>
                <a:spcPts val="700"/>
              </a:spcAft>
            </a:pPr>
            <a:r>
              <a:rPr sz="1000" b="1" i="0" spc="180">
                <a:solidFill>
                  <a:srgbClr val="2563EB"/>
                </a:solidFill>
                <a:latin typeface="Calibri"/>
              </a:rPr>
              <a:t>SECURITY BASELINE</a:t>
            </a:r>
            <a:endParaRPr sz="1000" b="1" i="0" spc="180">
              <a:solidFill>
                <a:srgbClr val="2563E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PostgreSQL row-level security per organisation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Audit log append-only by privilege, not only by hash chain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Secrets never exported; backup restore tested, checksums verified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Enterprise: OIDC single sign-on and SCIM 2.0 provisioning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Two-step sign-in per person completing rollout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25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IN THE PRODUCT · AUDIT LOG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Calibri"/>
              </a:rPr>
              <a:t>Who changed what — and when</a:t>
            </a:r>
            <a:endParaRPr sz="2600" b="1" i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14-aud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549640" cy="480917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9345168" y="1627632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0928" y="1609344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Filter by event, actor, entity, date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345168" y="2377440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10928" y="2359152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Every change: actor, entity, redacted detail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45168" y="580644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1">
                <a:solidFill>
                  <a:srgbClr val="64748B"/>
                </a:solidFill>
                <a:latin typeface="Calibri"/>
              </a:rPr>
              <a:t>Live screens from the demo workspace — sample data · October 2026.</a:t>
            </a:r>
            <a:endParaRPr sz="85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26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FAIR QUESTIONS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Straight answers before you ask</a:t>
            </a:r>
            <a:endParaRPr sz="3000" b="1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3831336" cy="1883664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“We already use Excel / Kobo / ActivityInfo.”</a:t>
            </a:r>
            <a:endParaRPr sz="12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Keep them. DonorDesk holds the programme record your reports are built from — and it imports from Excel, CSV and Google Sheets.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26864" y="1874519"/>
            <a:ext cx="3831336" cy="1883664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“Will the AI invent numbers?”</a:t>
            </a:r>
            <a:endParaRPr sz="12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No. Tables and charts come from verified data; a figure not in the inputs is rejected and regenerated. A person approves every section.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3959351"/>
            <a:ext cx="3831336" cy="1883664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“Who owns our data?”</a:t>
            </a:r>
            <a:endParaRPr sz="12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You do. Evidence can stay in your own Google Drive, tenant data is isolated in the database, and export is built in.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26864" y="3959351"/>
            <a:ext cx="3831336" cy="1883664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“Our donor has a specific template.”</a:t>
            </a:r>
            <a:endParaRPr sz="1250" b="1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Upload it once. DonorDesk extracts the outline, questions and required tables — you approve them before any draft uses them.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41080" y="1874519"/>
            <a:ext cx="2980944" cy="3712463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t"/>
          <a:lstStyle/>
          <a:p>
            <a:pPr algn="l">
              <a:spcAft>
                <a:spcPts val="700"/>
              </a:spcAft>
            </a:pPr>
            <a:r>
              <a:rPr sz="1000" b="1" i="0" spc="180">
                <a:solidFill>
                  <a:srgbClr val="2563EB"/>
                </a:solidFill>
                <a:latin typeface="Calibri"/>
              </a:rPr>
              <a:t>GOOD TO KNOW</a:t>
            </a:r>
            <a:endParaRPr sz="1000" b="1" i="0" spc="180">
              <a:solidFill>
                <a:srgbClr val="2563E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Imports: logframes, indicator sheets, activity spreadsheets, plans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Manual writing never uses AI credits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Failed or timed-out drafts are never billed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The demo project uses no AI credits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Free Starter forever; 25% nonprofit discount in year one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Direct submission to donors is deliberately not a feature — you upload the approved file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27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HOW WE COMPARE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Calibri"/>
              </a:rPr>
              <a:t>Built for the whole journey — the rest cover a slice</a:t>
            </a:r>
            <a:endParaRPr sz="2800" b="1" i="0">
              <a:solidFill>
                <a:srgbClr val="0F172A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19072"/>
          <a:ext cx="11055096" cy="3694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1554480"/>
                <a:gridCol w="1371600"/>
                <a:gridCol w="1554480"/>
                <a:gridCol w="1554480"/>
                <a:gridCol w="1453896"/>
              </a:tblGrid>
              <a:tr h="54864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  <a:endParaRPr sz="105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R="45720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DonorDesk</a:t>
                      </a:r>
                      <a:endParaRPr sz="105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R="45720" marT="36576" marB="36576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Spreadsheets</a:t>
                      </a:r>
                      <a:endParaRPr sz="105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R="45720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Data-collection apps</a:t>
                      </a:r>
                      <a:endParaRPr sz="105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(Kobo, SurveyCTO)</a:t>
                      </a:r>
                      <a:endParaRPr sz="105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R="45720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M&amp;E platforms</a:t>
                      </a:r>
                      <a:endParaRPr sz="105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(ActivityInfo, DevResults)</a:t>
                      </a:r>
                      <a:endParaRPr sz="105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R="45720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Generic AI assistants</a:t>
                      </a:r>
                      <a:endParaRPr sz="105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R="45720" marT="36576" marB="36576" anchor="ctr">
                    <a:solidFill>
                      <a:srgbClr val="0F172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F172A"/>
                          </a:solidFill>
                          <a:latin typeface="Calibri"/>
                        </a:rPr>
                        <a:t>Field activities recorded as they happen — typed or dictated</a:t>
                      </a:r>
                      <a:endParaRPr sz="1000" b="1" i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0E7490"/>
                          </a:solidFill>
                          <a:latin typeface="Calibri"/>
                        </a:rPr>
                        <a:t>✓</a:t>
                      </a:r>
                      <a:endParaRPr sz="1400" b="1" i="0">
                        <a:solidFill>
                          <a:srgbClr val="0E7490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0E7490"/>
                          </a:solidFill>
                          <a:latin typeface="Calibri"/>
                        </a:rPr>
                        <a:t>✓</a:t>
                      </a:r>
                      <a:endParaRPr sz="1400" b="1" i="0">
                        <a:solidFill>
                          <a:srgbClr val="0E7490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4748B"/>
                          </a:solidFill>
                          <a:latin typeface="Calibri"/>
                        </a:rPr>
                        <a:t>Partial</a:t>
                      </a:r>
                      <a:endParaRPr sz="850" b="0" i="0">
                        <a:solidFill>
                          <a:srgbClr val="64748B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F172A"/>
                          </a:solidFill>
                          <a:latin typeface="Calibri"/>
                        </a:rPr>
                        <a:t>Indicator values entered once, reused in every report</a:t>
                      </a:r>
                      <a:endParaRPr sz="1000" b="1" i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 marR="45720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0E7490"/>
                          </a:solidFill>
                          <a:latin typeface="Calibri"/>
                        </a:rPr>
                        <a:t>✓</a:t>
                      </a:r>
                      <a:endParaRPr sz="1400" b="1" i="0">
                        <a:solidFill>
                          <a:srgbClr val="0E7490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4748B"/>
                          </a:solidFill>
                          <a:latin typeface="Calibri"/>
                        </a:rPr>
                        <a:t>Manual</a:t>
                      </a:r>
                      <a:endParaRPr sz="850" b="0" i="0">
                        <a:solidFill>
                          <a:srgbClr val="64748B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4748B"/>
                          </a:solidFill>
                          <a:latin typeface="Calibri"/>
                        </a:rPr>
                        <a:t>Partial</a:t>
                      </a:r>
                      <a:endParaRPr sz="850" b="0" i="0">
                        <a:solidFill>
                          <a:srgbClr val="64748B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0E7490"/>
                          </a:solidFill>
                          <a:latin typeface="Calibri"/>
                        </a:rPr>
                        <a:t>✓</a:t>
                      </a:r>
                      <a:endParaRPr sz="1400" b="1" i="0">
                        <a:solidFill>
                          <a:srgbClr val="0E7490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F172A"/>
                          </a:solidFill>
                          <a:latin typeface="Calibri"/>
                        </a:rPr>
                        <a:t>Donor template loaded once and reused per grant</a:t>
                      </a:r>
                      <a:endParaRPr sz="1000" b="1" i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0E7490"/>
                          </a:solidFill>
                          <a:latin typeface="Calibri"/>
                        </a:rPr>
                        <a:t>✓</a:t>
                      </a:r>
                      <a:endParaRPr sz="1400" b="1" i="0">
                        <a:solidFill>
                          <a:srgbClr val="0E7490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F172A"/>
                          </a:solidFill>
                          <a:latin typeface="Calibri"/>
                        </a:rPr>
                        <a:t>Report drafted from your record, in the donor's format</a:t>
                      </a:r>
                      <a:endParaRPr sz="1000" b="1" i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 marR="45720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0E7490"/>
                          </a:solidFill>
                          <a:latin typeface="Calibri"/>
                        </a:rPr>
                        <a:t>✓</a:t>
                      </a:r>
                      <a:endParaRPr sz="1400" b="1" i="0">
                        <a:solidFill>
                          <a:srgbClr val="0E7490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4748B"/>
                          </a:solidFill>
                          <a:latin typeface="Calibri"/>
                        </a:rPr>
                        <a:t>Manual</a:t>
                      </a:r>
                      <a:endParaRPr sz="850" b="0" i="0">
                        <a:solidFill>
                          <a:srgbClr val="64748B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4748B"/>
                          </a:solidFill>
                          <a:latin typeface="Calibri"/>
                        </a:rPr>
                        <a:t>Text only</a:t>
                      </a:r>
                      <a:endParaRPr sz="850" b="0" i="0">
                        <a:solidFill>
                          <a:srgbClr val="64748B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F172A"/>
                          </a:solidFill>
                          <a:latin typeface="Calibri"/>
                        </a:rPr>
                        <a:t>Every figure checked against the inputs before you see it</a:t>
                      </a:r>
                      <a:endParaRPr sz="1000" b="1" i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0E7490"/>
                          </a:solidFill>
                          <a:latin typeface="Calibri"/>
                        </a:rPr>
                        <a:t>✓</a:t>
                      </a:r>
                      <a:endParaRPr sz="1400" b="1" i="0">
                        <a:solidFill>
                          <a:srgbClr val="0E7490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4748B"/>
                          </a:solidFill>
                          <a:latin typeface="Calibri"/>
                        </a:rPr>
                        <a:t>Partial</a:t>
                      </a:r>
                      <a:endParaRPr sz="850" b="0" i="0">
                        <a:solidFill>
                          <a:srgbClr val="64748B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F172A"/>
                          </a:solidFill>
                          <a:latin typeface="Calibri"/>
                        </a:rPr>
                        <a:t>Statement-level sources and evidence links</a:t>
                      </a:r>
                      <a:endParaRPr sz="1000" b="1" i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 marR="45720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0E7490"/>
                          </a:solidFill>
                          <a:latin typeface="Calibri"/>
                        </a:rPr>
                        <a:t>✓</a:t>
                      </a:r>
                      <a:endParaRPr sz="1400" b="1" i="0">
                        <a:solidFill>
                          <a:srgbClr val="0E7490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4748B"/>
                          </a:solidFill>
                          <a:latin typeface="Calibri"/>
                        </a:rPr>
                        <a:t>Partial</a:t>
                      </a:r>
                      <a:endParaRPr sz="850" b="0" i="0">
                        <a:solidFill>
                          <a:srgbClr val="64748B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F172A"/>
                          </a:solidFill>
                          <a:latin typeface="Calibri"/>
                        </a:rPr>
                        <a:t>Compliance checklist with readiness by stage</a:t>
                      </a:r>
                      <a:endParaRPr sz="1000" b="1" i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0E7490"/>
                          </a:solidFill>
                          <a:latin typeface="Calibri"/>
                        </a:rPr>
                        <a:t>✓</a:t>
                      </a:r>
                      <a:endParaRPr sz="1400" b="1" i="0">
                        <a:solidFill>
                          <a:srgbClr val="0E7490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F172A"/>
                          </a:solidFill>
                          <a:latin typeface="Calibri"/>
                        </a:rPr>
                        <a:t>Approval rules, sealed submission, hash-chained audit log</a:t>
                      </a:r>
                      <a:endParaRPr sz="1000" b="1" i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 marR="45720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0E7490"/>
                          </a:solidFill>
                          <a:latin typeface="Calibri"/>
                        </a:rPr>
                        <a:t>✓</a:t>
                      </a:r>
                      <a:endParaRPr sz="1400" b="1" i="0">
                        <a:solidFill>
                          <a:srgbClr val="0E7490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4748B"/>
                          </a:solidFill>
                          <a:latin typeface="Calibri"/>
                        </a:rPr>
                        <a:t>Partial</a:t>
                      </a:r>
                      <a:endParaRPr sz="850" b="0" i="0">
                        <a:solidFill>
                          <a:srgbClr val="64748B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sz="1000" b="0" i="0">
                        <a:solidFill>
                          <a:srgbClr val="94A3B8"/>
                        </a:solidFill>
                        <a:latin typeface="Calibri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5614416"/>
            <a:ext cx="11057839" cy="4754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ctr"/>
            <a:r>
              <a:rPr sz="1200" b="1" i="0">
                <a:solidFill>
                  <a:srgbClr val="1E3A8A"/>
                </a:solidFill>
                <a:latin typeface="Calibri"/>
              </a:rPr>
              <a:t>Each of them holds a slice. DonorDesk holds the record — the report is what it produces.</a:t>
            </a:r>
            <a:endParaRPr sz="1200" b="1" i="0">
              <a:solidFill>
                <a:srgbClr val="1E3A8A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623620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64748B"/>
                </a:solidFill>
                <a:latin typeface="Calibri"/>
              </a:rPr>
              <a:t>Category-level comparison by general product scope, October 2026. The DonorDesk column lists live capabilities only.</a:t>
            </a:r>
            <a:endParaRPr sz="100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28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60">
                <a:solidFill>
                  <a:srgbClr val="0E7490"/>
                </a:solidFill>
                <a:latin typeface="Calibri"/>
              </a:rPr>
              <a:t>PLANS</a:t>
            </a:r>
            <a:endParaRPr sz="1100" b="1" i="0" spc="260">
              <a:solidFill>
                <a:srgbClr val="0E749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578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Start free. Upgrade when the programme grows.</a:t>
            </a:r>
            <a:endParaRPr sz="3000" b="1" i="0">
              <a:solidFill>
                <a:srgbClr val="0F172A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28800"/>
          <a:ext cx="7891272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1051560"/>
                <a:gridCol w="1325880"/>
                <a:gridCol w="1417320"/>
                <a:gridCol w="1371600"/>
                <a:gridCol w="1490472"/>
              </a:tblGrid>
              <a:tr h="56692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  <a:endParaRPr sz="100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36576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Projects</a:t>
                      </a:r>
                      <a:endParaRPr sz="100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36576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Full seats</a:t>
                      </a:r>
                      <a:endParaRPr sz="100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36576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AI drafts / month</a:t>
                      </a:r>
                      <a:endParaRPr sz="100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36576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Managed storage</a:t>
                      </a:r>
                      <a:endParaRPr sz="100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36576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  <a:endParaRPr sz="100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36576" marT="36576" marB="36576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0F172A"/>
                          </a:solidFill>
                          <a:latin typeface="Calibri"/>
                        </a:rPr>
                        <a:t>Starter</a:t>
                      </a:r>
                      <a:endParaRPr sz="950" b="1" i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  <a:endParaRPr sz="950" b="0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34155"/>
                          </a:solidFill>
                          <a:latin typeface="Calibri"/>
                        </a:rPr>
                        <a:t>1 + 2 viewers</a:t>
                      </a:r>
                      <a:endParaRPr sz="950" b="0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  <a:endParaRPr sz="950" b="0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34155"/>
                          </a:solidFill>
                          <a:latin typeface="Calibri"/>
                        </a:rPr>
                        <a:t>1 GB</a:t>
                      </a:r>
                      <a:endParaRPr sz="950" b="0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334155"/>
                          </a:solidFill>
                          <a:latin typeface="Calibri"/>
                        </a:rPr>
                        <a:t>Free</a:t>
                      </a:r>
                      <a:endParaRPr sz="950" b="1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0F172A"/>
                          </a:solidFill>
                          <a:latin typeface="Calibri"/>
                        </a:rPr>
                        <a:t>Team</a:t>
                      </a:r>
                      <a:endParaRPr sz="950" b="1" i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  <a:endParaRPr sz="950" b="0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  <a:endParaRPr sz="950" b="0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34155"/>
                          </a:solidFill>
                          <a:latin typeface="Calibri"/>
                        </a:rPr>
                        <a:t>20</a:t>
                      </a:r>
                      <a:endParaRPr sz="950" b="0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34155"/>
                          </a:solidFill>
                          <a:latin typeface="Calibri"/>
                        </a:rPr>
                        <a:t>25 GB</a:t>
                      </a:r>
                      <a:endParaRPr sz="950" b="0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334155"/>
                          </a:solidFill>
                          <a:latin typeface="Calibri"/>
                        </a:rPr>
                        <a:t>$79 / month</a:t>
                      </a:r>
                      <a:endParaRPr sz="950" b="1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0F172A"/>
                          </a:solidFill>
                          <a:latin typeface="Calibri"/>
                        </a:rPr>
                        <a:t>Growth</a:t>
                      </a:r>
                      <a:endParaRPr sz="950" b="1" i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34155"/>
                          </a:solidFill>
                          <a:latin typeface="Calibri"/>
                        </a:rPr>
                        <a:t>20</a:t>
                      </a:r>
                      <a:endParaRPr sz="950" b="0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34155"/>
                          </a:solidFill>
                          <a:latin typeface="Calibri"/>
                        </a:rPr>
                        <a:t>15</a:t>
                      </a:r>
                      <a:endParaRPr sz="950" b="0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34155"/>
                          </a:solidFill>
                          <a:latin typeface="Calibri"/>
                        </a:rPr>
                        <a:t>100</a:t>
                      </a:r>
                      <a:endParaRPr sz="950" b="0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34155"/>
                          </a:solidFill>
                          <a:latin typeface="Calibri"/>
                        </a:rPr>
                        <a:t>100 GB</a:t>
                      </a:r>
                      <a:endParaRPr sz="950" b="0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334155"/>
                          </a:solidFill>
                          <a:latin typeface="Calibri"/>
                        </a:rPr>
                        <a:t>$149 / month</a:t>
                      </a:r>
                      <a:endParaRPr sz="950" b="1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0F172A"/>
                          </a:solidFill>
                          <a:latin typeface="Calibri"/>
                        </a:rPr>
                        <a:t>Enterprise</a:t>
                      </a:r>
                      <a:endParaRPr sz="950" b="1" i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34155"/>
                          </a:solidFill>
                          <a:latin typeface="Calibri"/>
                        </a:rPr>
                        <a:t>Unlimited</a:t>
                      </a:r>
                      <a:endParaRPr sz="950" b="0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34155"/>
                          </a:solidFill>
                          <a:latin typeface="Calibri"/>
                        </a:rPr>
                        <a:t>Contracted</a:t>
                      </a:r>
                      <a:endParaRPr sz="950" b="0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34155"/>
                          </a:solidFill>
                          <a:latin typeface="Calibri"/>
                        </a:rPr>
                        <a:t>Unlimited</a:t>
                      </a:r>
                      <a:endParaRPr sz="950" b="0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34155"/>
                          </a:solidFill>
                          <a:latin typeface="Calibri"/>
                        </a:rPr>
                        <a:t>Contracted</a:t>
                      </a:r>
                      <a:endParaRPr sz="950" b="0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334155"/>
                          </a:solidFill>
                          <a:latin typeface="Calibri"/>
                        </a:rPr>
                        <a:t>By contract</a:t>
                      </a:r>
                      <a:endParaRPr sz="950" b="1" i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3657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892040"/>
            <a:ext cx="789127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3000"/>
              </a:lnSpc>
              <a:spcAft>
                <a:spcPts val="6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Annual billing is two months free (Team $790/yr · Growth $1,490/yr). Verified nonprofits: 25% off Team and Growth in the first year.</a:t>
            </a:r>
            <a:endParaRPr sz="10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3000"/>
              </a:lnSpc>
              <a:spcAft>
                <a:spcPts val="6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Failed or timed-out drafts are never billed — manual writing never uses credits.</a:t>
            </a:r>
            <a:endParaRPr sz="10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41080" y="1874519"/>
            <a:ext cx="2980944" cy="3712463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t"/>
          <a:lstStyle/>
          <a:p>
            <a:pPr algn="l">
              <a:spcAft>
                <a:spcPts val="700"/>
              </a:spcAft>
            </a:pPr>
            <a:r>
              <a:rPr sz="1000" b="1" i="0" spc="180">
                <a:solidFill>
                  <a:srgbClr val="2563EB"/>
                </a:solidFill>
                <a:latin typeface="Calibri"/>
              </a:rPr>
              <a:t>COMMERCIAL NOTES</a:t>
            </a:r>
            <a:endParaRPr sz="1000" b="1" i="0" spc="180">
              <a:solidFill>
                <a:srgbClr val="2563E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Top-up packs: +50 drafts $79 (Team), +100 drafts $149 (Growth)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Growth and Enterprise: connect your own AI provider — zero DonorDesk credits used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Viewer seats unlimited from Team upward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Enterprise adds SSO (OIDC) and SCIM provisioning by contract</a:t>
            </a:r>
            <a:endParaRPr sz="950" b="0" i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0E7490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Seats include the owner; invited and suspended members count</a:t>
            </a:r>
            <a:endParaRPr sz="950" b="0" i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DonorDesk  ·  Sales deck v2.007  ·  October 2026  ·  donordesk.online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29</a:t>
            </a:r>
            <a:endParaRPr sz="90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 spc="300">
                <a:solidFill>
                  <a:srgbClr val="06B6D4"/>
                </a:solidFill>
                <a:latin typeface="Calibri"/>
              </a:rPr>
              <a:t>NEXT STEP</a:t>
            </a:r>
            <a:endParaRPr sz="1200" b="1" i="0" spc="300">
              <a:solidFill>
                <a:srgbClr val="06B6D4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Calibri"/>
              </a:rPr>
              <a:t>See it on a real programme.</a:t>
            </a:r>
            <a:endParaRPr sz="38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1463040" cy="6400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788920"/>
            <a:ext cx="11055096" cy="786384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Take the narrated tour   </a:t>
            </a:r>
            <a:r>
              <a:rPr sz="1250" b="1" i="0">
                <a:solidFill>
                  <a:srgbClr val="06B6D4"/>
                </a:solidFill>
                <a:latin typeface="Calibri"/>
              </a:rPr>
              <a:t>donordesk.online/tour</a:t>
            </a:r>
            <a:endParaRPr sz="1250" b="1" i="0">
              <a:solidFill>
                <a:srgbClr val="06B6D4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Fifteen minutes through the whole workflow — plan, record, check, report.</a:t>
            </a:r>
            <a:endParaRPr sz="1050" b="0" i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3685032"/>
            <a:ext cx="11055096" cy="786384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Create a free workspace   </a:t>
            </a:r>
            <a:r>
              <a:rPr sz="1250" b="1" i="0">
                <a:solidFill>
                  <a:srgbClr val="06B6D4"/>
                </a:solidFill>
                <a:latin typeface="Calibri"/>
              </a:rPr>
              <a:t>donordesk.online/signup</a:t>
            </a:r>
            <a:endParaRPr sz="1250" b="1" i="0">
              <a:solidFill>
                <a:srgbClr val="06B6D4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The Starter plan is free forever; the demo project is included and uses no AI credits.</a:t>
            </a:r>
            <a:endParaRPr sz="1050" b="0" i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6928" y="4581144"/>
            <a:ext cx="11055096" cy="786384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Read the fine print   </a:t>
            </a:r>
            <a:r>
              <a:rPr sz="1250" b="1" i="0">
                <a:solidFill>
                  <a:srgbClr val="06B6D4"/>
                </a:solidFill>
                <a:latin typeface="Calibri"/>
              </a:rPr>
              <a:t>donordesk.online/help</a:t>
            </a:r>
            <a:endParaRPr sz="1250" b="1" i="0">
              <a:solidFill>
                <a:srgbClr val="06B6D4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Every feature documented with its limits. We publish what the product does not do, too.</a:t>
            </a:r>
            <a:endParaRPr sz="1050" b="0" i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5477256"/>
            <a:ext cx="11055096" cy="786384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Talk to us   </a:t>
            </a:r>
            <a:r>
              <a:rPr sz="1250" b="1" i="0">
                <a:solidFill>
                  <a:srgbClr val="06B6D4"/>
                </a:solidFill>
                <a:latin typeface="Calibri"/>
              </a:rPr>
              <a:t>support@donordesk.online</a:t>
            </a:r>
            <a:endParaRPr sz="1250" b="1" i="0">
              <a:solidFill>
                <a:srgbClr val="06B6D4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A walkthrough on your own donor template — bring the format your team dreads most.</a:t>
            </a:r>
            <a:endParaRPr sz="1050" b="0" i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 i="0">
                <a:solidFill>
                  <a:srgbClr val="94A3B8"/>
                </a:solidFill>
                <a:latin typeface="Calibri"/>
              </a:rPr>
              <a:t>DonorDesk  ·  Manage the grant. Report on it.  ·  donordesk.online</a:t>
            </a:r>
            <a:endParaRPr sz="1050" b="0" i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22851</Words>
  <Application>WPS Presentation</Application>
  <PresentationFormat>On-screen Show (4:3)</PresentationFormat>
  <Paragraphs>863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Arial</vt:lpstr>
      <vt:lpstr>SimSun</vt:lpstr>
      <vt:lpstr>Wingdings</vt:lpstr>
      <vt:lpstr>Arial</vt:lpstr>
      <vt:lpstr>DejaVu Sans</vt:lpstr>
      <vt:lpstr>Calibri</vt:lpstr>
      <vt:lpstr>Microsoft YaHei</vt:lpstr>
      <vt:lpstr>文泉驿正黑</vt:lpstr>
      <vt:lpstr>Arial Unicode MS</vt:lpstr>
      <vt:lpstr>Calibri</vt:lpstr>
      <vt:lpstr>OpenSymbol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najeeb</cp:lastModifiedBy>
  <cp:revision>4</cp:revision>
  <dcterms:created xsi:type="dcterms:W3CDTF">2026-10-24T06:28:41Z</dcterms:created>
  <dcterms:modified xsi:type="dcterms:W3CDTF">2026-10-24T06:28:41Z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1033-11.1.0.11734</vt:lpwstr>
  </property>
</Properties>
</file>
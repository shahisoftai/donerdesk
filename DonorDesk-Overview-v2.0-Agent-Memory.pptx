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58EE6D2-CFB8-4854-B000-19BEBC2F18D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C004F0C-8B07-4E4D-9228-DD2FEA797883}"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6DFC64C-F8B2-4E47-9F08-C11ED1E9664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F068E5A2-08D0-4CCC-9006-FE385FFAA246}"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221F047-1810-4313-B7B5-E20745455582}"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34810600-C6B5-431D-B8A1-140B8DFE004B}"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2041DD2-032F-4518-AC57-4BA92527BF99}"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B5107F1D-E250-4119-8541-440CE6B2644D}"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0BCF54AA-D738-4A7B-AB1C-08E745965E18}"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47674C3C-63CE-4633-AE7C-DF748E08639D}"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E4DCF3A-C019-48AB-AF62-923CAD966D19}"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a:t>
            </a:r>
            <a:r>
              <a:rPr b="0" lang="en-US" sz="4400" spc="-1" strike="noStrike">
                <a:solidFill>
                  <a:schemeClr val="dk1"/>
                </a:solidFill>
                <a:latin typeface="Calibri"/>
              </a:rPr>
              <a:t>i</a:t>
            </a:r>
            <a:r>
              <a:rPr b="0" lang="en-US" sz="4400" spc="-1" strike="noStrike">
                <a:solidFill>
                  <a:schemeClr val="dk1"/>
                </a:solidFill>
                <a:latin typeface="Calibri"/>
              </a:rPr>
              <a:t>c</a:t>
            </a:r>
            <a:r>
              <a:rPr b="0" lang="en-US" sz="4400" spc="-1" strike="noStrike">
                <a:solidFill>
                  <a:schemeClr val="dk1"/>
                </a:solidFill>
                <a:latin typeface="Calibri"/>
              </a:rPr>
              <a:t>k</a:t>
            </a:r>
            <a:r>
              <a:rPr b="0" lang="en-US" sz="4400" spc="-1" strike="noStrike">
                <a:solidFill>
                  <a:schemeClr val="dk1"/>
                </a:solidFill>
                <a:latin typeface="Calibri"/>
              </a:rPr>
              <a:t> </a:t>
            </a:r>
            <a:r>
              <a:rPr b="0" lang="en-US" sz="4400" spc="-1" strike="noStrike">
                <a:solidFill>
                  <a:schemeClr val="dk1"/>
                </a:solidFill>
                <a:latin typeface="Calibri"/>
              </a:rPr>
              <a:t>t</a:t>
            </a:r>
            <a:r>
              <a:rPr b="0" lang="en-US" sz="4400" spc="-1" strike="noStrike">
                <a:solidFill>
                  <a:schemeClr val="dk1"/>
                </a:solidFill>
                <a:latin typeface="Calibri"/>
              </a:rPr>
              <a:t>o</a:t>
            </a:r>
            <a:r>
              <a:rPr b="0" lang="en-US" sz="4400" spc="-1" strike="noStrike">
                <a:solidFill>
                  <a:schemeClr val="dk1"/>
                </a:solidFill>
                <a:latin typeface="Calibri"/>
              </a:rPr>
              <a:t>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a:t>
            </a:r>
            <a:r>
              <a:rPr b="0" lang="en-US" sz="4400" spc="-1" strike="noStrike">
                <a:solidFill>
                  <a:schemeClr val="dk1"/>
                </a:solidFill>
                <a:latin typeface="Calibri"/>
              </a:rPr>
              <a:t>i</a:t>
            </a:r>
            <a:r>
              <a:rPr b="0" lang="en-US" sz="4400" spc="-1" strike="noStrike">
                <a:solidFill>
                  <a:schemeClr val="dk1"/>
                </a:solidFill>
                <a:latin typeface="Calibri"/>
              </a:rPr>
              <a:t>t</a:t>
            </a:r>
            <a:r>
              <a:rPr b="0" lang="en-US" sz="4400" spc="-1" strike="noStrike">
                <a:solidFill>
                  <a:schemeClr val="dk1"/>
                </a:solidFill>
                <a:latin typeface="Calibri"/>
              </a:rPr>
              <a:t>l</a:t>
            </a:r>
            <a:r>
              <a:rPr b="0" lang="en-US" sz="4400" spc="-1" strike="noStrike">
                <a:solidFill>
                  <a:schemeClr val="dk1"/>
                </a:solidFill>
                <a:latin typeface="Calibri"/>
              </a:rPr>
              <a:t>e</a:t>
            </a:r>
            <a:r>
              <a:rPr b="0" lang="en-US" sz="4400" spc="-1" strike="noStrike">
                <a:solidFill>
                  <a:schemeClr val="dk1"/>
                </a:solidFill>
                <a:latin typeface="Calibri"/>
              </a:rPr>
              <a:t>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2BAA165-F55A-44CD-BF18-CE5DB665422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a:t>
            </a:r>
            <a:r>
              <a:rPr b="0" lang="en-US" sz="4400" spc="-1" strike="noStrike">
                <a:solidFill>
                  <a:schemeClr val="dk1"/>
                </a:solidFill>
                <a:latin typeface="Calibri"/>
              </a:rPr>
              <a:t>i</a:t>
            </a:r>
            <a:r>
              <a:rPr b="0" lang="en-US" sz="4400" spc="-1" strike="noStrike">
                <a:solidFill>
                  <a:schemeClr val="dk1"/>
                </a:solidFill>
                <a:latin typeface="Calibri"/>
              </a:rPr>
              <a:t>c</a:t>
            </a:r>
            <a:r>
              <a:rPr b="0" lang="en-US" sz="4400" spc="-1" strike="noStrike">
                <a:solidFill>
                  <a:schemeClr val="dk1"/>
                </a:solidFill>
                <a:latin typeface="Calibri"/>
              </a:rPr>
              <a:t>k</a:t>
            </a:r>
            <a:r>
              <a:rPr b="0" lang="en-US" sz="4400" spc="-1" strike="noStrike">
                <a:solidFill>
                  <a:schemeClr val="dk1"/>
                </a:solidFill>
                <a:latin typeface="Calibri"/>
              </a:rPr>
              <a:t> </a:t>
            </a:r>
            <a:r>
              <a:rPr b="0" lang="en-US" sz="4400" spc="-1" strike="noStrike">
                <a:solidFill>
                  <a:schemeClr val="dk1"/>
                </a:solidFill>
                <a:latin typeface="Calibri"/>
              </a:rPr>
              <a:t>t</a:t>
            </a:r>
            <a:r>
              <a:rPr b="0" lang="en-US" sz="4400" spc="-1" strike="noStrike">
                <a:solidFill>
                  <a:schemeClr val="dk1"/>
                </a:solidFill>
                <a:latin typeface="Calibri"/>
              </a:rPr>
              <a:t>o</a:t>
            </a:r>
            <a:r>
              <a:rPr b="0" lang="en-US" sz="4400" spc="-1" strike="noStrike">
                <a:solidFill>
                  <a:schemeClr val="dk1"/>
                </a:solidFill>
                <a:latin typeface="Calibri"/>
              </a:rPr>
              <a:t>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a:t>
            </a:r>
            <a:r>
              <a:rPr b="0" lang="en-US" sz="4400" spc="-1" strike="noStrike">
                <a:solidFill>
                  <a:schemeClr val="dk1"/>
                </a:solidFill>
                <a:latin typeface="Calibri"/>
              </a:rPr>
              <a:t>i</a:t>
            </a:r>
            <a:r>
              <a:rPr b="0" lang="en-US" sz="4400" spc="-1" strike="noStrike">
                <a:solidFill>
                  <a:schemeClr val="dk1"/>
                </a:solidFill>
                <a:latin typeface="Calibri"/>
              </a:rPr>
              <a:t>t</a:t>
            </a:r>
            <a:r>
              <a:rPr b="0" lang="en-US" sz="4400" spc="-1" strike="noStrike">
                <a:solidFill>
                  <a:schemeClr val="dk1"/>
                </a:solidFill>
                <a:latin typeface="Calibri"/>
              </a:rPr>
              <a:t>l</a:t>
            </a:r>
            <a:r>
              <a:rPr b="0" lang="en-US" sz="4400" spc="-1" strike="noStrike">
                <a:solidFill>
                  <a:schemeClr val="dk1"/>
                </a:solidFill>
                <a:latin typeface="Calibri"/>
              </a:rPr>
              <a:t>e</a:t>
            </a:r>
            <a:r>
              <a:rPr b="0" lang="en-US" sz="4400" spc="-1" strike="noStrike">
                <a:solidFill>
                  <a:schemeClr val="dk1"/>
                </a:solidFill>
                <a:latin typeface="Calibri"/>
              </a:rPr>
              <a:t>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688253D-41D4-48C8-B43D-2D87AB7EE5F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ti</a:t>
            </a:r>
            <a:r>
              <a:rPr b="0" lang="en-US" sz="4400" spc="-1" strike="noStrike">
                <a:solidFill>
                  <a:schemeClr val="dk1"/>
                </a:solidFill>
                <a:latin typeface="Calibri"/>
              </a:rPr>
              <a:t>tl</a:t>
            </a:r>
            <a:r>
              <a:rPr b="0" lang="en-US" sz="4400" spc="-1" strike="noStrike">
                <a:solidFill>
                  <a:schemeClr val="dk1"/>
                </a:solidFill>
                <a:latin typeface="Calibri"/>
              </a:rPr>
              <a:t>e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EE31729-175B-492B-920D-66949169D15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B459CDE-0D8E-415E-9A7A-825CEA9FFAF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a:t>
            </a:r>
            <a:r>
              <a:rPr b="1" lang="en-US" sz="4000" spc="-1" strike="noStrike" cap="all">
                <a:solidFill>
                  <a:schemeClr val="dk1"/>
                </a:solidFill>
                <a:latin typeface="Calibri"/>
              </a:rPr>
              <a:t>to </a:t>
            </a:r>
            <a:r>
              <a:rPr b="1" lang="en-US" sz="4000" spc="-1" strike="noStrike" cap="all">
                <a:solidFill>
                  <a:schemeClr val="dk1"/>
                </a:solidFill>
                <a:latin typeface="Calibri"/>
              </a:rPr>
              <a:t>edit </a:t>
            </a:r>
            <a:r>
              <a:rPr b="1" lang="en-US" sz="4000" spc="-1" strike="noStrike" cap="all">
                <a:solidFill>
                  <a:schemeClr val="dk1"/>
                </a:solidFill>
                <a:latin typeface="Calibri"/>
              </a:rPr>
              <a:t>Mast</a:t>
            </a:r>
            <a:r>
              <a:rPr b="1" lang="en-US" sz="4000" spc="-1" strike="noStrike" cap="all">
                <a:solidFill>
                  <a:schemeClr val="dk1"/>
                </a:solidFill>
                <a:latin typeface="Calibri"/>
              </a:rPr>
              <a:t>er </a:t>
            </a:r>
            <a:r>
              <a:rPr b="1" lang="en-US" sz="4000" spc="-1" strike="noStrike" cap="all">
                <a:solidFill>
                  <a:schemeClr val="dk1"/>
                </a:solidFill>
                <a:latin typeface="Calibri"/>
              </a:rPr>
              <a:t>title </a:t>
            </a:r>
            <a:r>
              <a:rPr b="1" lang="en-US" sz="4000" spc="-1" strike="noStrike" cap="all">
                <a:solidFill>
                  <a:schemeClr val="dk1"/>
                </a:solidFill>
                <a:latin typeface="Calibri"/>
              </a:rPr>
              <a:t>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75A12E4-6E43-4DE7-9CE4-3FB80131D46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a:t>
            </a:r>
            <a:r>
              <a:rPr b="0" lang="en-US" sz="4400" spc="-1" strike="noStrike">
                <a:solidFill>
                  <a:schemeClr val="dk1"/>
                </a:solidFill>
                <a:latin typeface="Calibri"/>
              </a:rPr>
              <a:t>to </a:t>
            </a:r>
            <a:r>
              <a:rPr b="0" lang="en-US" sz="4400" spc="-1" strike="noStrike">
                <a:solidFill>
                  <a:schemeClr val="dk1"/>
                </a:solidFill>
                <a:latin typeface="Calibri"/>
              </a:rPr>
              <a:t>edit </a:t>
            </a:r>
            <a:r>
              <a:rPr b="0" lang="en-US" sz="4400" spc="-1" strike="noStrike">
                <a:solidFill>
                  <a:schemeClr val="dk1"/>
                </a:solidFill>
                <a:latin typeface="Calibri"/>
              </a:rPr>
              <a:t>Mast</a:t>
            </a:r>
            <a:r>
              <a:rPr b="0" lang="en-US" sz="4400" spc="-1" strike="noStrike">
                <a:solidFill>
                  <a:schemeClr val="dk1"/>
                </a:solidFill>
                <a:latin typeface="Calibri"/>
              </a:rPr>
              <a: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433869E-2D7A-4A6D-BF35-B858BAA09D3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a:t>
            </a:r>
            <a:r>
              <a:rPr b="0" lang="en-US" sz="4400" spc="-1" strike="noStrike">
                <a:solidFill>
                  <a:schemeClr val="dk1"/>
                </a:solidFill>
                <a:latin typeface="Calibri"/>
              </a:rPr>
              <a:t>to </a:t>
            </a:r>
            <a:r>
              <a:rPr b="0" lang="en-US" sz="4400" spc="-1" strike="noStrike">
                <a:solidFill>
                  <a:schemeClr val="dk1"/>
                </a:solidFill>
                <a:latin typeface="Calibri"/>
              </a:rPr>
              <a:t>edit </a:t>
            </a:r>
            <a:r>
              <a:rPr b="0" lang="en-US" sz="4400" spc="-1" strike="noStrike">
                <a:solidFill>
                  <a:schemeClr val="dk1"/>
                </a:solidFill>
                <a:latin typeface="Calibri"/>
              </a:rPr>
              <a:t>Mast</a:t>
            </a:r>
            <a:r>
              <a:rPr b="0" lang="en-US" sz="4400" spc="-1" strike="noStrike">
                <a:solidFill>
                  <a:schemeClr val="dk1"/>
                </a:solidFill>
                <a:latin typeface="Calibri"/>
              </a:rPr>
              <a: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2882AB3-250A-461C-BCB4-4F48B122235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a:t>
            </a:r>
            <a:r>
              <a:rPr b="0" lang="en-US" sz="4400" spc="-1" strike="noStrike">
                <a:solidFill>
                  <a:schemeClr val="dk1"/>
                </a:solidFill>
                <a:latin typeface="Calibri"/>
              </a:rPr>
              <a:t>to </a:t>
            </a:r>
            <a:r>
              <a:rPr b="0" lang="en-US" sz="4400" spc="-1" strike="noStrike">
                <a:solidFill>
                  <a:schemeClr val="dk1"/>
                </a:solidFill>
                <a:latin typeface="Calibri"/>
              </a:rPr>
              <a:t>edit </a:t>
            </a:r>
            <a:r>
              <a:rPr b="0" lang="en-US" sz="4400" spc="-1" strike="noStrike">
                <a:solidFill>
                  <a:schemeClr val="dk1"/>
                </a:solidFill>
                <a:latin typeface="Calibri"/>
              </a:rPr>
              <a:t>Mast</a:t>
            </a:r>
            <a:r>
              <a:rPr b="0" lang="en-US" sz="4400" spc="-1" strike="noStrike">
                <a:solidFill>
                  <a:schemeClr val="dk1"/>
                </a:solidFill>
                <a:latin typeface="Calibri"/>
              </a:rPr>
              <a: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F4C814C-F992-4471-B437-96B0EE47757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ADE4707-4407-4782-934E-1C9226771E6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a:t>
            </a:r>
            <a:r>
              <a:rPr b="0" lang="en-US" sz="1800" spc="-1" strike="noStrike">
                <a:solidFill>
                  <a:schemeClr val="dk1"/>
                </a:solidFill>
                <a:latin typeface="Calibri"/>
              </a:rPr>
              <a:t>edit the </a:t>
            </a:r>
            <a:r>
              <a:rPr b="0" lang="en-US" sz="1800" spc="-1" strike="noStrike">
                <a:solidFill>
                  <a:schemeClr val="dk1"/>
                </a:solidFill>
                <a:latin typeface="Calibri"/>
              </a:rPr>
              <a:t>title text </a:t>
            </a:r>
            <a:r>
              <a:rPr b="0" lang="en-US" sz="1800" spc="-1" strike="noStrike">
                <a:solidFill>
                  <a:schemeClr val="dk1"/>
                </a:solidFill>
                <a:latin typeface="Calibri"/>
              </a:rPr>
              <a:t>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1047691-CF9D-4B95-BFC1-4BD0AA1B3E0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8E51B0F-B1FC-407A-A615-9B54DBEA559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0b122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8" name="Oval 2"/>
          <p:cNvSpPr/>
          <p:nvPr/>
        </p:nvSpPr>
        <p:spPr>
          <a:xfrm>
            <a:off x="7680960" y="-1737360"/>
            <a:ext cx="6766200" cy="6766200"/>
          </a:xfrm>
          <a:prstGeom prst="ellipse">
            <a:avLst/>
          </a:prstGeom>
          <a:solidFill>
            <a:srgbClr val="2563eb">
              <a:alpha val="18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 name="Oval 3"/>
          <p:cNvSpPr/>
          <p:nvPr/>
        </p:nvSpPr>
        <p:spPr>
          <a:xfrm>
            <a:off x="9509760" y="3291840"/>
            <a:ext cx="5120280" cy="5120280"/>
          </a:xfrm>
          <a:prstGeom prst="ellipse">
            <a:avLst/>
          </a:prstGeom>
          <a:solidFill>
            <a:srgbClr val="06b6d4">
              <a:alpha val="12000"/>
            </a:srgbClr>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0" name="Rectangle 4"/>
          <p:cNvSpPr/>
          <p:nvPr/>
        </p:nvSpPr>
        <p:spPr>
          <a:xfrm>
            <a:off x="0" y="0"/>
            <a:ext cx="12191400" cy="9108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 name="Rectangle 5"/>
          <p:cNvSpPr/>
          <p:nvPr/>
        </p:nvSpPr>
        <p:spPr>
          <a:xfrm>
            <a:off x="0" y="91440"/>
            <a:ext cx="2925720" cy="9108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 name="TextBox 6"/>
          <p:cNvSpPr/>
          <p:nvPr/>
        </p:nvSpPr>
        <p:spPr>
          <a:xfrm>
            <a:off x="567000" y="1417320"/>
            <a:ext cx="859500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06b6d4"/>
                </a:solidFill>
                <a:latin typeface="Calibri"/>
              </a:rPr>
              <a:t>PRODUCT BRIEF  </a:t>
            </a:r>
            <a:endParaRPr b="0" lang="en-US" sz="1050" spc="-1" strike="noStrike">
              <a:solidFill>
                <a:srgbClr val="000000"/>
              </a:solidFill>
              <a:latin typeface="Arial"/>
            </a:endParaRPr>
          </a:p>
        </p:txBody>
      </p:sp>
      <p:sp>
        <p:nvSpPr>
          <p:cNvPr id="73" name="TextBox 7"/>
          <p:cNvSpPr/>
          <p:nvPr/>
        </p:nvSpPr>
        <p:spPr>
          <a:xfrm>
            <a:off x="567000" y="1874520"/>
            <a:ext cx="9509400" cy="116352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400"/>
              </a:spcAft>
            </a:pPr>
            <a:r>
              <a:rPr b="1" lang="en-US" sz="5400" spc="-1" strike="noStrike">
                <a:solidFill>
                  <a:srgbClr val="ffffff"/>
                </a:solidFill>
                <a:latin typeface="Calibri"/>
              </a:rPr>
              <a:t>DonorDesk</a:t>
            </a:r>
            <a:endParaRPr b="0" lang="en-US" sz="5400" spc="-1" strike="noStrike">
              <a:solidFill>
                <a:srgbClr val="000000"/>
              </a:solidFill>
              <a:latin typeface="Arial"/>
            </a:endParaRPr>
          </a:p>
          <a:p>
            <a:pPr defTabSz="457200">
              <a:lnSpc>
                <a:spcPct val="100000"/>
              </a:lnSpc>
            </a:pPr>
            <a:r>
              <a:rPr b="0" lang="en-US" sz="1900" spc="-1" strike="noStrike">
                <a:solidFill>
                  <a:srgbClr val="cbd5e1"/>
                </a:solidFill>
                <a:latin typeface="Calibri"/>
              </a:rPr>
              <a:t>AI-powered donor reporting and evidence compliance platform</a:t>
            </a:r>
            <a:endParaRPr b="0" lang="en-US" sz="1900" spc="-1" strike="noStrike">
              <a:solidFill>
                <a:srgbClr val="000000"/>
              </a:solidFill>
              <a:latin typeface="Arial"/>
            </a:endParaRPr>
          </a:p>
        </p:txBody>
      </p:sp>
      <p:sp>
        <p:nvSpPr>
          <p:cNvPr id="74" name="Rectangle 8"/>
          <p:cNvSpPr/>
          <p:nvPr/>
        </p:nvSpPr>
        <p:spPr>
          <a:xfrm>
            <a:off x="567000" y="3611880"/>
            <a:ext cx="182844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75" name="TextBox 9"/>
          <p:cNvSpPr/>
          <p:nvPr/>
        </p:nvSpPr>
        <p:spPr>
          <a:xfrm>
            <a:off x="567000" y="3858840"/>
            <a:ext cx="8777880" cy="7084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601"/>
              </a:spcAft>
            </a:pPr>
            <a:r>
              <a:rPr b="1" lang="en-US" sz="1500" spc="-1" strike="noStrike">
                <a:solidFill>
                  <a:srgbClr val="ffffff"/>
                </a:solidFill>
                <a:latin typeface="Calibri"/>
              </a:rPr>
              <a:t>From messy field evidence to donor-ready reports and compliance-ready documentation.</a:t>
            </a:r>
            <a:endParaRPr b="0" lang="en-US" sz="1500" spc="-1" strike="noStrike">
              <a:solidFill>
                <a:srgbClr val="000000"/>
              </a:solidFill>
              <a:latin typeface="Arial"/>
            </a:endParaRPr>
          </a:p>
          <a:p>
            <a:pPr defTabSz="457200">
              <a:lnSpc>
                <a:spcPct val="115000"/>
              </a:lnSpc>
            </a:pPr>
            <a:r>
              <a:rPr b="0" lang="en-US" sz="1150" spc="-1" strike="noStrike">
                <a:solidFill>
                  <a:srgbClr val="94a3b8"/>
                </a:solidFill>
                <a:latin typeface="Calibri"/>
              </a:rPr>
              <a:t>Turning scattered field updates, log-frames, indicator data and donor templates into source-linked reports and audit-ready evidence packs — with humans holding the approve button.</a:t>
            </a:r>
            <a:endParaRPr b="0" lang="en-US" sz="1150" spc="-1" strike="noStrike">
              <a:solidFill>
                <a:srgbClr val="000000"/>
              </a:solidFill>
              <a:latin typeface="Arial"/>
            </a:endParaRPr>
          </a:p>
        </p:txBody>
      </p:sp>
      <p:sp>
        <p:nvSpPr>
          <p:cNvPr id="76" name="Rounded Rectangle 10"/>
          <p:cNvSpPr/>
          <p:nvPr/>
        </p:nvSpPr>
        <p:spPr>
          <a:xfrm>
            <a:off x="567000" y="5175360"/>
            <a:ext cx="1467360" cy="328680"/>
          </a:xfrm>
          <a:prstGeom prst="roundRect">
            <a:avLst>
              <a:gd name="adj" fmla="val 45000"/>
            </a:avLst>
          </a:prstGeom>
          <a:solidFill>
            <a:srgbClr val="16213a"/>
          </a:solidFill>
          <a:ln w="1270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0" bIns="0" anchor="ctr">
            <a:noAutofit/>
          </a:bodyPr>
          <a:p>
            <a:pPr algn="ctr" defTabSz="457200">
              <a:lnSpc>
                <a:spcPct val="100000"/>
              </a:lnSpc>
              <a:spcAft>
                <a:spcPts val="201"/>
              </a:spcAft>
            </a:pPr>
            <a:r>
              <a:rPr b="1" lang="en-US" sz="1050" spc="-1" strike="noStrike">
                <a:solidFill>
                  <a:srgbClr val="06b6d4"/>
                </a:solidFill>
                <a:latin typeface="Calibri"/>
              </a:rPr>
              <a:t>Version 2.0</a:t>
            </a:r>
            <a:endParaRPr b="0" lang="en-US" sz="1050" spc="-1" strike="noStrike">
              <a:solidFill>
                <a:srgbClr val="ffffff"/>
              </a:solidFill>
              <a:latin typeface="Arial"/>
            </a:endParaRPr>
          </a:p>
        </p:txBody>
      </p:sp>
      <p:sp>
        <p:nvSpPr>
          <p:cNvPr id="77" name="Rounded Rectangle 11"/>
          <p:cNvSpPr/>
          <p:nvPr/>
        </p:nvSpPr>
        <p:spPr>
          <a:xfrm>
            <a:off x="2180880" y="5175360"/>
            <a:ext cx="1572480" cy="328680"/>
          </a:xfrm>
          <a:prstGeom prst="roundRect">
            <a:avLst>
              <a:gd name="adj" fmla="val 45000"/>
            </a:avLst>
          </a:prstGeom>
          <a:solidFill>
            <a:srgbClr val="16213a"/>
          </a:solidFill>
          <a:ln w="1270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0" bIns="0" anchor="ctr">
            <a:noAutofit/>
          </a:bodyPr>
          <a:p>
            <a:pPr algn="ctr" defTabSz="457200">
              <a:lnSpc>
                <a:spcPct val="100000"/>
              </a:lnSpc>
              <a:spcAft>
                <a:spcPts val="201"/>
              </a:spcAft>
            </a:pPr>
            <a:r>
              <a:rPr b="1" lang="en-US" sz="1050" spc="-1" strike="noStrike">
                <a:solidFill>
                  <a:srgbClr val="2563eb"/>
                </a:solidFill>
                <a:latin typeface="Calibri"/>
              </a:rPr>
              <a:t>Agent Memory</a:t>
            </a:r>
            <a:endParaRPr b="0" lang="en-US" sz="1050" spc="-1" strike="noStrike">
              <a:solidFill>
                <a:srgbClr val="ffffff"/>
              </a:solidFill>
              <a:latin typeface="Arial"/>
            </a:endParaRPr>
          </a:p>
        </p:txBody>
      </p:sp>
      <p:sp>
        <p:nvSpPr>
          <p:cNvPr id="78" name="Rounded Rectangle 12"/>
          <p:cNvSpPr/>
          <p:nvPr/>
        </p:nvSpPr>
        <p:spPr>
          <a:xfrm>
            <a:off x="3899880" y="5175360"/>
            <a:ext cx="1467360" cy="328680"/>
          </a:xfrm>
          <a:prstGeom prst="roundRect">
            <a:avLst>
              <a:gd name="adj" fmla="val 45000"/>
            </a:avLst>
          </a:prstGeom>
          <a:solidFill>
            <a:srgbClr val="16213a"/>
          </a:solidFill>
          <a:ln w="12700">
            <a:solidFill>
              <a:srgbClr val="7c3ae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0" bIns="0" anchor="ctr">
            <a:noAutofit/>
          </a:bodyPr>
          <a:p>
            <a:pPr algn="ctr" defTabSz="457200">
              <a:lnSpc>
                <a:spcPct val="100000"/>
              </a:lnSpc>
              <a:spcAft>
                <a:spcPts val="201"/>
              </a:spcAft>
            </a:pPr>
            <a:r>
              <a:rPr b="1" lang="en-US" sz="1050" spc="-1" strike="noStrike">
                <a:solidFill>
                  <a:srgbClr val="7c3aed"/>
                </a:solidFill>
                <a:latin typeface="Calibri"/>
              </a:rPr>
              <a:t>21 features</a:t>
            </a:r>
            <a:endParaRPr b="0" lang="en-US" sz="1050" spc="-1" strike="noStrike">
              <a:solidFill>
                <a:srgbClr val="ffffff"/>
              </a:solidFill>
              <a:latin typeface="Arial"/>
            </a:endParaRPr>
          </a:p>
        </p:txBody>
      </p:sp>
      <p:sp>
        <p:nvSpPr>
          <p:cNvPr id="79" name="Rounded Rectangle 13"/>
          <p:cNvSpPr/>
          <p:nvPr/>
        </p:nvSpPr>
        <p:spPr>
          <a:xfrm>
            <a:off x="5513760" y="5175360"/>
            <a:ext cx="2098080" cy="328680"/>
          </a:xfrm>
          <a:prstGeom prst="roundRect">
            <a:avLst>
              <a:gd name="adj" fmla="val 45000"/>
            </a:avLst>
          </a:prstGeom>
          <a:solidFill>
            <a:srgbClr val="16213a"/>
          </a:solidFill>
          <a:ln w="12700">
            <a:solidFill>
              <a:srgbClr val="0596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0" bIns="0" anchor="ctr">
            <a:noAutofit/>
          </a:bodyPr>
          <a:p>
            <a:pPr algn="ctr" defTabSz="457200">
              <a:lnSpc>
                <a:spcPct val="100000"/>
              </a:lnSpc>
              <a:spcAft>
                <a:spcPts val="201"/>
              </a:spcAft>
            </a:pPr>
            <a:r>
              <a:rPr b="1" lang="en-US" sz="1050" spc="-1" strike="noStrike">
                <a:solidFill>
                  <a:srgbClr val="059669"/>
                </a:solidFill>
                <a:latin typeface="Calibri"/>
              </a:rPr>
              <a:t>Multi-tenant SaaS</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AGENDA</a:t>
            </a:r>
            <a:endParaRPr b="0" lang="en-US" sz="950" spc="-1" strike="noStrike">
              <a:solidFill>
                <a:srgbClr val="000000"/>
              </a:solidFill>
              <a:latin typeface="Arial"/>
            </a:endParaRPr>
          </a:p>
        </p:txBody>
      </p:sp>
      <p:sp>
        <p:nvSpPr>
          <p:cNvPr id="81"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What this deck covers</a:t>
            </a:r>
            <a:endParaRPr b="0" lang="en-US" sz="2300" spc="-1" strike="noStrike">
              <a:solidFill>
                <a:srgbClr val="000000"/>
              </a:solidFill>
              <a:latin typeface="Arial"/>
            </a:endParaRPr>
          </a:p>
        </p:txBody>
      </p:sp>
      <p:sp>
        <p:nvSpPr>
          <p:cNvPr id="82"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83"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84"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20 slides · problem → product → platform → Version 2.0 → operations</a:t>
            </a:r>
            <a:endParaRPr b="0" lang="en-US" sz="900" spc="-1" strike="noStrike">
              <a:solidFill>
                <a:srgbClr val="000000"/>
              </a:solidFill>
              <a:latin typeface="Arial"/>
            </a:endParaRPr>
          </a:p>
        </p:txBody>
      </p:sp>
      <p:sp>
        <p:nvSpPr>
          <p:cNvPr id="85"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2 / 20</a:t>
            </a:r>
            <a:endParaRPr b="0" lang="en-US" sz="900" spc="-1" strike="noStrike">
              <a:solidFill>
                <a:srgbClr val="000000"/>
              </a:solidFill>
              <a:latin typeface="Arial"/>
            </a:endParaRPr>
          </a:p>
        </p:txBody>
      </p:sp>
      <p:sp>
        <p:nvSpPr>
          <p:cNvPr id="86" name="Rounded Rectangle 7"/>
          <p:cNvSpPr/>
          <p:nvPr/>
        </p:nvSpPr>
        <p:spPr>
          <a:xfrm>
            <a:off x="56700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01  The opportunity</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3  The reporting problem</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4  The DonorDesk solution</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5  Who it is for</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6  Core concepts and vocabulary</a:t>
            </a:r>
            <a:endParaRPr b="0" lang="en-US" sz="1050" spc="-1" strike="noStrike">
              <a:solidFill>
                <a:srgbClr val="000000"/>
              </a:solidFill>
              <a:latin typeface="Arial"/>
            </a:endParaRPr>
          </a:p>
        </p:txBody>
      </p:sp>
      <p:sp>
        <p:nvSpPr>
          <p:cNvPr id="87" name="Rounded Rectangle 8"/>
          <p:cNvSpPr/>
          <p:nvPr/>
        </p:nvSpPr>
        <p:spPr>
          <a:xfrm>
            <a:off x="567000" y="1298520"/>
            <a:ext cx="50040" cy="237708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 name="Rounded Rectangle 9"/>
          <p:cNvSpPr/>
          <p:nvPr/>
        </p:nvSpPr>
        <p:spPr>
          <a:xfrm>
            <a:off x="431388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02  Product surface</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7  End-to-end workflow</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8  Foundation features (01–05, 18)</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9  Delivery features (06–17)</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10  Report sections as a fixed markdown subset</a:t>
            </a:r>
            <a:endParaRPr b="0" lang="en-US" sz="1050" spc="-1" strike="noStrike">
              <a:solidFill>
                <a:srgbClr val="000000"/>
              </a:solidFill>
              <a:latin typeface="Arial"/>
            </a:endParaRPr>
          </a:p>
        </p:txBody>
      </p:sp>
      <p:sp>
        <p:nvSpPr>
          <p:cNvPr id="89" name="Rounded Rectangle 10"/>
          <p:cNvSpPr/>
          <p:nvPr/>
        </p:nvSpPr>
        <p:spPr>
          <a:xfrm>
            <a:off x="4313880" y="1298520"/>
            <a:ext cx="50040" cy="237708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 name="Rounded Rectangle 11"/>
          <p:cNvSpPr/>
          <p:nvPr/>
        </p:nvSpPr>
        <p:spPr>
          <a:xfrm>
            <a:off x="806076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03  Architecture</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11  Hexagonal monorepo and bounded contexts</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12  Tech stack and platform choices</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13  Multi-tenancy, security, threat model</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14  Deployment topology on Contabo</a:t>
            </a:r>
            <a:endParaRPr b="0" lang="en-US" sz="1050" spc="-1" strike="noStrike">
              <a:solidFill>
                <a:srgbClr val="000000"/>
              </a:solidFill>
              <a:latin typeface="Arial"/>
            </a:endParaRPr>
          </a:p>
        </p:txBody>
      </p:sp>
      <p:sp>
        <p:nvSpPr>
          <p:cNvPr id="91" name="Rounded Rectangle 12"/>
          <p:cNvSpPr/>
          <p:nvPr/>
        </p:nvSpPr>
        <p:spPr>
          <a:xfrm>
            <a:off x="8060760" y="1298520"/>
            <a:ext cx="50040" cy="237708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Rounded Rectangle 13"/>
          <p:cNvSpPr/>
          <p:nvPr/>
        </p:nvSpPr>
        <p:spPr>
          <a:xfrm>
            <a:off x="56700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04  The AI layer</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15  AI Reporter: deterministic core, LLM prose</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16  Assurance: revisions, verifier, snapshots</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17  Compliance, readiness score, review</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18  Exports and donor-native rendering</a:t>
            </a:r>
            <a:endParaRPr b="0" lang="en-US" sz="1050" spc="-1" strike="noStrike">
              <a:solidFill>
                <a:srgbClr val="000000"/>
              </a:solidFill>
              <a:latin typeface="Arial"/>
            </a:endParaRPr>
          </a:p>
        </p:txBody>
      </p:sp>
      <p:sp>
        <p:nvSpPr>
          <p:cNvPr id="93" name="Rounded Rectangle 14"/>
          <p:cNvSpPr/>
          <p:nvPr/>
        </p:nvSpPr>
        <p:spPr>
          <a:xfrm>
            <a:off x="567000" y="3858840"/>
            <a:ext cx="50040" cy="237708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 name="Rounded Rectangle 15"/>
          <p:cNvSpPr/>
          <p:nvPr/>
        </p:nvSpPr>
        <p:spPr>
          <a:xfrm>
            <a:off x="431388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05  Version 2.0</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19  Agent Memory — learning reviewer style</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Slide 20  Guardrails, business model, control plane, roadmap</a:t>
            </a:r>
            <a:endParaRPr b="0" lang="en-US" sz="1050" spc="-1" strike="noStrike">
              <a:solidFill>
                <a:srgbClr val="000000"/>
              </a:solidFill>
              <a:latin typeface="Arial"/>
            </a:endParaRPr>
          </a:p>
        </p:txBody>
      </p:sp>
      <p:sp>
        <p:nvSpPr>
          <p:cNvPr id="95" name="Rounded Rectangle 16"/>
          <p:cNvSpPr/>
          <p:nvPr/>
        </p:nvSpPr>
        <p:spPr>
          <a:xfrm>
            <a:off x="4313880" y="3858840"/>
            <a:ext cx="50040" cy="237708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 name="Rounded Rectangle 17"/>
          <p:cNvSpPr/>
          <p:nvPr/>
        </p:nvSpPr>
        <p:spPr>
          <a:xfrm>
            <a:off x="806076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  </a:t>
            </a:r>
            <a:r>
              <a:rPr b="1" lang="en-US" sz="1300" spc="-1" strike="noStrike">
                <a:solidFill>
                  <a:srgbClr val="0f172a"/>
                </a:solidFill>
                <a:latin typeface="Calibri"/>
              </a:rPr>
              <a:t>How to read this deck</a:t>
            </a:r>
            <a:endParaRPr b="0" lang="en-US" sz="130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Every claim is traceable to a memorybank document.</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ADRs 0001–0009 record the load-bearing decisions.</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Feature numbers match memorybank/Features/.</a:t>
            </a:r>
            <a:endParaRPr b="0" lang="en-US" sz="1050" spc="-1" strike="noStrike">
              <a:solidFill>
                <a:srgbClr val="000000"/>
              </a:solidFill>
              <a:latin typeface="Arial"/>
            </a:endParaRPr>
          </a:p>
          <a:p>
            <a:pPr defTabSz="457200">
              <a:lnSpc>
                <a:spcPct val="102000"/>
              </a:lnSpc>
              <a:spcAft>
                <a:spcPts val="300"/>
              </a:spcAft>
            </a:pPr>
            <a:r>
              <a:rPr b="0" lang="en-US" sz="1050" spc="-1" strike="noStrike">
                <a:solidFill>
                  <a:srgbClr val="334155"/>
                </a:solidFill>
                <a:latin typeface="Calibri"/>
              </a:rPr>
              <a:t>Where something is partial or gated, the slide says so.</a:t>
            </a:r>
            <a:endParaRPr b="0" lang="en-US" sz="1050" spc="-1" strike="noStrike">
              <a:solidFill>
                <a:srgbClr val="000000"/>
              </a:solidFill>
              <a:latin typeface="Arial"/>
            </a:endParaRPr>
          </a:p>
        </p:txBody>
      </p:sp>
      <p:sp>
        <p:nvSpPr>
          <p:cNvPr id="97" name="Rounded Rectangle 18"/>
          <p:cNvSpPr/>
          <p:nvPr/>
        </p:nvSpPr>
        <p:spPr>
          <a:xfrm>
            <a:off x="8060760" y="3858840"/>
            <a:ext cx="50040" cy="2377080"/>
          </a:xfrm>
          <a:prstGeom prst="roundRect">
            <a:avLst>
              <a:gd name="adj" fmla="val 3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THE PROBLEM</a:t>
            </a:r>
            <a:endParaRPr b="0" lang="en-US" sz="950" spc="-1" strike="noStrike">
              <a:solidFill>
                <a:srgbClr val="000000"/>
              </a:solidFill>
              <a:latin typeface="Arial"/>
            </a:endParaRPr>
          </a:p>
        </p:txBody>
      </p:sp>
      <p:sp>
        <p:nvSpPr>
          <p:cNvPr id="99"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NGO reporting is still manual, scattered and reactive</a:t>
            </a:r>
            <a:endParaRPr b="0" lang="en-US" sz="2300" spc="-1" strike="noStrike">
              <a:solidFill>
                <a:srgbClr val="000000"/>
              </a:solidFill>
              <a:latin typeface="Arial"/>
            </a:endParaRPr>
          </a:p>
        </p:txBody>
      </p:sp>
      <p:sp>
        <p:nvSpPr>
          <p:cNvPr id="100"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1"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2"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base/DonorDesk — One-Page Concept Note for Approval.md · docs/support/basic-information/what-is-donordesk.md</a:t>
            </a:r>
            <a:endParaRPr b="0" lang="en-US" sz="900" spc="-1" strike="noStrike">
              <a:solidFill>
                <a:srgbClr val="000000"/>
              </a:solidFill>
              <a:latin typeface="Arial"/>
            </a:endParaRPr>
          </a:p>
        </p:txBody>
      </p:sp>
      <p:sp>
        <p:nvSpPr>
          <p:cNvPr id="103"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3 / 20</a:t>
            </a:r>
            <a:endParaRPr b="0" lang="en-US" sz="900" spc="-1" strike="noStrike">
              <a:solidFill>
                <a:srgbClr val="000000"/>
              </a:solidFill>
              <a:latin typeface="Arial"/>
            </a:endParaRPr>
          </a:p>
        </p:txBody>
      </p:sp>
      <p:sp>
        <p:nvSpPr>
          <p:cNvPr id="104" name="TextBox 7"/>
          <p:cNvSpPr/>
          <p:nvPr/>
        </p:nvSpPr>
        <p:spPr>
          <a:xfrm>
            <a:off x="567000" y="1298520"/>
            <a:ext cx="6720480" cy="337356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Reports take too long to prepare — a mix of Excel, Word, WhatsApp, email, Google Drive, Kobo/ODK exports and paper records.</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Evidence is scattered across folders and devices, so it is hard to find and harder to verify.</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Indicator achievements are not linked to proof — the claimed number and the attendance sheet live in different worlds.</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Donor templates are reformatted by hand every reporting cycle.</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Missing annexes and required documents are discovered too late — often the week of the deadline.</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Audit preparation becomes stressful and reactive rather than continuous.</a:t>
            </a:r>
            <a:endParaRPr b="0" lang="en-US" sz="1400" spc="-1" strike="noStrike">
              <a:solidFill>
                <a:srgbClr val="000000"/>
              </a:solidFill>
              <a:latin typeface="Arial"/>
            </a:endParaRPr>
          </a:p>
          <a:p>
            <a:pPr defTabSz="457200">
              <a:lnSpc>
                <a:spcPct val="105000"/>
              </a:lnSpc>
              <a:spcAft>
                <a:spcPts val="901"/>
              </a:spcAft>
            </a:pPr>
            <a:r>
              <a:rPr b="1" lang="en-US" sz="1400" spc="-1" strike="noStrike">
                <a:solidFill>
                  <a:srgbClr val="2563eb"/>
                </a:solidFill>
                <a:latin typeface="Calibri"/>
              </a:rPr>
              <a:t>▪  </a:t>
            </a:r>
            <a:r>
              <a:rPr b="0" lang="en-US" sz="1400" spc="-1" strike="noStrike">
                <a:solidFill>
                  <a:srgbClr val="334155"/>
                </a:solidFill>
                <a:latin typeface="Calibri"/>
              </a:rPr>
              <a:t>Institutional knowledge is lost when staff change; the next grants officer starts from zero.</a:t>
            </a:r>
            <a:endParaRPr b="0" lang="en-US" sz="1400" spc="-1" strike="noStrike">
              <a:solidFill>
                <a:srgbClr val="000000"/>
              </a:solidFill>
              <a:latin typeface="Arial"/>
            </a:endParaRPr>
          </a:p>
        </p:txBody>
      </p:sp>
      <p:sp>
        <p:nvSpPr>
          <p:cNvPr id="105" name="Rounded Rectangle 8"/>
          <p:cNvSpPr/>
          <p:nvPr/>
        </p:nvSpPr>
        <p:spPr>
          <a:xfrm>
            <a:off x="7543800" y="1298520"/>
            <a:ext cx="4080600" cy="4937400"/>
          </a:xfrm>
          <a:prstGeom prst="roundRect">
            <a:avLst>
              <a:gd name="adj" fmla="val 6000"/>
            </a:avLst>
          </a:prstGeom>
          <a:solidFill>
            <a:srgbClr val="fef2f2"/>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Where that lands</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Delayed submissions</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Reports slip past the donor deadline and start the next cycle in deficit.</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Weak evidence trails</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Claims in the narrative cannot be traced back to the exact file that proves them.</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Donor dissatisfaction and compliance risk</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Missing annexes, unverified indicators and unsupported claims surface as findings or audit observations.</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Reporting stress</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The team rewrites instead of reviewing; quality depends on who is on leave.</a:t>
            </a:r>
            <a:endParaRPr b="0" lang="en-US" sz="1200" spc="-1" strike="noStrike">
              <a:solidFill>
                <a:srgbClr val="000000"/>
              </a:solidFill>
              <a:latin typeface="Arial"/>
            </a:endParaRPr>
          </a:p>
        </p:txBody>
      </p:sp>
      <p:sp>
        <p:nvSpPr>
          <p:cNvPr id="106" name="Rounded Rectangle 9"/>
          <p:cNvSpPr/>
          <p:nvPr/>
        </p:nvSpPr>
        <p:spPr>
          <a:xfrm>
            <a:off x="7543800" y="1298520"/>
            <a:ext cx="4080600" cy="45360"/>
          </a:xfrm>
          <a:prstGeom prst="roundRect">
            <a:avLst>
              <a:gd name="adj" fmla="val 30000"/>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107" name="Rounded Rectangle 10"/>
          <p:cNvSpPr/>
          <p:nvPr/>
        </p:nvSpPr>
        <p:spPr>
          <a:xfrm>
            <a:off x="567000" y="5139000"/>
            <a:ext cx="11057400" cy="868320"/>
          </a:xfrm>
          <a:prstGeom prst="roundRect">
            <a:avLst>
              <a:gd name="adj" fmla="val 60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19600" rIns="182880" tIns="45000" bIns="45000" anchor="ctr">
            <a:noAutofit/>
          </a:bodyPr>
          <a:p>
            <a:pPr defTabSz="457200">
              <a:lnSpc>
                <a:spcPct val="105000"/>
              </a:lnSpc>
            </a:pPr>
            <a:r>
              <a:rPr b="1" lang="en-US" sz="1350" spc="-1" strike="noStrike">
                <a:solidFill>
                  <a:srgbClr val="ffffff"/>
                </a:solidFill>
                <a:latin typeface="Calibri"/>
              </a:rPr>
              <a:t>Generic AI tools can write text — but they cannot prove whether a donor report is supported by the right evidence.</a:t>
            </a:r>
            <a:endParaRPr b="0" lang="en-US" sz="1350" spc="-1" strike="noStrike">
              <a:solidFill>
                <a:srgbClr val="ffffff"/>
              </a:solidFill>
              <a:latin typeface="Arial"/>
            </a:endParaRPr>
          </a:p>
        </p:txBody>
      </p:sp>
      <p:sp>
        <p:nvSpPr>
          <p:cNvPr id="108" name="Rectangle 11"/>
          <p:cNvSpPr/>
          <p:nvPr/>
        </p:nvSpPr>
        <p:spPr>
          <a:xfrm>
            <a:off x="567000" y="5139000"/>
            <a:ext cx="63720" cy="86832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THE SOLUTION</a:t>
            </a:r>
            <a:endParaRPr b="0" lang="en-US" sz="950" spc="-1" strike="noStrike">
              <a:solidFill>
                <a:srgbClr val="000000"/>
              </a:solidFill>
              <a:latin typeface="Arial"/>
            </a:endParaRPr>
          </a:p>
        </p:txBody>
      </p:sp>
      <p:sp>
        <p:nvSpPr>
          <p:cNvPr id="110"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One workspace for reporting, evidence and compliance</a:t>
            </a:r>
            <a:endParaRPr b="0" lang="en-US" sz="2300" spc="-1" strike="noStrike">
              <a:solidFill>
                <a:srgbClr val="000000"/>
              </a:solidFill>
              <a:latin typeface="Arial"/>
            </a:endParaRPr>
          </a:p>
        </p:txBody>
      </p:sp>
      <p:sp>
        <p:nvSpPr>
          <p:cNvPr id="111"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12"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13"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base/DonorDesk — One-Page Concept Note for Approval.md §4/§6 · base/MVP-features.md §2–3</a:t>
            </a:r>
            <a:endParaRPr b="0" lang="en-US" sz="900" spc="-1" strike="noStrike">
              <a:solidFill>
                <a:srgbClr val="000000"/>
              </a:solidFill>
              <a:latin typeface="Arial"/>
            </a:endParaRPr>
          </a:p>
        </p:txBody>
      </p:sp>
      <p:sp>
        <p:nvSpPr>
          <p:cNvPr id="114"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4 / 20</a:t>
            </a:r>
            <a:endParaRPr b="0" lang="en-US" sz="900" spc="-1" strike="noStrike">
              <a:solidFill>
                <a:srgbClr val="000000"/>
              </a:solidFill>
              <a:latin typeface="Arial"/>
            </a:endParaRPr>
          </a:p>
        </p:txBody>
      </p:sp>
      <p:sp>
        <p:nvSpPr>
          <p:cNvPr id="115" name="Rounded Rectangle 7"/>
          <p:cNvSpPr/>
          <p:nvPr/>
        </p:nvSpPr>
        <p:spPr>
          <a:xfrm>
            <a:off x="567000" y="1280160"/>
            <a:ext cx="11057400" cy="658080"/>
          </a:xfrm>
          <a:prstGeom prst="roundRect">
            <a:avLst>
              <a:gd name="adj" fmla="val 6000"/>
            </a:avLst>
          </a:prstGeom>
          <a:solidFill>
            <a:srgbClr val="0f17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19600" rIns="182880" tIns="45000" bIns="45000" anchor="ctr">
            <a:noAutofit/>
          </a:bodyPr>
          <a:p>
            <a:pPr defTabSz="457200">
              <a:lnSpc>
                <a:spcPct val="105000"/>
              </a:lnSpc>
            </a:pPr>
            <a:r>
              <a:rPr b="1" lang="en-US" sz="1500" spc="-1" strike="noStrike">
                <a:solidFill>
                  <a:srgbClr val="ffffff"/>
                </a:solidFill>
                <a:latin typeface="Calibri"/>
              </a:rPr>
              <a:t>From messy field evidence to donor-ready reports and compliance-ready documentation.</a:t>
            </a:r>
            <a:endParaRPr b="0" lang="en-US" sz="1500" spc="-1" strike="noStrike">
              <a:solidFill>
                <a:srgbClr val="ffffff"/>
              </a:solidFill>
              <a:latin typeface="Arial"/>
            </a:endParaRPr>
          </a:p>
        </p:txBody>
      </p:sp>
      <p:sp>
        <p:nvSpPr>
          <p:cNvPr id="116" name="Rectangle 8"/>
          <p:cNvSpPr/>
          <p:nvPr/>
        </p:nvSpPr>
        <p:spPr>
          <a:xfrm>
            <a:off x="567000" y="1280160"/>
            <a:ext cx="63720" cy="65808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 name="TextBox 9"/>
          <p:cNvSpPr/>
          <p:nvPr/>
        </p:nvSpPr>
        <p:spPr>
          <a:xfrm>
            <a:off x="567000" y="2084760"/>
            <a:ext cx="6720480" cy="375696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Create a donor-funded project workspace and connect the donor reporting template.</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Upload or enter the logframe and indicators; track achievements per reporting period.</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Upload field evidence — photos, attendance sheets, training records, procurement files.</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Submit activity updates as the work happens, from the field.</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Map evidence to activities, outputs, indicators and donor requirements.</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Generate an AI-assisted donor report draft, section by section, with source references.</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See exactly what is missing: evidence gaps, unverified indicators, unsupported claims, missing annexes.</a:t>
            </a:r>
            <a:endParaRPr b="0" lang="en-US" sz="1400" spc="-1" strike="noStrike">
              <a:solidFill>
                <a:srgbClr val="000000"/>
              </a:solidFill>
              <a:latin typeface="Arial"/>
            </a:endParaRPr>
          </a:p>
          <a:p>
            <a:pPr defTabSz="457200">
              <a:lnSpc>
                <a:spcPct val="105000"/>
              </a:lnSpc>
              <a:spcAft>
                <a:spcPts val="700"/>
              </a:spcAft>
            </a:pPr>
            <a:r>
              <a:rPr b="1" lang="en-US" sz="1400" spc="-1" strike="noStrike">
                <a:solidFill>
                  <a:srgbClr val="2563eb"/>
                </a:solidFill>
                <a:latin typeface="Calibri"/>
              </a:rPr>
              <a:t>▪  </a:t>
            </a:r>
            <a:r>
              <a:rPr b="0" lang="en-US" sz="1400" spc="-1" strike="noStrike">
                <a:solidFill>
                  <a:srgbClr val="334155"/>
                </a:solidFill>
                <a:latin typeface="Calibri"/>
              </a:rPr>
              <a:t>Export the final report and the evidence checklist / evidence pack for submission.</a:t>
            </a:r>
            <a:endParaRPr b="0" lang="en-US" sz="1400" spc="-1" strike="noStrike">
              <a:solidFill>
                <a:srgbClr val="000000"/>
              </a:solidFill>
              <a:latin typeface="Arial"/>
            </a:endParaRPr>
          </a:p>
        </p:txBody>
      </p:sp>
      <p:sp>
        <p:nvSpPr>
          <p:cNvPr id="118" name="Rounded Rectangle 10"/>
          <p:cNvSpPr/>
          <p:nvPr/>
        </p:nvSpPr>
        <p:spPr>
          <a:xfrm>
            <a:off x="7543800" y="2084760"/>
            <a:ext cx="4080600" cy="415116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How DonorDesk stays honest</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The AI writes, the system proves</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Numbers, tables, charts and deltas are computed deterministically from verified findings; the LLM only writes prose.</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Nothing ships unapproved</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Every AI output is an editable draft. Human approval gates every donor-facing export.</a:t>
            </a:r>
            <a:endParaRPr b="0" lang="en-US" sz="1200" spc="-1" strike="noStrike">
              <a:solidFill>
                <a:srgbClr val="000000"/>
              </a:solidFill>
              <a:latin typeface="Arial"/>
            </a:endParaRPr>
          </a:p>
          <a:p>
            <a:pPr defTabSz="457200">
              <a:lnSpc>
                <a:spcPct val="100000"/>
              </a:lnSpc>
              <a:spcBef>
                <a:spcPts val="400"/>
              </a:spcBef>
              <a:spcAft>
                <a:spcPts val="201"/>
              </a:spcAft>
            </a:pPr>
            <a:r>
              <a:rPr b="1" lang="en-US" sz="1200" spc="-1" strike="noStrike">
                <a:solidFill>
                  <a:srgbClr val="0f172a"/>
                </a:solidFill>
                <a:latin typeface="Calibri"/>
              </a:rPr>
              <a:t>Traceability by default</a:t>
            </a:r>
            <a:endParaRPr b="0" lang="en-US" sz="1200" spc="-1" strike="noStrike">
              <a:solidFill>
                <a:srgbClr val="000000"/>
              </a:solidFill>
              <a:latin typeface="Arial"/>
            </a:endParaRPr>
          </a:p>
          <a:p>
            <a:pPr defTabSz="457200">
              <a:lnSpc>
                <a:spcPct val="102000"/>
              </a:lnSpc>
              <a:spcAft>
                <a:spcPts val="300"/>
              </a:spcAft>
            </a:pPr>
            <a:r>
              <a:rPr b="0" lang="en-US" sz="1200" spc="-1" strike="noStrike">
                <a:solidFill>
                  <a:srgbClr val="334155"/>
                </a:solidFill>
                <a:latin typeface="Calibri"/>
              </a:rPr>
              <a:t>Statements carry sources (activity, evidence, indicator); the audit log records every mutation.</a:t>
            </a:r>
            <a:endParaRPr b="0" lang="en-US" sz="1200" spc="-1" strike="noStrike">
              <a:solidFill>
                <a:srgbClr val="000000"/>
              </a:solidFill>
              <a:latin typeface="Arial"/>
            </a:endParaRPr>
          </a:p>
        </p:txBody>
      </p:sp>
      <p:sp>
        <p:nvSpPr>
          <p:cNvPr id="119" name="Rounded Rectangle 11"/>
          <p:cNvSpPr/>
          <p:nvPr/>
        </p:nvSpPr>
        <p:spPr>
          <a:xfrm>
            <a:off x="7543800" y="2084760"/>
            <a:ext cx="408060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TARGET USERS</a:t>
            </a:r>
            <a:endParaRPr b="0" lang="en-US" sz="950" spc="-1" strike="noStrike">
              <a:solidFill>
                <a:srgbClr val="000000"/>
              </a:solidFill>
              <a:latin typeface="Arial"/>
            </a:endParaRPr>
          </a:p>
        </p:txBody>
      </p:sp>
      <p:sp>
        <p:nvSpPr>
          <p:cNvPr id="121"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Built for the people who actually file donor reports</a:t>
            </a:r>
            <a:endParaRPr b="0" lang="en-US" sz="2300" spc="-1" strike="noStrike">
              <a:solidFill>
                <a:srgbClr val="000000"/>
              </a:solidFill>
              <a:latin typeface="Arial"/>
            </a:endParaRPr>
          </a:p>
        </p:txBody>
      </p:sp>
      <p:sp>
        <p:nvSpPr>
          <p:cNvPr id="122"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3"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4"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base/DonorDesk — One-Page Concept Note for Approval.md §5 · base/MVP-features.md §4–5 · docs/support/basic-information/key-concepts.md</a:t>
            </a:r>
            <a:endParaRPr b="0" lang="en-US" sz="900" spc="-1" strike="noStrike">
              <a:solidFill>
                <a:srgbClr val="000000"/>
              </a:solidFill>
              <a:latin typeface="Arial"/>
            </a:endParaRPr>
          </a:p>
        </p:txBody>
      </p:sp>
      <p:sp>
        <p:nvSpPr>
          <p:cNvPr id="125"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5 / 20</a:t>
            </a:r>
            <a:endParaRPr b="0" lang="en-US" sz="900" spc="-1" strike="noStrike">
              <a:solidFill>
                <a:srgbClr val="000000"/>
              </a:solidFill>
              <a:latin typeface="Arial"/>
            </a:endParaRPr>
          </a:p>
        </p:txBody>
      </p:sp>
      <p:sp>
        <p:nvSpPr>
          <p:cNvPr id="126" name="Rounded Rectangle 7"/>
          <p:cNvSpPr/>
          <p:nvPr/>
        </p:nvSpPr>
        <p:spPr>
          <a:xfrm>
            <a:off x="567000" y="1298520"/>
            <a:ext cx="3319200" cy="278856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400" spc="-1" strike="noStrike">
                <a:solidFill>
                  <a:srgbClr val="0f172a"/>
                </a:solidFill>
                <a:latin typeface="Calibri"/>
              </a:rPr>
              <a:t>Organisations  Who buys it</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Local and national NGOs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Small and mid-sized INGOs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UN implementing partners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Government grant-funded programmes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Research institutions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Humanitarian consultants and donor-funded programme units</a:t>
            </a:r>
            <a:endParaRPr b="0" lang="en-US" sz="1400" spc="-1" strike="noStrike">
              <a:solidFill>
                <a:srgbClr val="000000"/>
              </a:solidFill>
              <a:latin typeface="Arial"/>
            </a:endParaRPr>
          </a:p>
        </p:txBody>
      </p:sp>
      <p:sp>
        <p:nvSpPr>
          <p:cNvPr id="127" name="Rounded Rectangle 8"/>
          <p:cNvSpPr/>
          <p:nvPr/>
        </p:nvSpPr>
        <p:spPr>
          <a:xfrm>
            <a:off x="567000" y="1298520"/>
            <a:ext cx="50040" cy="27885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Rounded Rectangle 9"/>
          <p:cNvSpPr/>
          <p:nvPr/>
        </p:nvSpPr>
        <p:spPr>
          <a:xfrm>
            <a:off x="3970800" y="1278720"/>
            <a:ext cx="4258800" cy="2836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300" spc="-1" strike="noStrike">
                <a:solidFill>
                  <a:srgbClr val="0f172a"/>
                </a:solidFill>
                <a:latin typeface="Calibri"/>
              </a:rPr>
              <a:t>Roles  Who uses it daily</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Owner / Admin — organisation profile, team, billing, projects</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Project Manager — setup, oversight, final approval</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M&amp;E Officer — logframe, indicators, data verification</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Grants / Reporting Officer — drafts, edits, exports</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Field Officer — activity updates and evidence uploads</a:t>
            </a:r>
            <a:endParaRPr b="0" lang="en-US" sz="1300" spc="-1" strike="noStrike">
              <a:solidFill>
                <a:srgbClr val="000000"/>
              </a:solidFill>
              <a:latin typeface="Arial"/>
            </a:endParaRPr>
          </a:p>
          <a:p>
            <a:pPr defTabSz="457200">
              <a:lnSpc>
                <a:spcPct val="102000"/>
              </a:lnSpc>
              <a:spcAft>
                <a:spcPts val="300"/>
              </a:spcAft>
            </a:pPr>
            <a:r>
              <a:rPr b="0" lang="en-US" sz="1300" spc="-1" strike="noStrike">
                <a:solidFill>
                  <a:srgbClr val="334155"/>
                </a:solidFill>
                <a:latin typeface="Calibri"/>
              </a:rPr>
              <a:t>Compliance / Finance Officer — procurement and audit documents</a:t>
            </a:r>
            <a:endParaRPr b="0" lang="en-US" sz="1300" spc="-1" strike="noStrike">
              <a:solidFill>
                <a:srgbClr val="000000"/>
              </a:solidFill>
              <a:latin typeface="Arial"/>
            </a:endParaRPr>
          </a:p>
        </p:txBody>
      </p:sp>
      <p:sp>
        <p:nvSpPr>
          <p:cNvPr id="129" name="Rounded Rectangle 10"/>
          <p:cNvSpPr/>
          <p:nvPr/>
        </p:nvSpPr>
        <p:spPr>
          <a:xfrm>
            <a:off x="3917880" y="1298520"/>
            <a:ext cx="50040" cy="278856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 name="Rounded Rectangle 11"/>
          <p:cNvSpPr/>
          <p:nvPr/>
        </p:nvSpPr>
        <p:spPr>
          <a:xfrm>
            <a:off x="8229600" y="1298520"/>
            <a:ext cx="3394800" cy="278856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400" spc="-1" strike="noStrike">
                <a:solidFill>
                  <a:srgbClr val="0f172a"/>
                </a:solidFill>
                <a:latin typeface="Calibri"/>
              </a:rPr>
              <a:t>Sectors  Where it lands first</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Nutrition · Food security</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Health · WASH</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Education · Protection</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Livelihoods</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Emergency response</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Works today against real templates: ECHO, EERP/BE NOFO, Global Health Fund style monthly and quarterly formats</a:t>
            </a:r>
            <a:endParaRPr b="0" lang="en-US" sz="1400" spc="-1" strike="noStrike">
              <a:solidFill>
                <a:srgbClr val="000000"/>
              </a:solidFill>
              <a:latin typeface="Arial"/>
            </a:endParaRPr>
          </a:p>
        </p:txBody>
      </p:sp>
      <p:sp>
        <p:nvSpPr>
          <p:cNvPr id="131" name="Rounded Rectangle 12"/>
          <p:cNvSpPr/>
          <p:nvPr/>
        </p:nvSpPr>
        <p:spPr>
          <a:xfrm>
            <a:off x="8204760" y="1298520"/>
            <a:ext cx="50040" cy="27885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 name="Rounded Rectangle 13"/>
          <p:cNvSpPr/>
          <p:nvPr/>
        </p:nvSpPr>
        <p:spPr>
          <a:xfrm>
            <a:off x="567000" y="4270320"/>
            <a:ext cx="11057400" cy="14626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400" spc="-1" strike="noStrike">
                <a:solidFill>
                  <a:srgbClr val="0f172a"/>
                </a:solidFill>
                <a:latin typeface="Calibri"/>
              </a:rPr>
              <a:t>What each role is allowed to do is a capability, not a job title</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Seven tenant roles map onto explicit capabilities (create projects, upload templates, resolve claims, manage agent memory, approve final reports, export for submission, manage billing).</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Invitations, role assignment, and per-project membership are managed in Team; SuperAdmin is deliberately NOT a tenant role, so a tenant administrator can never escalate into the platform control plane.</a:t>
            </a:r>
            <a:endParaRPr b="0" lang="en-US" sz="1400" spc="-1" strike="noStrike">
              <a:solidFill>
                <a:srgbClr val="000000"/>
              </a:solidFill>
              <a:latin typeface="Arial"/>
            </a:endParaRPr>
          </a:p>
        </p:txBody>
      </p:sp>
      <p:sp>
        <p:nvSpPr>
          <p:cNvPr id="133" name="Rounded Rectangle 14"/>
          <p:cNvSpPr/>
          <p:nvPr/>
        </p:nvSpPr>
        <p:spPr>
          <a:xfrm>
            <a:off x="567000" y="4270320"/>
            <a:ext cx="11057400" cy="4536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CORE CONCEPTS</a:t>
            </a:r>
            <a:endParaRPr b="0" lang="en-US" sz="950" spc="-1" strike="noStrike">
              <a:solidFill>
                <a:srgbClr val="000000"/>
              </a:solidFill>
              <a:latin typeface="Arial"/>
            </a:endParaRPr>
          </a:p>
        </p:txBody>
      </p:sp>
      <p:sp>
        <p:nvSpPr>
          <p:cNvPr id="135"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The vocabulary a donor-reporting workspace needs</a:t>
            </a:r>
            <a:endParaRPr b="0" lang="en-US" sz="2300" spc="-1" strike="noStrike">
              <a:solidFill>
                <a:srgbClr val="000000"/>
              </a:solidFill>
              <a:latin typeface="Arial"/>
            </a:endParaRPr>
          </a:p>
        </p:txBody>
      </p:sp>
      <p:sp>
        <p:nvSpPr>
          <p:cNvPr id="136"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7"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8"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docs/support/basic-information/key-concepts.md · base/MVP-features.md §33 · Features/06, 07, 10, 12</a:t>
            </a:r>
            <a:endParaRPr b="0" lang="en-US" sz="900" spc="-1" strike="noStrike">
              <a:solidFill>
                <a:srgbClr val="000000"/>
              </a:solidFill>
              <a:latin typeface="Arial"/>
            </a:endParaRPr>
          </a:p>
        </p:txBody>
      </p:sp>
      <p:sp>
        <p:nvSpPr>
          <p:cNvPr id="139"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6 / 20</a:t>
            </a:r>
            <a:endParaRPr b="0" lang="en-US" sz="900" spc="-1" strike="noStrike">
              <a:solidFill>
                <a:srgbClr val="000000"/>
              </a:solidFill>
              <a:latin typeface="Arial"/>
            </a:endParaRPr>
          </a:p>
        </p:txBody>
      </p:sp>
      <p:graphicFrame>
        <p:nvGraphicFramePr>
          <p:cNvPr id="140" name="Table 7"/>
          <p:cNvGraphicFramePr/>
          <p:nvPr/>
        </p:nvGraphicFramePr>
        <p:xfrm>
          <a:off x="567000" y="1298520"/>
          <a:ext cx="7177680" cy="3254760"/>
        </p:xfrm>
        <a:graphic>
          <a:graphicData uri="http://schemas.openxmlformats.org/drawingml/2006/table">
            <a:tbl>
              <a:tblPr/>
              <a:tblGrid>
                <a:gridCol w="1503360"/>
                <a:gridCol w="5674320"/>
              </a:tblGrid>
              <a:tr h="292320">
                <a:tc>
                  <a:txBody>
                    <a:bodyPr lIns="73080" rIns="73080" tIns="36360" bIns="36360" anchor="ctr">
                      <a:noAutofit/>
                    </a:bodyPr>
                    <a:p>
                      <a:pPr defTabSz="457200">
                        <a:lnSpc>
                          <a:spcPct val="100000"/>
                        </a:lnSpc>
                      </a:pPr>
                      <a:r>
                        <a:rPr b="1" lang="en-US" sz="1050" spc="-1" strike="noStrike">
                          <a:solidFill>
                            <a:srgbClr val="ffffff"/>
                          </a:solidFill>
                          <a:latin typeface="Calibri"/>
                        </a:rPr>
                        <a:t>Concept</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What it means in DonorDesk</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Workspace</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Your organisation's isolated space — all projects, people, templates and reports. No tenant can see another tenant's data.</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Project</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A single donor-funded initiative (e.g. "Maternal Health — District X") with its own logframe, evidence, activities, periods and team.</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Logframe</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The hierarchical plan: Goal → Outcome → Output → Activity, each level backed by indicators.</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Indicator</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Target, baseline, current value and unit — tracked per reporting period, verified per row, with full update history.</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Evidence</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Any document, photo or file that proves the work happened: attendance sheets, training records, field reports, procurement files.</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Reporting period</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The time window being reported (monthly, quarterly, semi-annual, annual) with a donor deadline and a status.</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Compliance checklist</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Automatically detected gaps — missing evidence, unverified indicators, unsupported claims, missing annexes — each with severity.</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Report draft</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The narrative report, built section by section; each section can be written manually or AI-drafted, then edited and approved.</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29040">
                <a:tc>
                  <a:txBody>
                    <a:bodyPr lIns="73080" rIns="73080" tIns="27360" bIns="27360" anchor="ctr">
                      <a:noAutofit/>
                    </a:bodyPr>
                    <a:p>
                      <a:pPr defTabSz="457200">
                        <a:lnSpc>
                          <a:spcPct val="95000"/>
                        </a:lnSpc>
                      </a:pPr>
                      <a:r>
                        <a:rPr b="1" lang="en-US" sz="1200" spc="-1" strike="noStrike">
                          <a:solidFill>
                            <a:srgbClr val="0f172a"/>
                          </a:solidFill>
                          <a:latin typeface="Calibri"/>
                        </a:rPr>
                        <a:t>Readiness score</a:t>
                      </a:r>
                      <a:endParaRPr b="0" lang="en-US" sz="12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1300" spc="-1" strike="noStrike">
                          <a:solidFill>
                            <a:srgbClr val="334155"/>
                          </a:solidFill>
                          <a:latin typeface="Calibri"/>
                        </a:rPr>
                        <a:t>A weighted completeness figure for the period, shown before submission.</a:t>
                      </a:r>
                      <a:endParaRPr b="0" lang="en-US" sz="130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41" name="Rounded Rectangle 8"/>
          <p:cNvSpPr/>
          <p:nvPr/>
        </p:nvSpPr>
        <p:spPr>
          <a:xfrm>
            <a:off x="7927920" y="1298520"/>
            <a:ext cx="3696480" cy="49374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400" spc="-1" strike="noStrike">
                <a:solidFill>
                  <a:srgbClr val="0f172a"/>
                </a:solidFill>
                <a:latin typeface="Calibri"/>
              </a:rPr>
              <a:t>Readiness score</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Section completion</a:t>
            </a:r>
            <a:endParaRPr b="0" lang="en-US" sz="1400" spc="-1" strike="noStrike">
              <a:solidFill>
                <a:srgbClr val="000000"/>
              </a:solidFill>
              <a:latin typeface="Arial"/>
            </a:endParaRPr>
          </a:p>
          <a:p>
            <a:pPr defTabSz="457200">
              <a:lnSpc>
                <a:spcPct val="102000"/>
              </a:lnSpc>
              <a:spcAft>
                <a:spcPts val="201"/>
              </a:spcAft>
            </a:pPr>
            <a:r>
              <a:rPr b="0" lang="en-US" sz="1400" spc="-1" strike="noStrike">
                <a:solidFill>
                  <a:srgbClr val="64748b"/>
                </a:solidFill>
                <a:latin typeface="Calibri"/>
              </a:rPr>
              <a:t>25%</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Indicator updates</a:t>
            </a:r>
            <a:endParaRPr b="0" lang="en-US" sz="1400" spc="-1" strike="noStrike">
              <a:solidFill>
                <a:srgbClr val="000000"/>
              </a:solidFill>
              <a:latin typeface="Arial"/>
            </a:endParaRPr>
          </a:p>
          <a:p>
            <a:pPr defTabSz="457200">
              <a:lnSpc>
                <a:spcPct val="102000"/>
              </a:lnSpc>
              <a:spcAft>
                <a:spcPts val="201"/>
              </a:spcAft>
            </a:pPr>
            <a:r>
              <a:rPr b="0" lang="en-US" sz="1400" spc="-1" strike="noStrike">
                <a:solidFill>
                  <a:srgbClr val="64748b"/>
                </a:solidFill>
                <a:latin typeface="Calibri"/>
              </a:rPr>
              <a:t>20%</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Evidence completeness</a:t>
            </a:r>
            <a:endParaRPr b="0" lang="en-US" sz="1400" spc="-1" strike="noStrike">
              <a:solidFill>
                <a:srgbClr val="000000"/>
              </a:solidFill>
              <a:latin typeface="Arial"/>
            </a:endParaRPr>
          </a:p>
          <a:p>
            <a:pPr defTabSz="457200">
              <a:lnSpc>
                <a:spcPct val="102000"/>
              </a:lnSpc>
              <a:spcAft>
                <a:spcPts val="201"/>
              </a:spcAft>
            </a:pPr>
            <a:r>
              <a:rPr b="0" lang="en-US" sz="1400" spc="-1" strike="noStrike">
                <a:solidFill>
                  <a:srgbClr val="64748b"/>
                </a:solidFill>
                <a:latin typeface="Calibri"/>
              </a:rPr>
              <a:t>25%</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Compliance checklist</a:t>
            </a:r>
            <a:endParaRPr b="0" lang="en-US" sz="1400" spc="-1" strike="noStrike">
              <a:solidFill>
                <a:srgbClr val="000000"/>
              </a:solidFill>
              <a:latin typeface="Arial"/>
            </a:endParaRPr>
          </a:p>
          <a:p>
            <a:pPr defTabSz="457200">
              <a:lnSpc>
                <a:spcPct val="102000"/>
              </a:lnSpc>
              <a:spcAft>
                <a:spcPts val="201"/>
              </a:spcAft>
            </a:pPr>
            <a:r>
              <a:rPr b="0" lang="en-US" sz="1400" spc="-1" strike="noStrike">
                <a:solidFill>
                  <a:srgbClr val="64748b"/>
                </a:solidFill>
                <a:latin typeface="Calibri"/>
              </a:rPr>
              <a:t>20%</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Approval status</a:t>
            </a:r>
            <a:endParaRPr b="0" lang="en-US" sz="1400" spc="-1" strike="noStrike">
              <a:solidFill>
                <a:srgbClr val="000000"/>
              </a:solidFill>
              <a:latin typeface="Arial"/>
            </a:endParaRPr>
          </a:p>
          <a:p>
            <a:pPr defTabSz="457200">
              <a:lnSpc>
                <a:spcPct val="102000"/>
              </a:lnSpc>
              <a:spcAft>
                <a:spcPts val="201"/>
              </a:spcAft>
            </a:pPr>
            <a:r>
              <a:rPr b="0" lang="en-US" sz="1400" spc="-1" strike="noStrike">
                <a:solidFill>
                  <a:srgbClr val="64748b"/>
                </a:solidFill>
                <a:latin typeface="Calibri"/>
              </a:rPr>
              <a:t>10%</a:t>
            </a:r>
            <a:endParaRPr b="0" lang="en-US" sz="1400" spc="-1" strike="noStrike">
              <a:solidFill>
                <a:srgbClr val="000000"/>
              </a:solidFill>
              <a:latin typeface="Arial"/>
            </a:endParaRPr>
          </a:p>
          <a:p>
            <a:pPr defTabSz="457200">
              <a:lnSpc>
                <a:spcPct val="100000"/>
              </a:lnSpc>
              <a:spcBef>
                <a:spcPts val="400"/>
              </a:spcBef>
              <a:spcAft>
                <a:spcPts val="201"/>
              </a:spcAft>
            </a:pPr>
            <a:r>
              <a:rPr b="1" lang="en-US" sz="1400" spc="-1" strike="noStrike">
                <a:solidFill>
                  <a:srgbClr val="0f172a"/>
                </a:solidFill>
                <a:latin typeface="Calibri"/>
              </a:rPr>
              <a:t>Worked example</a:t>
            </a:r>
            <a:endParaRPr b="0" lang="en-US" sz="1400" spc="-1" strike="noStrike">
              <a:solidFill>
                <a:srgbClr val="000000"/>
              </a:solidFill>
              <a:latin typeface="Arial"/>
            </a:endParaRPr>
          </a:p>
          <a:p>
            <a:pPr defTabSz="457200">
              <a:lnSpc>
                <a:spcPct val="100000"/>
              </a:lnSpc>
              <a:spcAft>
                <a:spcPts val="300"/>
              </a:spcAft>
            </a:pPr>
            <a:r>
              <a:rPr b="0" lang="en-US" sz="1400" spc="-1" strike="noStrike">
                <a:solidFill>
                  <a:srgbClr val="1e3a8a"/>
                </a:solidFill>
                <a:latin typeface="Consolas"/>
              </a:rPr>
              <a:t>80·0.25 + 70·0.20 + 60·0.25 + 50·0.20 + 0·0.10 = 59%</a:t>
            </a:r>
            <a:endParaRPr b="0" lang="en-US" sz="1400" spc="-1" strike="noStrike">
              <a:solidFill>
                <a:srgbClr val="000000"/>
              </a:solidFill>
              <a:latin typeface="Arial"/>
            </a:endParaRPr>
          </a:p>
        </p:txBody>
      </p:sp>
      <p:sp>
        <p:nvSpPr>
          <p:cNvPr id="142" name="Rounded Rectangle 9"/>
          <p:cNvSpPr/>
          <p:nvPr/>
        </p:nvSpPr>
        <p:spPr>
          <a:xfrm>
            <a:off x="7927920" y="1298520"/>
            <a:ext cx="369648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HOW IT WORKS</a:t>
            </a:r>
            <a:endParaRPr b="0" lang="en-US" sz="950" spc="-1" strike="noStrike">
              <a:solidFill>
                <a:srgbClr val="000000"/>
              </a:solidFill>
              <a:latin typeface="Arial"/>
            </a:endParaRPr>
          </a:p>
        </p:txBody>
      </p:sp>
      <p:sp>
        <p:nvSpPr>
          <p:cNvPr id="144"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The workflow, end to end — and what runs behind it</a:t>
            </a:r>
            <a:endParaRPr b="0" lang="en-US" sz="2300" spc="-1" strike="noStrike">
              <a:solidFill>
                <a:srgbClr val="000000"/>
              </a:solidFill>
              <a:latin typeface="Arial"/>
            </a:endParaRPr>
          </a:p>
        </p:txBody>
      </p:sp>
      <p:sp>
        <p:nvSpPr>
          <p:cNvPr id="145"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46"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47"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docs/support/basic-information/what-is-donordesk.md · base/MVP-features.md §32 · imp/DonorDesk — Phased Implementation Plan.md §5.7</a:t>
            </a:r>
            <a:endParaRPr b="0" lang="en-US" sz="900" spc="-1" strike="noStrike">
              <a:solidFill>
                <a:srgbClr val="000000"/>
              </a:solidFill>
              <a:latin typeface="Arial"/>
            </a:endParaRPr>
          </a:p>
        </p:txBody>
      </p:sp>
      <p:sp>
        <p:nvSpPr>
          <p:cNvPr id="148"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7 / 20</a:t>
            </a:r>
            <a:endParaRPr b="0" lang="en-US" sz="900" spc="-1" strike="noStrike">
              <a:solidFill>
                <a:srgbClr val="000000"/>
              </a:solidFill>
              <a:latin typeface="Arial"/>
            </a:endParaRPr>
          </a:p>
        </p:txBody>
      </p:sp>
      <p:sp>
        <p:nvSpPr>
          <p:cNvPr id="149" name="Rounded Rectangle 7"/>
          <p:cNvSpPr/>
          <p:nvPr/>
        </p:nvSpPr>
        <p:spPr>
          <a:xfrm>
            <a:off x="56700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Set up</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Create project, donor template, logframe and team</a:t>
            </a:r>
            <a:endParaRPr b="0" lang="en-US" sz="1400" spc="-1" strike="noStrike">
              <a:solidFill>
                <a:srgbClr val="000000"/>
              </a:solidFill>
              <a:latin typeface="Arial"/>
            </a:endParaRPr>
          </a:p>
        </p:txBody>
      </p:sp>
      <p:sp>
        <p:nvSpPr>
          <p:cNvPr id="150" name="Oval 8"/>
          <p:cNvSpPr/>
          <p:nvPr/>
        </p:nvSpPr>
        <p:spPr>
          <a:xfrm>
            <a:off x="19162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1</a:t>
            </a:r>
            <a:endParaRPr b="0" lang="en-US" sz="1300" spc="-1" strike="noStrike">
              <a:solidFill>
                <a:srgbClr val="ffffff"/>
              </a:solidFill>
              <a:latin typeface="Arial"/>
            </a:endParaRPr>
          </a:p>
        </p:txBody>
      </p:sp>
      <p:sp>
        <p:nvSpPr>
          <p:cNvPr id="151" name="Rectangle 9"/>
          <p:cNvSpPr/>
          <p:nvPr/>
        </p:nvSpPr>
        <p:spPr>
          <a:xfrm>
            <a:off x="2318400" y="198864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52" name="Rounded Rectangle 10"/>
          <p:cNvSpPr/>
          <p:nvPr/>
        </p:nvSpPr>
        <p:spPr>
          <a:xfrm>
            <a:off x="242820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Track</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Upload evidence, log activities, update indicators</a:t>
            </a:r>
            <a:endParaRPr b="0" lang="en-US" sz="1400" spc="-1" strike="noStrike">
              <a:solidFill>
                <a:srgbClr val="000000"/>
              </a:solidFill>
              <a:latin typeface="Arial"/>
            </a:endParaRPr>
          </a:p>
        </p:txBody>
      </p:sp>
      <p:sp>
        <p:nvSpPr>
          <p:cNvPr id="153" name="Oval 11"/>
          <p:cNvSpPr/>
          <p:nvPr/>
        </p:nvSpPr>
        <p:spPr>
          <a:xfrm>
            <a:off x="37774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2</a:t>
            </a:r>
            <a:endParaRPr b="0" lang="en-US" sz="1300" spc="-1" strike="noStrike">
              <a:solidFill>
                <a:srgbClr val="ffffff"/>
              </a:solidFill>
              <a:latin typeface="Arial"/>
            </a:endParaRPr>
          </a:p>
        </p:txBody>
      </p:sp>
      <p:sp>
        <p:nvSpPr>
          <p:cNvPr id="154" name="Rectangle 12"/>
          <p:cNvSpPr/>
          <p:nvPr/>
        </p:nvSpPr>
        <p:spPr>
          <a:xfrm>
            <a:off x="4179600" y="198864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55" name="Rounded Rectangle 13"/>
          <p:cNvSpPr/>
          <p:nvPr/>
        </p:nvSpPr>
        <p:spPr>
          <a:xfrm>
            <a:off x="428940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Assess</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Checklist gaps, verification, readiness score</a:t>
            </a:r>
            <a:endParaRPr b="0" lang="en-US" sz="1400" spc="-1" strike="noStrike">
              <a:solidFill>
                <a:srgbClr val="000000"/>
              </a:solidFill>
              <a:latin typeface="Arial"/>
            </a:endParaRPr>
          </a:p>
        </p:txBody>
      </p:sp>
      <p:sp>
        <p:nvSpPr>
          <p:cNvPr id="156" name="Oval 14"/>
          <p:cNvSpPr/>
          <p:nvPr/>
        </p:nvSpPr>
        <p:spPr>
          <a:xfrm>
            <a:off x="56386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3</a:t>
            </a:r>
            <a:endParaRPr b="0" lang="en-US" sz="1300" spc="-1" strike="noStrike">
              <a:solidFill>
                <a:srgbClr val="ffffff"/>
              </a:solidFill>
              <a:latin typeface="Arial"/>
            </a:endParaRPr>
          </a:p>
        </p:txBody>
      </p:sp>
      <p:sp>
        <p:nvSpPr>
          <p:cNvPr id="157" name="Rectangle 15"/>
          <p:cNvSpPr/>
          <p:nvPr/>
        </p:nvSpPr>
        <p:spPr>
          <a:xfrm>
            <a:off x="6041160" y="198864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58" name="Rounded Rectangle 16"/>
          <p:cNvSpPr/>
          <p:nvPr/>
        </p:nvSpPr>
        <p:spPr>
          <a:xfrm>
            <a:off x="615060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Generate</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AI-drafted sections from verified findings</a:t>
            </a:r>
            <a:endParaRPr b="0" lang="en-US" sz="1400" spc="-1" strike="noStrike">
              <a:solidFill>
                <a:srgbClr val="000000"/>
              </a:solidFill>
              <a:latin typeface="Arial"/>
            </a:endParaRPr>
          </a:p>
        </p:txBody>
      </p:sp>
      <p:sp>
        <p:nvSpPr>
          <p:cNvPr id="159" name="Oval 17"/>
          <p:cNvSpPr/>
          <p:nvPr/>
        </p:nvSpPr>
        <p:spPr>
          <a:xfrm>
            <a:off x="74998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4</a:t>
            </a:r>
            <a:endParaRPr b="0" lang="en-US" sz="1300" spc="-1" strike="noStrike">
              <a:solidFill>
                <a:srgbClr val="ffffff"/>
              </a:solidFill>
              <a:latin typeface="Arial"/>
            </a:endParaRPr>
          </a:p>
        </p:txBody>
      </p:sp>
      <p:sp>
        <p:nvSpPr>
          <p:cNvPr id="160" name="Rectangle 18"/>
          <p:cNvSpPr/>
          <p:nvPr/>
        </p:nvSpPr>
        <p:spPr>
          <a:xfrm>
            <a:off x="7902360" y="198864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61" name="Rounded Rectangle 19"/>
          <p:cNvSpPr/>
          <p:nvPr/>
        </p:nvSpPr>
        <p:spPr>
          <a:xfrm>
            <a:off x="801180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Review</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Edit, resolve claims, approve sections</a:t>
            </a:r>
            <a:endParaRPr b="0" lang="en-US" sz="1400" spc="-1" strike="noStrike">
              <a:solidFill>
                <a:srgbClr val="000000"/>
              </a:solidFill>
              <a:latin typeface="Arial"/>
            </a:endParaRPr>
          </a:p>
        </p:txBody>
      </p:sp>
      <p:sp>
        <p:nvSpPr>
          <p:cNvPr id="162" name="Oval 20"/>
          <p:cNvSpPr/>
          <p:nvPr/>
        </p:nvSpPr>
        <p:spPr>
          <a:xfrm>
            <a:off x="93610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5</a:t>
            </a:r>
            <a:endParaRPr b="0" lang="en-US" sz="1300" spc="-1" strike="noStrike">
              <a:solidFill>
                <a:srgbClr val="ffffff"/>
              </a:solidFill>
              <a:latin typeface="Arial"/>
            </a:endParaRPr>
          </a:p>
        </p:txBody>
      </p:sp>
      <p:sp>
        <p:nvSpPr>
          <p:cNvPr id="163" name="Rectangle 21"/>
          <p:cNvSpPr/>
          <p:nvPr/>
        </p:nvSpPr>
        <p:spPr>
          <a:xfrm>
            <a:off x="9763560" y="198864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164" name="Rounded Rectangle 22"/>
          <p:cNvSpPr/>
          <p:nvPr/>
        </p:nvSpPr>
        <p:spPr>
          <a:xfrm>
            <a:off x="9873360" y="1408320"/>
            <a:ext cx="1751040" cy="118836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100" spc="-1" strike="noStrike">
                <a:solidFill>
                  <a:srgbClr val="0f172a"/>
                </a:solidFill>
                <a:latin typeface="Calibri"/>
              </a:rPr>
              <a:t>Submit</a:t>
            </a:r>
            <a:endParaRPr b="0" lang="en-US" sz="1100" spc="-1" strike="noStrike">
              <a:solidFill>
                <a:srgbClr val="000000"/>
              </a:solidFill>
              <a:latin typeface="Arial"/>
            </a:endParaRPr>
          </a:p>
          <a:p>
            <a:pPr defTabSz="457200">
              <a:lnSpc>
                <a:spcPct val="100000"/>
              </a:lnSpc>
              <a:spcAft>
                <a:spcPts val="201"/>
              </a:spcAft>
            </a:pPr>
            <a:r>
              <a:rPr b="0" lang="en-US" sz="1400" spc="-1" strike="noStrike">
                <a:solidFill>
                  <a:srgbClr val="64748b"/>
                </a:solidFill>
                <a:latin typeface="Calibri"/>
              </a:rPr>
              <a:t>Seal snapshot, export DOCX/PDF + evidence pack</a:t>
            </a:r>
            <a:endParaRPr b="0" lang="en-US" sz="1400" spc="-1" strike="noStrike">
              <a:solidFill>
                <a:srgbClr val="000000"/>
              </a:solidFill>
              <a:latin typeface="Arial"/>
            </a:endParaRPr>
          </a:p>
        </p:txBody>
      </p:sp>
      <p:sp>
        <p:nvSpPr>
          <p:cNvPr id="165" name="Oval 23"/>
          <p:cNvSpPr/>
          <p:nvPr/>
        </p:nvSpPr>
        <p:spPr>
          <a:xfrm>
            <a:off x="11222280" y="125280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6</a:t>
            </a:r>
            <a:endParaRPr b="0" lang="en-US" sz="1300" spc="-1" strike="noStrike">
              <a:solidFill>
                <a:srgbClr val="ffffff"/>
              </a:solidFill>
              <a:latin typeface="Arial"/>
            </a:endParaRPr>
          </a:p>
        </p:txBody>
      </p:sp>
      <p:sp>
        <p:nvSpPr>
          <p:cNvPr id="166" name="Rounded Rectangle 24"/>
          <p:cNvSpPr/>
          <p:nvPr/>
        </p:nvSpPr>
        <p:spPr>
          <a:xfrm>
            <a:off x="567000" y="2834640"/>
            <a:ext cx="3563640" cy="28800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The happy path is four actions</a:t>
            </a:r>
            <a:endParaRPr b="0" lang="en-US" sz="12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Select period → Generate → Review → Submit.</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No compulsory planner, semantics, mapping or claim-management screens; one consolidated exception surface at submission.</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Backend sophistication must never become frontend paperwork.</a:t>
            </a:r>
            <a:endParaRPr b="0" lang="en-US" sz="1400" spc="-1" strike="noStrike">
              <a:solidFill>
                <a:srgbClr val="000000"/>
              </a:solidFill>
              <a:latin typeface="Arial"/>
            </a:endParaRPr>
          </a:p>
        </p:txBody>
      </p:sp>
      <p:sp>
        <p:nvSpPr>
          <p:cNvPr id="167" name="Rounded Rectangle 25"/>
          <p:cNvSpPr/>
          <p:nvPr/>
        </p:nvSpPr>
        <p:spPr>
          <a:xfrm>
            <a:off x="567000" y="2834640"/>
            <a:ext cx="50040" cy="288000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Rounded Rectangle 26"/>
          <p:cNvSpPr/>
          <p:nvPr/>
        </p:nvSpPr>
        <p:spPr>
          <a:xfrm>
            <a:off x="4313880" y="2834640"/>
            <a:ext cx="3563640" cy="28800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Background work (silent)</a:t>
            </a:r>
            <a:endParaRPr b="0" lang="en-US" sz="12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Evidence parsing (Tika → extracted text), chunking and embedding for retrieval.</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Readiness recompute, checklist generation, deadline reminders, export on close.</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Dispatched through one BackgroundRunner and an IJobQueue port.</a:t>
            </a:r>
            <a:endParaRPr b="0" lang="en-US" sz="1400" spc="-1" strike="noStrike">
              <a:solidFill>
                <a:srgbClr val="000000"/>
              </a:solidFill>
              <a:latin typeface="Arial"/>
            </a:endParaRPr>
          </a:p>
        </p:txBody>
      </p:sp>
      <p:sp>
        <p:nvSpPr>
          <p:cNvPr id="169" name="Rounded Rectangle 27"/>
          <p:cNvSpPr/>
          <p:nvPr/>
        </p:nvSpPr>
        <p:spPr>
          <a:xfrm>
            <a:off x="4313880" y="2834640"/>
            <a:ext cx="50040" cy="288000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0" name="Rounded Rectangle 28"/>
          <p:cNvSpPr/>
          <p:nvPr/>
        </p:nvSpPr>
        <p:spPr>
          <a:xfrm>
            <a:off x="8060760" y="2834640"/>
            <a:ext cx="3563640" cy="28800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Queue is a deployment detail</a:t>
            </a:r>
            <a:endParaRPr b="0" lang="en-US" sz="12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JOB_QUEUE = memory (default, in-process) | redis (BullMQ) | kestra (flow trigger).</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Domain events → jobs via the OutboxEventBus; writes are idempotency-keyed so retries never double-apply.</a:t>
            </a:r>
            <a:endParaRPr b="0" lang="en-US" sz="1400" spc="-1" strike="noStrike">
              <a:solidFill>
                <a:srgbClr val="000000"/>
              </a:solidFill>
              <a:latin typeface="Arial"/>
            </a:endParaRPr>
          </a:p>
          <a:p>
            <a:pPr defTabSz="457200">
              <a:lnSpc>
                <a:spcPct val="102000"/>
              </a:lnSpc>
              <a:spcAft>
                <a:spcPts val="300"/>
              </a:spcAft>
            </a:pPr>
            <a:r>
              <a:rPr b="0" lang="en-US" sz="1400" spc="-1" strike="noStrike">
                <a:solidFill>
                  <a:srgbClr val="334155"/>
                </a:solidFill>
                <a:latin typeface="Calibri"/>
              </a:rPr>
              <a:t>Handlers are registered per job class in JOB_NAMES.</a:t>
            </a:r>
            <a:endParaRPr b="0" lang="en-US" sz="1400" spc="-1" strike="noStrike">
              <a:solidFill>
                <a:srgbClr val="000000"/>
              </a:solidFill>
              <a:latin typeface="Arial"/>
            </a:endParaRPr>
          </a:p>
        </p:txBody>
      </p:sp>
      <p:sp>
        <p:nvSpPr>
          <p:cNvPr id="171" name="Rounded Rectangle 29"/>
          <p:cNvSpPr/>
          <p:nvPr/>
        </p:nvSpPr>
        <p:spPr>
          <a:xfrm>
            <a:off x="8060760" y="2834640"/>
            <a:ext cx="50040" cy="288000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 name="Rounded Rectangle 30"/>
          <p:cNvSpPr/>
          <p:nvPr/>
        </p:nvSpPr>
        <p:spPr>
          <a:xfrm>
            <a:off x="567000" y="5742360"/>
            <a:ext cx="11057400" cy="456840"/>
          </a:xfrm>
          <a:prstGeom prst="roundRect">
            <a:avLst>
              <a:gd name="adj" fmla="val 6000"/>
            </a:avLst>
          </a:prstGeom>
          <a:solidFill>
            <a:srgbClr val="0b122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19600" rIns="182880" tIns="45000" bIns="45000" anchor="ctr">
            <a:noAutofit/>
          </a:bodyPr>
          <a:p>
            <a:pPr defTabSz="457200">
              <a:lnSpc>
                <a:spcPct val="105000"/>
              </a:lnSpc>
            </a:pPr>
            <a:r>
              <a:rPr b="1" lang="en-US" sz="1200" spc="-1" strike="noStrike">
                <a:solidFill>
                  <a:srgbClr val="ffffff"/>
                </a:solidFill>
                <a:latin typeface="Calibri"/>
              </a:rPr>
              <a:t>Zero compulsory screens, one exception surface, and a human decision only where judgment is actually required.</a:t>
            </a:r>
            <a:endParaRPr b="0" lang="en-US" sz="1200" spc="-1" strike="noStrike">
              <a:solidFill>
                <a:srgbClr val="ffffff"/>
              </a:solidFill>
              <a:latin typeface="Arial"/>
            </a:endParaRPr>
          </a:p>
        </p:txBody>
      </p:sp>
      <p:sp>
        <p:nvSpPr>
          <p:cNvPr id="173" name="Rectangle 31"/>
          <p:cNvSpPr/>
          <p:nvPr/>
        </p:nvSpPr>
        <p:spPr>
          <a:xfrm>
            <a:off x="567000" y="5742360"/>
            <a:ext cx="63720" cy="4568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FEATURE MAP 1 OF 2 · FEATURES 01–05, 18</a:t>
            </a:r>
            <a:endParaRPr b="0" lang="en-US" sz="950" spc="-1" strike="noStrike">
              <a:solidFill>
                <a:srgbClr val="000000"/>
              </a:solidFill>
              <a:latin typeface="Arial"/>
            </a:endParaRPr>
          </a:p>
        </p:txBody>
      </p:sp>
      <p:sp>
        <p:nvSpPr>
          <p:cNvPr id="175"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Foundation: identity, workspace, projects, donor templates</a:t>
            </a:r>
            <a:endParaRPr b="0" lang="en-US" sz="2300" spc="-1" strike="noStrike">
              <a:solidFill>
                <a:srgbClr val="000000"/>
              </a:solidFill>
              <a:latin typeface="Arial"/>
            </a:endParaRPr>
          </a:p>
        </p:txBody>
      </p:sp>
      <p:sp>
        <p:nvSpPr>
          <p:cNvPr id="176"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77"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78"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memorybank/Features/01–05, 18 · Features/INDEX.md · imp/Phase20_setup_logframe.md</a:t>
            </a:r>
            <a:endParaRPr b="0" lang="en-US" sz="900" spc="-1" strike="noStrike">
              <a:solidFill>
                <a:srgbClr val="000000"/>
              </a:solidFill>
              <a:latin typeface="Arial"/>
            </a:endParaRPr>
          </a:p>
        </p:txBody>
      </p:sp>
      <p:sp>
        <p:nvSpPr>
          <p:cNvPr id="179"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8 / 20</a:t>
            </a:r>
            <a:endParaRPr b="0" lang="en-US" sz="900" spc="-1" strike="noStrike">
              <a:solidFill>
                <a:srgbClr val="000000"/>
              </a:solidFill>
              <a:latin typeface="Arial"/>
            </a:endParaRPr>
          </a:p>
        </p:txBody>
      </p:sp>
      <p:sp>
        <p:nvSpPr>
          <p:cNvPr id="180" name="Rounded Rectangle 7"/>
          <p:cNvSpPr/>
          <p:nvPr/>
        </p:nvSpPr>
        <p:spPr>
          <a:xfrm>
            <a:off x="56700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F01  Authentication &amp; on-boarding</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Email/password signup and login; Google Sign-In on the login page (env-gated, existing accounts only).</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JWT (HS256) with issuer/audience claims; secrets in env.</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Every new workspace starts on the free STARTER tier — no trials are granted (removed 2026-08-18).</a:t>
            </a:r>
            <a:endParaRPr b="0" lang="en-US" sz="1100" spc="-1" strike="noStrike">
              <a:solidFill>
                <a:srgbClr val="000000"/>
              </a:solidFill>
              <a:latin typeface="Arial"/>
            </a:endParaRPr>
          </a:p>
        </p:txBody>
      </p:sp>
      <p:sp>
        <p:nvSpPr>
          <p:cNvPr id="181" name="Rounded Rectangle 8"/>
          <p:cNvSpPr/>
          <p:nvPr/>
        </p:nvSpPr>
        <p:spPr>
          <a:xfrm>
            <a:off x="567000" y="1298520"/>
            <a:ext cx="50040" cy="237708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 name="Rounded Rectangle 9"/>
          <p:cNvSpPr/>
          <p:nvPr/>
        </p:nvSpPr>
        <p:spPr>
          <a:xfrm>
            <a:off x="431388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F02  Organization workspace</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Organisation profile: name, type, country, sectors, contacts — printed onto reports.</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Per-tenant settings: reporting defaults, storage provider (Google Drive link-first / R2 / local), AI enablement.</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Hard tenant isolation at every layer (slide 13).</a:t>
            </a:r>
            <a:endParaRPr b="0" lang="en-US" sz="1100" spc="-1" strike="noStrike">
              <a:solidFill>
                <a:srgbClr val="000000"/>
              </a:solidFill>
              <a:latin typeface="Arial"/>
            </a:endParaRPr>
          </a:p>
        </p:txBody>
      </p:sp>
      <p:sp>
        <p:nvSpPr>
          <p:cNvPr id="183" name="Rounded Rectangle 10"/>
          <p:cNvSpPr/>
          <p:nvPr/>
        </p:nvSpPr>
        <p:spPr>
          <a:xfrm>
            <a:off x="4313880" y="1298520"/>
            <a:ext cx="50040" cy="237708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 name="Rounded Rectangle 11"/>
          <p:cNvSpPr/>
          <p:nvPr/>
        </p:nvSpPr>
        <p:spPr>
          <a:xfrm>
            <a:off x="806076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F03  Users &amp; role management</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Invitations, role assignment, project membership.</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Capabilities cover project creation, template upload, claim resolution, agent-memory management, final approval, submission export and billing.</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SUPER_ADMIN deliberately never appears in tenant role lists.</a:t>
            </a:r>
            <a:endParaRPr b="0" lang="en-US" sz="1100" spc="-1" strike="noStrike">
              <a:solidFill>
                <a:srgbClr val="000000"/>
              </a:solidFill>
              <a:latin typeface="Arial"/>
            </a:endParaRPr>
          </a:p>
        </p:txBody>
      </p:sp>
      <p:sp>
        <p:nvSpPr>
          <p:cNvPr id="185" name="Rounded Rectangle 12"/>
          <p:cNvSpPr/>
          <p:nvPr/>
        </p:nvSpPr>
        <p:spPr>
          <a:xfrm>
            <a:off x="8060760" y="1298520"/>
            <a:ext cx="50040" cy="237708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 name="Rounded Rectangle 13"/>
          <p:cNvSpPr/>
          <p:nvPr/>
        </p:nvSpPr>
        <p:spPr>
          <a:xfrm>
            <a:off x="56700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F04 + F18  Project setup &amp; creation wizard</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Project metadata, donor(s), sectors, geography, duration and reporting cadence.</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Guided wizard for first-run setup; multi-donor and project-template support.</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Period dates and donor deadlines are derived from report type + project bounds.</a:t>
            </a:r>
            <a:endParaRPr b="0" lang="en-US" sz="1100" spc="-1" strike="noStrike">
              <a:solidFill>
                <a:srgbClr val="000000"/>
              </a:solidFill>
              <a:latin typeface="Arial"/>
            </a:endParaRPr>
          </a:p>
        </p:txBody>
      </p:sp>
      <p:sp>
        <p:nvSpPr>
          <p:cNvPr id="187" name="Rounded Rectangle 14"/>
          <p:cNvSpPr/>
          <p:nvPr/>
        </p:nvSpPr>
        <p:spPr>
          <a:xfrm>
            <a:off x="567000" y="3858840"/>
            <a:ext cx="50040" cy="237708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 name="Rounded Rectangle 15"/>
          <p:cNvSpPr/>
          <p:nvPr/>
        </p:nvSpPr>
        <p:spPr>
          <a:xfrm>
            <a:off x="431388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F05  Donor Template Manager v2</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50" spc="-1" strike="noStrike">
                <a:solidFill>
                  <a:srgbClr val="334155"/>
                </a:solidFill>
                <a:latin typeface="Calibri"/>
              </a:rPr>
              <a:t>Upload DOCX/PDF/XLSX/CSV; structure-preserving parse; TOC-first extraction (v2) returns the whole outline, with heading levels read from DOCX formatting or PDF font size.</a:t>
            </a:r>
            <a:endParaRPr b="0" lang="en-US" sz="105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50" spc="-1" strike="noStrike">
                <a:solidFill>
                  <a:srgbClr val="334155"/>
                </a:solidFill>
                <a:latin typeface="Calibri"/>
              </a:rPr>
              <a:t>Lifecycle EXTRACTING → NEEDS_REVIEW → REVIEWED; every edit is a new version snapshot; report rules live in requirements JSON.</a:t>
            </a:r>
            <a:endParaRPr b="0" lang="en-US" sz="105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50" spc="-1" strike="noStrike">
                <a:solidFill>
                  <a:srgbClr val="334155"/>
                </a:solidFill>
                <a:latin typeface="Calibri"/>
              </a:rPr>
              <a:t>Donor instructions, mandatory questions, evidence needed, required tables, page limits and author guidance all reach the writers.</a:t>
            </a:r>
            <a:endParaRPr b="0" lang="en-US" sz="1050" spc="-1" strike="noStrike">
              <a:solidFill>
                <a:srgbClr val="000000"/>
              </a:solidFill>
              <a:latin typeface="Arial"/>
            </a:endParaRPr>
          </a:p>
        </p:txBody>
      </p:sp>
      <p:sp>
        <p:nvSpPr>
          <p:cNvPr id="189" name="Rounded Rectangle 16"/>
          <p:cNvSpPr/>
          <p:nvPr/>
        </p:nvSpPr>
        <p:spPr>
          <a:xfrm>
            <a:off x="4313880" y="3858840"/>
            <a:ext cx="50040" cy="237708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Rounded Rectangle 17"/>
          <p:cNvSpPr/>
          <p:nvPr/>
        </p:nvSpPr>
        <p:spPr>
          <a:xfrm>
            <a:off x="806076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Gate  A full draft needs a REVIEWED template</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Generation pins the reviewed template into the reporting period snapshot; section regenerate uses the same pin.</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Guidance-only sections ("include in report" off) are excluded from the report but still inform the writer.</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Extraction never falls back silently: ungrounded items are dropped and the heuristic outline is always flagged.</a:t>
            </a:r>
            <a:endParaRPr b="0" lang="en-US" sz="1100" spc="-1" strike="noStrike">
              <a:solidFill>
                <a:srgbClr val="000000"/>
              </a:solidFill>
              <a:latin typeface="Arial"/>
            </a:endParaRPr>
          </a:p>
        </p:txBody>
      </p:sp>
      <p:sp>
        <p:nvSpPr>
          <p:cNvPr id="191" name="Rounded Rectangle 18"/>
          <p:cNvSpPr/>
          <p:nvPr/>
        </p:nvSpPr>
        <p:spPr>
          <a:xfrm>
            <a:off x="8060760" y="3858840"/>
            <a:ext cx="50040" cy="237708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FEATURE MAP 2 OF 2 · FEATURES 06–17</a:t>
            </a:r>
            <a:endParaRPr b="0" lang="en-US" sz="950" spc="-1" strike="noStrike">
              <a:solidFill>
                <a:srgbClr val="000000"/>
              </a:solidFill>
              <a:latin typeface="Arial"/>
            </a:endParaRPr>
          </a:p>
        </p:txBody>
      </p:sp>
      <p:sp>
        <p:nvSpPr>
          <p:cNvPr id="193"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Delivery: data in, drafts out, gaps surfaced</a:t>
            </a:r>
            <a:endParaRPr b="0" lang="en-US" sz="2300" spc="-1" strike="noStrike">
              <a:solidFill>
                <a:srgbClr val="000000"/>
              </a:solidFill>
              <a:latin typeface="Arial"/>
            </a:endParaRPr>
          </a:p>
        </p:txBody>
      </p:sp>
      <p:sp>
        <p:nvSpPr>
          <p:cNvPr id="194"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5"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6"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memorybank/Features/06–17 · Features/INDEX.md · memorybank/features.md (frontend phases 0–7)</a:t>
            </a:r>
            <a:endParaRPr b="0" lang="en-US" sz="900" spc="-1" strike="noStrike">
              <a:solidFill>
                <a:srgbClr val="000000"/>
              </a:solidFill>
              <a:latin typeface="Arial"/>
            </a:endParaRPr>
          </a:p>
        </p:txBody>
      </p:sp>
      <p:sp>
        <p:nvSpPr>
          <p:cNvPr id="197"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9 / 20</a:t>
            </a:r>
            <a:endParaRPr b="0" lang="en-US" sz="900" spc="-1" strike="noStrike">
              <a:solidFill>
                <a:srgbClr val="000000"/>
              </a:solidFill>
              <a:latin typeface="Arial"/>
            </a:endParaRPr>
          </a:p>
        </p:txBody>
      </p:sp>
      <p:sp>
        <p:nvSpPr>
          <p:cNvPr id="198" name="Rounded Rectangle 7"/>
          <p:cNvSpPr/>
          <p:nvPr/>
        </p:nvSpPr>
        <p:spPr>
          <a:xfrm>
            <a:off x="56700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F06  Logframe &amp; indicator manager</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Goal → Outcome → Output → Activity hierarchy with Goals/Outcomes/Outputs/Activities templates for import.</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Per-period spreadsheet grid at /projects/[id]/reports/[periodId]/indicators: bulk upsert, unique (indicator, period), per-row submit/verify.</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Google Sheets import via POST /v1/indicator-updates/parse-sheet; indicator history via GET /v1/indicators/:id/updates.</a:t>
            </a:r>
            <a:endParaRPr b="0" lang="en-US" sz="1100" spc="-1" strike="noStrike">
              <a:solidFill>
                <a:srgbClr val="000000"/>
              </a:solidFill>
              <a:latin typeface="Arial"/>
            </a:endParaRPr>
          </a:p>
        </p:txBody>
      </p:sp>
      <p:sp>
        <p:nvSpPr>
          <p:cNvPr id="199" name="Rounded Rectangle 8"/>
          <p:cNvSpPr/>
          <p:nvPr/>
        </p:nvSpPr>
        <p:spPr>
          <a:xfrm>
            <a:off x="567000" y="1298520"/>
            <a:ext cx="50040" cy="237708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 name="Rounded Rectangle 9"/>
          <p:cNvSpPr/>
          <p:nvPr/>
        </p:nvSpPr>
        <p:spPr>
          <a:xfrm>
            <a:off x="431388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F07 + F08  Evidence library &amp; AI tagging</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Upload photos, attendance sheets, training records, field visit reports, procurement and monitoring documents.</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Document text is persisted as EvidenceFile.extractedText (Tika flow) and chunked into retrievable evidence packages.</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Tagging, verification and linking to activities/indicators; storage is Google Drive link-first by default, R2 or local per tenant.</a:t>
            </a:r>
            <a:endParaRPr b="0" lang="en-US" sz="1100" spc="-1" strike="noStrike">
              <a:solidFill>
                <a:srgbClr val="000000"/>
              </a:solidFill>
              <a:latin typeface="Arial"/>
            </a:endParaRPr>
          </a:p>
        </p:txBody>
      </p:sp>
      <p:sp>
        <p:nvSpPr>
          <p:cNvPr id="201" name="Rounded Rectangle 10"/>
          <p:cNvSpPr/>
          <p:nvPr/>
        </p:nvSpPr>
        <p:spPr>
          <a:xfrm>
            <a:off x="4313880" y="1298520"/>
            <a:ext cx="50040" cy="237708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 name="Rounded Rectangle 11"/>
          <p:cNvSpPr/>
          <p:nvPr/>
        </p:nvSpPr>
        <p:spPr>
          <a:xfrm>
            <a:off x="8060760" y="129852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F09 + F10  Activity updates &amp; periods</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200" spc="-1" strike="noStrike">
                <a:solidFill>
                  <a:srgbClr val="334155"/>
                </a:solidFill>
                <a:latin typeface="Calibri"/>
              </a:rPr>
              <a:t>Structured "tell the story" field reporting instead of free WhatsApp text; flexible Excel/CSV and field-report inputs.</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200" spc="-1" strike="noStrike">
                <a:solidFill>
                  <a:srgbClr val="334155"/>
                </a:solidFill>
                <a:latin typeface="Calibri"/>
              </a:rPr>
              <a:t>Reporting period manager: cadence, dates, donor deadline, status; reminder jobs and notifications.</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200" spc="-1" strike="noStrike">
                <a:solidFill>
                  <a:srgbClr val="334155"/>
                </a:solidFill>
                <a:latin typeface="Calibri"/>
              </a:rPr>
              <a:t>Period-linked evidence union drives the evidence readiness figure.</a:t>
            </a:r>
            <a:endParaRPr b="0" lang="en-US" sz="1200" spc="-1" strike="noStrike">
              <a:solidFill>
                <a:srgbClr val="000000"/>
              </a:solidFill>
              <a:latin typeface="Arial"/>
            </a:endParaRPr>
          </a:p>
        </p:txBody>
      </p:sp>
      <p:sp>
        <p:nvSpPr>
          <p:cNvPr id="203" name="Rounded Rectangle 12"/>
          <p:cNvSpPr/>
          <p:nvPr/>
        </p:nvSpPr>
        <p:spPr>
          <a:xfrm>
            <a:off x="8060760" y="1298520"/>
            <a:ext cx="50040" cy="237708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 name="Rounded Rectangle 13"/>
          <p:cNvSpPr/>
          <p:nvPr/>
        </p:nvSpPr>
        <p:spPr>
          <a:xfrm>
            <a:off x="56700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F12  Missing evidence &amp; compliance checklist</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00" spc="-1" strike="noStrike">
                <a:solidFill>
                  <a:srgbClr val="334155"/>
                </a:solidFill>
                <a:latin typeface="Calibri"/>
              </a:rPr>
              <a:t>Compares donor requirements, logframe means of verification, activities and evidence; generates actionable items.</a:t>
            </a:r>
            <a:endParaRPr b="0" lang="en-US" sz="10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00" spc="-1" strike="noStrike">
                <a:solidFill>
                  <a:srgbClr val="334155"/>
                </a:solidFill>
                <a:latin typeface="Calibri"/>
              </a:rPr>
              <a:t>Item types: missing evidence, incomplete metadata, unverified indicator, unsupported claim, missing annex/procurement/approval/disaggregation, late update, sensitive-data warning, unreviewed AI output.</a:t>
            </a:r>
            <a:endParaRPr b="0" lang="en-US" sz="10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000" spc="-1" strike="noStrike">
                <a:solidFill>
                  <a:srgbClr val="334155"/>
                </a:solidFill>
                <a:latin typeface="Calibri"/>
              </a:rPr>
              <a:t>Severity Low → Critical; owner, due date, resolution notes.</a:t>
            </a:r>
            <a:endParaRPr b="0" lang="en-US" sz="1000" spc="-1" strike="noStrike">
              <a:solidFill>
                <a:srgbClr val="000000"/>
              </a:solidFill>
              <a:latin typeface="Arial"/>
            </a:endParaRPr>
          </a:p>
        </p:txBody>
      </p:sp>
      <p:sp>
        <p:nvSpPr>
          <p:cNvPr id="205" name="Rounded Rectangle 14"/>
          <p:cNvSpPr/>
          <p:nvPr/>
        </p:nvSpPr>
        <p:spPr>
          <a:xfrm>
            <a:off x="567000" y="3858840"/>
            <a:ext cx="50040" cy="237708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Rounded Rectangle 15"/>
          <p:cNvSpPr/>
          <p:nvPr/>
        </p:nvSpPr>
        <p:spPr>
          <a:xfrm>
            <a:off x="431388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F13 + F15  Review, approval &amp; dashboard</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Comments on sections, evidence, indicators, checklist items and activity updates; M&amp;E, compliance and PM approval steps.</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Approval requires: sections complete, critical items resolved or accepted, indicator updates verified, evidence attached, sensitive files reviewed.</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Dashboard shows readiness snapshot, deadline overview, urgent flags and workspace health.</a:t>
            </a:r>
            <a:endParaRPr b="0" lang="en-US" sz="1100" spc="-1" strike="noStrike">
              <a:solidFill>
                <a:srgbClr val="000000"/>
              </a:solidFill>
              <a:latin typeface="Arial"/>
            </a:endParaRPr>
          </a:p>
        </p:txBody>
      </p:sp>
      <p:sp>
        <p:nvSpPr>
          <p:cNvPr id="207" name="Rounded Rectangle 16"/>
          <p:cNvSpPr/>
          <p:nvPr/>
        </p:nvSpPr>
        <p:spPr>
          <a:xfrm>
            <a:off x="4313880" y="3858840"/>
            <a:ext cx="50040" cy="237708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 name="Rounded Rectangle 17"/>
          <p:cNvSpPr/>
          <p:nvPr/>
        </p:nvSpPr>
        <p:spPr>
          <a:xfrm>
            <a:off x="8060760" y="3858840"/>
            <a:ext cx="3563640" cy="23770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F16 + F17  Audit log &amp; settings</a:t>
            </a:r>
            <a:endParaRPr b="0" lang="en-US" sz="12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Every mutation writes an audit event; hash-chained WORM notarisation is the Phase 2/3 target; PII redaction in logs.</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Settings: organisation profile, reporting defaults, storage, notifications, team, billing, AI settings and (v2.0) the "AI Writing Style" tab.</a:t>
            </a:r>
            <a:endParaRPr b="0" lang="en-US" sz="1100" spc="-1" strike="noStrike">
              <a:solidFill>
                <a:srgbClr val="000000"/>
              </a:solidFill>
              <a:latin typeface="Arial"/>
            </a:endParaRPr>
          </a:p>
          <a:p>
            <a:pPr marL="216000" indent="-216000" defTabSz="457200">
              <a:lnSpc>
                <a:spcPct val="102000"/>
              </a:lnSpc>
              <a:spcAft>
                <a:spcPts val="300"/>
              </a:spcAft>
              <a:buClr>
                <a:srgbClr val="334155"/>
              </a:buClr>
              <a:buFont typeface="Wingdings" charset="2"/>
              <a:buChar char=""/>
            </a:pPr>
            <a:r>
              <a:rPr b="0" lang="en-US" sz="1100" spc="-1" strike="noStrike">
                <a:solidFill>
                  <a:srgbClr val="334155"/>
                </a:solidFill>
                <a:latin typeface="Calibri"/>
              </a:rPr>
              <a:t>Audit streams are partitioned per tenant for export and GDPR right-to-erasure.</a:t>
            </a:r>
            <a:endParaRPr b="0" lang="en-US" sz="1100" spc="-1" strike="noStrike">
              <a:solidFill>
                <a:srgbClr val="000000"/>
              </a:solidFill>
              <a:latin typeface="Arial"/>
            </a:endParaRPr>
          </a:p>
        </p:txBody>
      </p:sp>
      <p:sp>
        <p:nvSpPr>
          <p:cNvPr id="209" name="Rounded Rectangle 18"/>
          <p:cNvSpPr/>
          <p:nvPr/>
        </p:nvSpPr>
        <p:spPr>
          <a:xfrm>
            <a:off x="8060760" y="3858840"/>
            <a:ext cx="50040" cy="2377080"/>
          </a:xfrm>
          <a:prstGeom prst="roundRect">
            <a:avLst>
              <a:gd name="adj" fmla="val 30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REPORT EDITOR &amp; CONTENT INVARIANT</a:t>
            </a:r>
            <a:endParaRPr b="0" lang="en-US" sz="950" spc="-1" strike="noStrike">
              <a:solidFill>
                <a:srgbClr val="000000"/>
              </a:solidFill>
              <a:latin typeface="Arial"/>
            </a:endParaRPr>
          </a:p>
        </p:txBody>
      </p:sp>
      <p:sp>
        <p:nvSpPr>
          <p:cNvPr id="211"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Section content is a contract, not free-form HTML</a:t>
            </a:r>
            <a:endParaRPr b="0" lang="en-US" sz="2300" spc="-1" strike="noStrike">
              <a:solidFill>
                <a:srgbClr val="000000"/>
              </a:solidFill>
              <a:latin typeface="Arial"/>
            </a:endParaRPr>
          </a:p>
        </p:txBody>
      </p:sp>
      <p:sp>
        <p:nvSpPr>
          <p:cNvPr id="212"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13"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14"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AGENTS.md §"Report section content = a fixed markdown subset" · memorybank/pending.md (Report Editor v2 P7)</a:t>
            </a:r>
            <a:endParaRPr b="0" lang="en-US" sz="900" spc="-1" strike="noStrike">
              <a:solidFill>
                <a:srgbClr val="000000"/>
              </a:solidFill>
              <a:latin typeface="Arial"/>
            </a:endParaRPr>
          </a:p>
        </p:txBody>
      </p:sp>
      <p:sp>
        <p:nvSpPr>
          <p:cNvPr id="215"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10 / 20</a:t>
            </a:r>
            <a:endParaRPr b="0" lang="en-US" sz="900" spc="-1" strike="noStrike">
              <a:solidFill>
                <a:srgbClr val="000000"/>
              </a:solidFill>
              <a:latin typeface="Arial"/>
            </a:endParaRPr>
          </a:p>
        </p:txBody>
      </p:sp>
      <p:sp>
        <p:nvSpPr>
          <p:cNvPr id="216" name="Rounded Rectangle 7"/>
          <p:cNvSpPr/>
          <p:nvPr/>
        </p:nvSpPr>
        <p:spPr>
          <a:xfrm>
            <a:off x="567000" y="1298520"/>
            <a:ext cx="5421960" cy="31086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50" spc="-1" strike="noStrike">
                <a:solidFill>
                  <a:srgbClr val="0f172a"/>
                </a:solidFill>
                <a:latin typeface="Calibri"/>
              </a:rPr>
              <a:t>One markdown subset — three renderers</a:t>
            </a:r>
            <a:endParaRPr b="0" lang="en-US" sz="125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Allowed constructs</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Paragraphs · ###/#### headings · - and 1. lists · &gt; quotes · GFM tables · **bold** · *italic* · `code` · [label](url).</a:t>
            </a:r>
            <a:endParaRPr b="0" lang="en-US" sz="100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Enforced on every save</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normalizeSectionMarkdown runs inside UpdateReportSectionHandler for manual saves; the rich-text editor enables only these constructs and converts its output with toStorageMarkdown.</a:t>
            </a:r>
            <a:endParaRPr b="0" lang="en-US" sz="100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Adding a construct is a three-renderer change</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Teach the exporters first, then extend the parity and round-trip tests — otherwise the editor can produce text the donor DOCX cannot render.</a:t>
            </a:r>
            <a:endParaRPr b="0" lang="en-US" sz="1000" spc="-1" strike="noStrike">
              <a:solidFill>
                <a:srgbClr val="000000"/>
              </a:solidFill>
              <a:latin typeface="Arial"/>
            </a:endParaRPr>
          </a:p>
        </p:txBody>
      </p:sp>
      <p:sp>
        <p:nvSpPr>
          <p:cNvPr id="217" name="Rounded Rectangle 8"/>
          <p:cNvSpPr/>
          <p:nvPr/>
        </p:nvSpPr>
        <p:spPr>
          <a:xfrm>
            <a:off x="567000" y="1298520"/>
            <a:ext cx="542196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218" name="Rounded Rectangle 9"/>
          <p:cNvSpPr/>
          <p:nvPr/>
        </p:nvSpPr>
        <p:spPr>
          <a:xfrm>
            <a:off x="6199560" y="1298520"/>
            <a:ext cx="5424840" cy="31086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50" spc="-1" strike="noStrike">
                <a:solidFill>
                  <a:srgbClr val="0f172a"/>
                </a:solidFill>
                <a:latin typeface="Calibri"/>
              </a:rPr>
              <a:t>Report Editor v2 invariants</a:t>
            </a:r>
            <a:endParaRPr b="0" lang="en-US" sz="125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Version = stored ReportSection.updatedAt</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Handlers return the version read back after assurance; clients send it as expectedVersion — so stale saves are rejected, not silently merged.</a:t>
            </a:r>
            <a:endParaRPr b="0" lang="en-US" sz="100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Claims are re-created by every assurance pass</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Never hold a claim id across a save/resolve/re-check — use the id returned by resolve; decisions follow the fingerprint.</a:t>
            </a:r>
            <a:endParaRPr b="0" lang="en-US" sz="100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EXCLUDED means left out</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Exports strip excluded statements via omitExcludedStatements.</a:t>
            </a:r>
            <a:endParaRPr b="0" lang="en-US" sz="1000" spc="-1" strike="noStrike">
              <a:solidFill>
                <a:srgbClr val="000000"/>
              </a:solidFill>
              <a:latin typeface="Arial"/>
            </a:endParaRPr>
          </a:p>
          <a:p>
            <a:pPr defTabSz="457200">
              <a:lnSpc>
                <a:spcPct val="100000"/>
              </a:lnSpc>
              <a:spcBef>
                <a:spcPts val="400"/>
              </a:spcBef>
              <a:spcAft>
                <a:spcPts val="201"/>
              </a:spcAft>
            </a:pPr>
            <a:r>
              <a:rPr b="1" lang="en-US" sz="1000" spc="-1" strike="noStrike">
                <a:solidFill>
                  <a:srgbClr val="0f172a"/>
                </a:solidFill>
                <a:latin typeface="Calibri"/>
              </a:rPr>
              <a:t>Background work goes through BackgroundRunner</a:t>
            </a:r>
            <a:endParaRPr b="0" lang="en-US" sz="1000" spc="-1" strike="noStrike">
              <a:solidFill>
                <a:srgbClr val="000000"/>
              </a:solidFill>
              <a:latin typeface="Arial"/>
            </a:endParaRPr>
          </a:p>
          <a:p>
            <a:pPr defTabSz="457200">
              <a:lnSpc>
                <a:spcPct val="102000"/>
              </a:lnSpc>
              <a:spcAft>
                <a:spcPts val="300"/>
              </a:spcAft>
            </a:pPr>
            <a:r>
              <a:rPr b="0" lang="en-US" sz="1000" spc="-1" strike="noStrike">
                <a:solidFill>
                  <a:srgbClr val="334155"/>
                </a:solidFill>
                <a:latin typeface="Calibri"/>
              </a:rPr>
              <a:t>The api awaits container.settleBackgroundWork() before disconnecting the request's Prisma client.</a:t>
            </a:r>
            <a:endParaRPr b="0" lang="en-US" sz="1000" spc="-1" strike="noStrike">
              <a:solidFill>
                <a:srgbClr val="000000"/>
              </a:solidFill>
              <a:latin typeface="Arial"/>
            </a:endParaRPr>
          </a:p>
        </p:txBody>
      </p:sp>
      <p:sp>
        <p:nvSpPr>
          <p:cNvPr id="219" name="Rounded Rectangle 10"/>
          <p:cNvSpPr/>
          <p:nvPr/>
        </p:nvSpPr>
        <p:spPr>
          <a:xfrm>
            <a:off x="6199560" y="1298520"/>
            <a:ext cx="5424840" cy="4536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220" name="Table 11"/>
          <p:cNvGraphicFramePr/>
          <p:nvPr/>
        </p:nvGraphicFramePr>
        <p:xfrm>
          <a:off x="567000" y="4572000"/>
          <a:ext cx="11057400" cy="1170000"/>
        </p:xfrm>
        <a:graphic>
          <a:graphicData uri="http://schemas.openxmlformats.org/drawingml/2006/table">
            <a:tbl>
              <a:tblPr/>
              <a:tblGrid>
                <a:gridCol w="2432520"/>
                <a:gridCol w="4644000"/>
                <a:gridCol w="3980520"/>
              </a:tblGrid>
              <a:tr h="292320">
                <a:tc>
                  <a:txBody>
                    <a:bodyPr lIns="73080" rIns="73080" tIns="36360" bIns="36360" anchor="ctr">
                      <a:noAutofit/>
                    </a:bodyPr>
                    <a:p>
                      <a:pPr defTabSz="457200">
                        <a:lnSpc>
                          <a:spcPct val="100000"/>
                        </a:lnSpc>
                      </a:pPr>
                      <a:r>
                        <a:rPr b="1" lang="en-US" sz="1050" spc="-1" strike="noStrike">
                          <a:solidFill>
                            <a:srgbClr val="ffffff"/>
                          </a:solidFill>
                          <a:latin typeface="Calibri"/>
                        </a:rPr>
                        <a:t>Renderer</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Surface it must render</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Paired test</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292320">
                <a:tc>
                  <a:txBody>
                    <a:bodyPr lIns="73080" rIns="73080" tIns="27360" bIns="27360" anchor="ctr">
                      <a:noAutofit/>
                    </a:bodyPr>
                    <a:p>
                      <a:pPr defTabSz="457200">
                        <a:lnSpc>
                          <a:spcPct val="95000"/>
                        </a:lnSpc>
                      </a:pPr>
                      <a:r>
                        <a:rPr b="1" lang="en-US" sz="980" spc="-1" strike="noStrike">
                          <a:solidFill>
                            <a:srgbClr val="0f172a"/>
                          </a:solidFill>
                          <a:latin typeface="Calibri"/>
                        </a:rPr>
                        <a:t>markdown-renderer.ts</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DOCX and PDF exports from infrastructure</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test/export-markdown-renderer.test.mjs</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2320">
                <a:tc>
                  <a:txBody>
                    <a:bodyPr lIns="73080" rIns="73080" tIns="27360" bIns="27360" anchor="ctr">
                      <a:noAutofit/>
                    </a:bodyPr>
                    <a:p>
                      <a:pPr defTabSz="457200">
                        <a:lnSpc>
                          <a:spcPct val="95000"/>
                        </a:lnSpc>
                      </a:pPr>
                      <a:r>
                        <a:rPr b="1" lang="en-US" sz="980" spc="-1" strike="noStrike">
                          <a:solidFill>
                            <a:srgbClr val="0f172a"/>
                          </a:solidFill>
                          <a:latin typeface="Calibri"/>
                        </a:rPr>
                        <a:t>markdown_docx.py (workers)</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Donor templates rendered with docxtpl</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tests/test_donor_template.py</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92320">
                <a:tc>
                  <a:txBody>
                    <a:bodyPr lIns="73080" rIns="73080" tIns="27360" bIns="27360" anchor="ctr">
                      <a:noAutofit/>
                    </a:bodyPr>
                    <a:p>
                      <a:pPr defTabSz="457200">
                        <a:lnSpc>
                          <a:spcPct val="95000"/>
                        </a:lnSpc>
                      </a:pPr>
                      <a:r>
                        <a:rPr b="1" lang="en-US" sz="980" spc="-1" strike="noStrike">
                          <a:solidFill>
                            <a:srgbClr val="0f172a"/>
                          </a:solidFill>
                          <a:latin typeface="Calibri"/>
                        </a:rPr>
                        <a:t>StaticSectionView (web)</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Read-only section rendering in the portal</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80" spc="-1" strike="noStrike">
                          <a:solidFill>
                            <a:srgbClr val="334155"/>
                          </a:solidFill>
                          <a:latin typeface="Calibri"/>
                        </a:rPr>
                        <a:t>web/tests/unit/rich-text-roundtrip.test.mts</a:t>
                      </a:r>
                      <a:endParaRPr b="0" lang="en-US" sz="9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ARCHITECTURE</a:t>
            </a:r>
            <a:endParaRPr b="0" lang="en-US" sz="950" spc="-1" strike="noStrike">
              <a:solidFill>
                <a:srgbClr val="000000"/>
              </a:solidFill>
              <a:latin typeface="Arial"/>
            </a:endParaRPr>
          </a:p>
        </p:txBody>
      </p:sp>
      <p:sp>
        <p:nvSpPr>
          <p:cNvPr id="222"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Hexagonal monorepo: one deployable port, many bounded contexts</a:t>
            </a:r>
            <a:endParaRPr b="0" lang="en-US" sz="2300" spc="-1" strike="noStrike">
              <a:solidFill>
                <a:srgbClr val="000000"/>
              </a:solidFill>
              <a:latin typeface="Arial"/>
            </a:endParaRPr>
          </a:p>
        </p:txBody>
      </p:sp>
      <p:sp>
        <p:nvSpPr>
          <p:cNvPr id="223"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4"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5"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imp/DonorDesk — Phased Implementation Plan.md §1/§3/§4 · AGENTS.md architecture rules · ADR-0003</a:t>
            </a:r>
            <a:endParaRPr b="0" lang="en-US" sz="900" spc="-1" strike="noStrike">
              <a:solidFill>
                <a:srgbClr val="000000"/>
              </a:solidFill>
              <a:latin typeface="Arial"/>
            </a:endParaRPr>
          </a:p>
        </p:txBody>
      </p:sp>
      <p:sp>
        <p:nvSpPr>
          <p:cNvPr id="226"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11 / 20</a:t>
            </a:r>
            <a:endParaRPr b="0" lang="en-US" sz="900" spc="-1" strike="noStrike">
              <a:solidFill>
                <a:srgbClr val="000000"/>
              </a:solidFill>
              <a:latin typeface="Arial"/>
            </a:endParaRPr>
          </a:p>
        </p:txBody>
      </p:sp>
      <p:sp>
        <p:nvSpPr>
          <p:cNvPr id="227" name="Rounded Rectangle 7"/>
          <p:cNvSpPr/>
          <p:nvPr/>
        </p:nvSpPr>
        <p:spPr>
          <a:xfrm>
            <a:off x="567000" y="1344240"/>
            <a:ext cx="5394600" cy="566640"/>
          </a:xfrm>
          <a:prstGeom prst="roundRect">
            <a:avLst>
              <a:gd name="adj" fmla="val 10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spcAft>
                <a:spcPts val="99"/>
              </a:spcAft>
            </a:pPr>
            <a:r>
              <a:rPr b="1" lang="en-US" sz="1150" spc="-1" strike="noStrike">
                <a:solidFill>
                  <a:srgbClr val="0f172a"/>
                </a:solidFill>
                <a:latin typeface="Calibri"/>
              </a:rPr>
              <a:t>apps/web</a:t>
            </a:r>
            <a:endParaRPr b="0" lang="en-US" sz="1150" spc="-1" strike="noStrike">
              <a:solidFill>
                <a:srgbClr val="000000"/>
              </a:solidFill>
              <a:latin typeface="Arial"/>
            </a:endParaRPr>
          </a:p>
          <a:p>
            <a:pPr defTabSz="457200">
              <a:lnSpc>
                <a:spcPct val="100000"/>
              </a:lnSpc>
              <a:spcAft>
                <a:spcPts val="201"/>
              </a:spcAft>
            </a:pPr>
            <a:r>
              <a:rPr b="0" lang="en-US" sz="950" spc="-1" strike="noStrike">
                <a:solidFill>
                  <a:srgbClr val="64748b"/>
                </a:solidFill>
                <a:latin typeface="Calibri"/>
              </a:rPr>
              <a:t>Next.js App Router — RSC for reads, server actions for writes</a:t>
            </a:r>
            <a:endParaRPr b="0" lang="en-US" sz="950" spc="-1" strike="noStrike">
              <a:solidFill>
                <a:srgbClr val="000000"/>
              </a:solidFill>
              <a:latin typeface="Arial"/>
            </a:endParaRPr>
          </a:p>
        </p:txBody>
      </p:sp>
      <p:sp>
        <p:nvSpPr>
          <p:cNvPr id="228" name="Rectangle 8"/>
          <p:cNvSpPr/>
          <p:nvPr/>
        </p:nvSpPr>
        <p:spPr>
          <a:xfrm>
            <a:off x="567000" y="1344240"/>
            <a:ext cx="50040" cy="5666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Rounded Rectangle 9"/>
          <p:cNvSpPr/>
          <p:nvPr/>
        </p:nvSpPr>
        <p:spPr>
          <a:xfrm>
            <a:off x="567000" y="1984320"/>
            <a:ext cx="5394600" cy="566640"/>
          </a:xfrm>
          <a:prstGeom prst="roundRect">
            <a:avLst>
              <a:gd name="adj" fmla="val 10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spcAft>
                <a:spcPts val="99"/>
              </a:spcAft>
            </a:pPr>
            <a:r>
              <a:rPr b="1" lang="en-US" sz="1150" spc="-1" strike="noStrike">
                <a:solidFill>
                  <a:srgbClr val="0f172a"/>
                </a:solidFill>
                <a:latin typeface="Calibri"/>
              </a:rPr>
              <a:t>apps/api</a:t>
            </a:r>
            <a:endParaRPr b="0" lang="en-US" sz="1150" spc="-1" strike="noStrike">
              <a:solidFill>
                <a:srgbClr val="000000"/>
              </a:solidFill>
              <a:latin typeface="Arial"/>
            </a:endParaRPr>
          </a:p>
          <a:p>
            <a:pPr defTabSz="457200">
              <a:lnSpc>
                <a:spcPct val="100000"/>
              </a:lnSpc>
              <a:spcAft>
                <a:spcPts val="201"/>
              </a:spcAft>
            </a:pPr>
            <a:r>
              <a:rPr b="0" lang="en-US" sz="950" spc="-1" strike="noStrike">
                <a:solidFill>
                  <a:srgbClr val="64748b"/>
                </a:solidFill>
                <a:latin typeface="Calibri"/>
              </a:rPr>
              <a:t>Fastify — thin, Zod-validated routes wired to handlers</a:t>
            </a:r>
            <a:endParaRPr b="0" lang="en-US" sz="950" spc="-1" strike="noStrike">
              <a:solidFill>
                <a:srgbClr val="000000"/>
              </a:solidFill>
              <a:latin typeface="Arial"/>
            </a:endParaRPr>
          </a:p>
        </p:txBody>
      </p:sp>
      <p:sp>
        <p:nvSpPr>
          <p:cNvPr id="230" name="Rectangle 10"/>
          <p:cNvSpPr/>
          <p:nvPr/>
        </p:nvSpPr>
        <p:spPr>
          <a:xfrm>
            <a:off x="567000" y="1984320"/>
            <a:ext cx="50040" cy="5666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Rounded Rectangle 11"/>
          <p:cNvSpPr/>
          <p:nvPr/>
        </p:nvSpPr>
        <p:spPr>
          <a:xfrm>
            <a:off x="567000" y="2624400"/>
            <a:ext cx="5394600" cy="566640"/>
          </a:xfrm>
          <a:prstGeom prst="roundRect">
            <a:avLst>
              <a:gd name="adj" fmla="val 10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spcAft>
                <a:spcPts val="99"/>
              </a:spcAft>
            </a:pPr>
            <a:r>
              <a:rPr b="1" lang="en-US" sz="1150" spc="-1" strike="noStrike">
                <a:solidFill>
                  <a:srgbClr val="0f172a"/>
                </a:solidFill>
                <a:latin typeface="Calibri"/>
              </a:rPr>
              <a:t>apps/workers</a:t>
            </a:r>
            <a:endParaRPr b="0" lang="en-US" sz="1150" spc="-1" strike="noStrike">
              <a:solidFill>
                <a:srgbClr val="000000"/>
              </a:solidFill>
              <a:latin typeface="Arial"/>
            </a:endParaRPr>
          </a:p>
          <a:p>
            <a:pPr defTabSz="457200">
              <a:lnSpc>
                <a:spcPct val="100000"/>
              </a:lnSpc>
              <a:spcAft>
                <a:spcPts val="201"/>
              </a:spcAft>
            </a:pPr>
            <a:r>
              <a:rPr b="0" lang="en-US" sz="950" spc="-1" strike="noStrike">
                <a:solidFill>
                  <a:srgbClr val="64748b"/>
                </a:solidFill>
                <a:latin typeface="Calibri"/>
              </a:rPr>
              <a:t>FastAPI — AI Reporter, parsers, donor-template rendering</a:t>
            </a:r>
            <a:endParaRPr b="0" lang="en-US" sz="950" spc="-1" strike="noStrike">
              <a:solidFill>
                <a:srgbClr val="000000"/>
              </a:solidFill>
              <a:latin typeface="Arial"/>
            </a:endParaRPr>
          </a:p>
        </p:txBody>
      </p:sp>
      <p:sp>
        <p:nvSpPr>
          <p:cNvPr id="232" name="Rectangle 12"/>
          <p:cNvSpPr/>
          <p:nvPr/>
        </p:nvSpPr>
        <p:spPr>
          <a:xfrm>
            <a:off x="567000" y="2624400"/>
            <a:ext cx="50040" cy="566640"/>
          </a:xfrm>
          <a:prstGeom prst="rect">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Rounded Rectangle 13"/>
          <p:cNvSpPr/>
          <p:nvPr/>
        </p:nvSpPr>
        <p:spPr>
          <a:xfrm>
            <a:off x="567000" y="3310200"/>
            <a:ext cx="5394600" cy="402120"/>
          </a:xfrm>
          <a:prstGeom prst="roundRect">
            <a:avLst>
              <a:gd name="adj" fmla="val 12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pPr>
            <a:r>
              <a:rPr b="1" lang="en-US" sz="1050" spc="-1" strike="noStrike">
                <a:solidFill>
                  <a:srgbClr val="1e3a8a"/>
                </a:solidFill>
                <a:latin typeface="Calibri"/>
              </a:rPr>
              <a:t>packages/application</a:t>
            </a:r>
            <a:endParaRPr b="0" lang="en-US" sz="1050" spc="-1" strike="noStrike">
              <a:solidFill>
                <a:srgbClr val="000000"/>
              </a:solidFill>
              <a:latin typeface="Arial"/>
            </a:endParaRPr>
          </a:p>
          <a:p>
            <a:pPr defTabSz="457200">
              <a:lnSpc>
                <a:spcPct val="100000"/>
              </a:lnSpc>
            </a:pPr>
            <a:r>
              <a:rPr b="0" lang="en-US" sz="900" spc="-1" strike="noStrike">
                <a:solidFill>
                  <a:srgbClr val="64748b"/>
                </a:solidFill>
                <a:latin typeface="Calibri"/>
              </a:rPr>
              <a:t>use-case handlers + ports (no concrete adapters)</a:t>
            </a:r>
            <a:endParaRPr b="0" lang="en-US" sz="900" spc="-1" strike="noStrike">
              <a:solidFill>
                <a:srgbClr val="000000"/>
              </a:solidFill>
              <a:latin typeface="Arial"/>
            </a:endParaRPr>
          </a:p>
        </p:txBody>
      </p:sp>
      <p:sp>
        <p:nvSpPr>
          <p:cNvPr id="234" name="Rounded Rectangle 14"/>
          <p:cNvSpPr/>
          <p:nvPr/>
        </p:nvSpPr>
        <p:spPr>
          <a:xfrm>
            <a:off x="567000" y="3767400"/>
            <a:ext cx="5394600" cy="402120"/>
          </a:xfrm>
          <a:prstGeom prst="roundRect">
            <a:avLst>
              <a:gd name="adj" fmla="val 12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pPr>
            <a:r>
              <a:rPr b="1" lang="en-US" sz="1050" spc="-1" strike="noStrike">
                <a:solidFill>
                  <a:srgbClr val="1e3a8a"/>
                </a:solidFill>
                <a:latin typeface="Calibri"/>
              </a:rPr>
              <a:t>packages/domain</a:t>
            </a:r>
            <a:endParaRPr b="0" lang="en-US" sz="1050" spc="-1" strike="noStrike">
              <a:solidFill>
                <a:srgbClr val="000000"/>
              </a:solidFill>
              <a:latin typeface="Arial"/>
            </a:endParaRPr>
          </a:p>
          <a:p>
            <a:pPr defTabSz="457200">
              <a:lnSpc>
                <a:spcPct val="100000"/>
              </a:lnSpc>
            </a:pPr>
            <a:r>
              <a:rPr b="0" lang="en-US" sz="900" spc="-1" strike="noStrike">
                <a:solidFill>
                  <a:srgbClr val="64748b"/>
                </a:solidFill>
                <a:latin typeface="Calibri"/>
              </a:rPr>
              <a:t>pure TypeScript — entities, VOs, events, policies</a:t>
            </a:r>
            <a:endParaRPr b="0" lang="en-US" sz="900" spc="-1" strike="noStrike">
              <a:solidFill>
                <a:srgbClr val="000000"/>
              </a:solidFill>
              <a:latin typeface="Arial"/>
            </a:endParaRPr>
          </a:p>
        </p:txBody>
      </p:sp>
      <p:sp>
        <p:nvSpPr>
          <p:cNvPr id="235" name="Rounded Rectangle 15"/>
          <p:cNvSpPr/>
          <p:nvPr/>
        </p:nvSpPr>
        <p:spPr>
          <a:xfrm>
            <a:off x="567000" y="4224600"/>
            <a:ext cx="5394600" cy="402120"/>
          </a:xfrm>
          <a:prstGeom prst="roundRect">
            <a:avLst>
              <a:gd name="adj" fmla="val 12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pPr>
            <a:r>
              <a:rPr b="1" lang="en-US" sz="1050" spc="-1" strike="noStrike">
                <a:solidFill>
                  <a:srgbClr val="1e3a8a"/>
                </a:solidFill>
                <a:latin typeface="Calibri"/>
              </a:rPr>
              <a:t>packages/infrastructure</a:t>
            </a:r>
            <a:endParaRPr b="0" lang="en-US" sz="1050" spc="-1" strike="noStrike">
              <a:solidFill>
                <a:srgbClr val="000000"/>
              </a:solidFill>
              <a:latin typeface="Arial"/>
            </a:endParaRPr>
          </a:p>
          <a:p>
            <a:pPr defTabSz="457200">
              <a:lnSpc>
                <a:spcPct val="100000"/>
              </a:lnSpc>
            </a:pPr>
            <a:r>
              <a:rPr b="0" lang="en-US" sz="900" spc="-1" strike="noStrike">
                <a:solidFill>
                  <a:srgbClr val="64748b"/>
                </a:solidFill>
                <a:latin typeface="Calibri"/>
              </a:rPr>
              <a:t>Prisma, storage, LLM, parsers, exports, audit</a:t>
            </a:r>
            <a:endParaRPr b="0" lang="en-US" sz="900" spc="-1" strike="noStrike">
              <a:solidFill>
                <a:srgbClr val="000000"/>
              </a:solidFill>
              <a:latin typeface="Arial"/>
            </a:endParaRPr>
          </a:p>
        </p:txBody>
      </p:sp>
      <p:sp>
        <p:nvSpPr>
          <p:cNvPr id="236" name="Rounded Rectangle 16"/>
          <p:cNvSpPr/>
          <p:nvPr/>
        </p:nvSpPr>
        <p:spPr>
          <a:xfrm>
            <a:off x="567000" y="4681800"/>
            <a:ext cx="5394600" cy="402120"/>
          </a:xfrm>
          <a:prstGeom prst="roundRect">
            <a:avLst>
              <a:gd name="adj" fmla="val 12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pPr>
            <a:r>
              <a:rPr b="1" lang="en-US" sz="1050" spc="-1" strike="noStrike">
                <a:solidFill>
                  <a:srgbClr val="1e3a8a"/>
                </a:solidFill>
                <a:latin typeface="Calibri"/>
              </a:rPr>
              <a:t>packages/contracts</a:t>
            </a:r>
            <a:endParaRPr b="0" lang="en-US" sz="1050" spc="-1" strike="noStrike">
              <a:solidFill>
                <a:srgbClr val="000000"/>
              </a:solidFill>
              <a:latin typeface="Arial"/>
            </a:endParaRPr>
          </a:p>
          <a:p>
            <a:pPr defTabSz="457200">
              <a:lnSpc>
                <a:spcPct val="100000"/>
              </a:lnSpc>
            </a:pPr>
            <a:r>
              <a:rPr b="0" lang="en-US" sz="900" spc="-1" strike="noStrike">
                <a:solidFill>
                  <a:srgbClr val="64748b"/>
                </a:solidFill>
                <a:latin typeface="Calibri"/>
              </a:rPr>
              <a:t>Zod schemas + OpenAPI shared by api, web, workers</a:t>
            </a:r>
            <a:endParaRPr b="0" lang="en-US" sz="900" spc="-1" strike="noStrike">
              <a:solidFill>
                <a:srgbClr val="000000"/>
              </a:solidFill>
              <a:latin typeface="Arial"/>
            </a:endParaRPr>
          </a:p>
        </p:txBody>
      </p:sp>
      <p:sp>
        <p:nvSpPr>
          <p:cNvPr id="237" name="TextBox 17"/>
          <p:cNvSpPr/>
          <p:nvPr/>
        </p:nvSpPr>
        <p:spPr>
          <a:xfrm>
            <a:off x="567000" y="5157360"/>
            <a:ext cx="539460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2563eb"/>
                </a:solidFill>
                <a:latin typeface="Consolas"/>
              </a:rPr>
              <a:t>api → application → domain ← infrastructure</a:t>
            </a:r>
            <a:endParaRPr b="0" lang="en-US" sz="1050" spc="-1" strike="noStrike">
              <a:solidFill>
                <a:srgbClr val="000000"/>
              </a:solidFill>
              <a:latin typeface="Arial"/>
            </a:endParaRPr>
          </a:p>
        </p:txBody>
      </p:sp>
      <p:sp>
        <p:nvSpPr>
          <p:cNvPr id="238" name="Rounded Rectangle 18"/>
          <p:cNvSpPr/>
          <p:nvPr/>
        </p:nvSpPr>
        <p:spPr>
          <a:xfrm>
            <a:off x="6199560" y="1298520"/>
            <a:ext cx="5424840" cy="248688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Rules that hold the shape</a:t>
            </a:r>
            <a:endParaRPr b="0" lang="en-US" sz="120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Domain depends on nothing but TypeScript; application defines ports and never imports an adapter. One repository per aggregate.</a:t>
            </a:r>
            <a:endParaRPr b="0" lang="en-US" sz="98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Expected failures use Result&lt;T, DomainError&gt; — no exceptions; domain events are pulled with pullEvents() and the outbox maps them to jobs.</a:t>
            </a:r>
            <a:endParaRPr b="0" lang="en-US" sz="98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Every aggregate root carries tenantId (or tenantIdValue when persisted) as its first field.</a:t>
            </a:r>
            <a:endParaRPr b="0" lang="en-US" sz="98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Swapping a technology is an env-var or one container line: LLM provider, job queue, storage provider, billing provider, auth.</a:t>
            </a:r>
            <a:endParaRPr b="0" lang="en-US" sz="980" spc="-1" strike="noStrike">
              <a:solidFill>
                <a:srgbClr val="000000"/>
              </a:solidFill>
              <a:latin typeface="Arial"/>
            </a:endParaRPr>
          </a:p>
        </p:txBody>
      </p:sp>
      <p:sp>
        <p:nvSpPr>
          <p:cNvPr id="239" name="Rounded Rectangle 19"/>
          <p:cNvSpPr/>
          <p:nvPr/>
        </p:nvSpPr>
        <p:spPr>
          <a:xfrm>
            <a:off x="6199560" y="1298520"/>
            <a:ext cx="542484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240" name="Rounded Rectangle 20"/>
          <p:cNvSpPr/>
          <p:nvPr/>
        </p:nvSpPr>
        <p:spPr>
          <a:xfrm>
            <a:off x="6199560" y="3950280"/>
            <a:ext cx="5424840" cy="22856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Twelve bounded contexts</a:t>
            </a:r>
            <a:endParaRPr b="0" lang="en-US" sz="120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Identity &amp; Access · Projects (kernel) · Templates · Logframe · Evidence · Activities · Reporting · Compliance · Exports · Notifications · Audit (append-only) · Billing.</a:t>
            </a:r>
            <a:endParaRPr b="0" lang="en-US" sz="980" spc="-1" strike="noStrike">
              <a:solidFill>
                <a:srgbClr val="000000"/>
              </a:solidFill>
              <a:latin typeface="Arial"/>
            </a:endParaRPr>
          </a:p>
          <a:p>
            <a:pPr defTabSz="457200">
              <a:lnSpc>
                <a:spcPct val="102000"/>
              </a:lnSpc>
              <a:spcAft>
                <a:spcPts val="300"/>
              </a:spcAft>
            </a:pPr>
            <a:r>
              <a:rPr b="0" lang="en-US" sz="980" spc="-1" strike="noStrike">
                <a:solidFill>
                  <a:srgbClr val="334155"/>
                </a:solidFill>
                <a:latin typeface="Calibri"/>
              </a:rPr>
              <a:t>Evidence, Logframe, Templates, Activities, Compliance and Reporting are supporting contexts; Billing and Notifications are generic. ACLs keep Reporting and Evidence apart, and Compliance and Reporting apart.</a:t>
            </a:r>
            <a:endParaRPr b="0" lang="en-US" sz="980" spc="-1" strike="noStrike">
              <a:solidFill>
                <a:srgbClr val="000000"/>
              </a:solidFill>
              <a:latin typeface="Arial"/>
            </a:endParaRPr>
          </a:p>
        </p:txBody>
      </p:sp>
      <p:sp>
        <p:nvSpPr>
          <p:cNvPr id="241" name="Rounded Rectangle 21"/>
          <p:cNvSpPr/>
          <p:nvPr/>
        </p:nvSpPr>
        <p:spPr>
          <a:xfrm>
            <a:off x="6199560" y="3950280"/>
            <a:ext cx="542484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TECHNOLOGY</a:t>
            </a:r>
            <a:endParaRPr b="0" lang="en-US" sz="950" spc="-1" strike="noStrike">
              <a:solidFill>
                <a:srgbClr val="000000"/>
              </a:solidFill>
              <a:latin typeface="Arial"/>
            </a:endParaRPr>
          </a:p>
        </p:txBody>
      </p:sp>
      <p:sp>
        <p:nvSpPr>
          <p:cNvPr id="243"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The stack, and why each piece is that piece</a:t>
            </a:r>
            <a:endParaRPr b="0" lang="en-US" sz="2300" spc="-1" strike="noStrike">
              <a:solidFill>
                <a:srgbClr val="000000"/>
              </a:solidFill>
              <a:latin typeface="Arial"/>
            </a:endParaRPr>
          </a:p>
        </p:txBody>
      </p:sp>
      <p:sp>
        <p:nvSpPr>
          <p:cNvPr id="244"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45"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46"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imp/DonorDesk — Phased Implementation Plan.md §7 · ADR 0001–0004 · AGENTS.md build/test commands</a:t>
            </a:r>
            <a:endParaRPr b="0" lang="en-US" sz="900" spc="-1" strike="noStrike">
              <a:solidFill>
                <a:srgbClr val="000000"/>
              </a:solidFill>
              <a:latin typeface="Arial"/>
            </a:endParaRPr>
          </a:p>
        </p:txBody>
      </p:sp>
      <p:sp>
        <p:nvSpPr>
          <p:cNvPr id="247"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12 / 20</a:t>
            </a:r>
            <a:endParaRPr b="0" lang="en-US" sz="900" spc="-1" strike="noStrike">
              <a:solidFill>
                <a:srgbClr val="000000"/>
              </a:solidFill>
              <a:latin typeface="Arial"/>
            </a:endParaRPr>
          </a:p>
        </p:txBody>
      </p:sp>
      <p:graphicFrame>
        <p:nvGraphicFramePr>
          <p:cNvPr id="248" name="Table 7"/>
          <p:cNvGraphicFramePr/>
          <p:nvPr/>
        </p:nvGraphicFramePr>
        <p:xfrm>
          <a:off x="567000" y="1298520"/>
          <a:ext cx="11057400" cy="4475520"/>
        </p:xfrm>
        <a:graphic>
          <a:graphicData uri="http://schemas.openxmlformats.org/drawingml/2006/table">
            <a:tbl>
              <a:tblPr/>
              <a:tblGrid>
                <a:gridCol w="1606680"/>
                <a:gridCol w="3780360"/>
                <a:gridCol w="5670360"/>
              </a:tblGrid>
              <a:tr h="292320">
                <a:tc>
                  <a:txBody>
                    <a:bodyPr lIns="73080" rIns="73080" tIns="36360" bIns="36360" anchor="ctr">
                      <a:noAutofit/>
                    </a:bodyPr>
                    <a:p>
                      <a:pPr defTabSz="457200">
                        <a:lnSpc>
                          <a:spcPct val="100000"/>
                        </a:lnSpc>
                      </a:pPr>
                      <a:r>
                        <a:rPr b="1" lang="en-US" sz="1050" spc="-1" strike="noStrike">
                          <a:solidFill>
                            <a:srgbClr val="ffffff"/>
                          </a:solidFill>
                          <a:latin typeface="Calibri"/>
                        </a:rPr>
                        <a:t>Concern</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Choice</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Why</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Monorepo</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pnpm workspaces + Turborepo</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Fast, deterministic, cached; one typecheck/build across 9 packages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Frontend</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Next.js App Router (RSC + server actions)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SSR marketing, RSC dashboards, fewer round-trips for writes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UI</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Tailwind + shadcn/ui + Radix</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Accessible and headless; light/dark tokens with no flash of wrong theme</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API</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Fastify with a hand-wired container</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NestJS-equivalent guards and validation, ~50% less boilerplate (ADR-0003)</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Domain &amp; application</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Pure TypeScript, strict mode</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Testable without infrastructure; no SDK ever leaks inward</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Workers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Python FastAPI (uvicorn)</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Best AI/document ecosystem; out-of-process so AI never blocks the API</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Database</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PostgreSQL 16 + RLS + pgvector</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ACID, JSONB for template requirements, vectors without a second store</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ORM &amp; migrations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Prisma + separate SQL for RLS policies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Typed client; policies are not representable in the Prisma schema</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Async work</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IJobQueue: memory | BullMQ/Redis | Kestra</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One port, three backends; the queue is a deployment detail (ADR-0004)</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Storage</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Google Drive link-first | Cloudflare R2 | local</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NGOs keep files in their own Drive; managed storage is metered</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LLM providers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MiniMax · DeepSeek · Claude (SDK) · Gemini · stub</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One active provider per scope, resolved per generation (ADR-0002)</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Auth</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JWT HS256 + Google Sign-In (env-gated)</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Issuer/audience claims; the tenant claim drives TenantContext</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Exports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Deterministic DOCX/PDF + docxtpl donor templates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ECharts SSR→PNG charts render identically in DOCX and PDF (ADR-0009)</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Testing</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Vitest / node:test · Playwright · pytest · golden corpus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Unit tests at every layer plus a reporting golden-corpus eval</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278640">
                <a:tc>
                  <a:txBody>
                    <a:bodyPr lIns="73080" rIns="73080" tIns="27360" bIns="27360" anchor="ctr">
                      <a:noAutofit/>
                    </a:bodyPr>
                    <a:p>
                      <a:pPr defTabSz="457200">
                        <a:lnSpc>
                          <a:spcPct val="95000"/>
                        </a:lnSpc>
                      </a:pPr>
                      <a:r>
                        <a:rPr b="1" lang="en-US" sz="920" spc="-1" strike="noStrike">
                          <a:solidFill>
                            <a:srgbClr val="0f172a"/>
                          </a:solidFill>
                          <a:latin typeface="Calibri"/>
                        </a:rPr>
                        <a:t>Deployment</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systemd on Contabo + versioned releases</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920" spc="-1" strike="noStrike">
                          <a:solidFill>
                            <a:srgbClr val="334155"/>
                          </a:solidFill>
                          <a:latin typeface="Calibri"/>
                        </a:rPr>
                        <a:t>Release-and-symlink deploy, DB-first migrations, rollback script</a:t>
                      </a:r>
                      <a:endParaRPr b="0" lang="en-US" sz="92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MULTI-TENANCY &amp; SECURITY</a:t>
            </a:r>
            <a:endParaRPr b="0" lang="en-US" sz="950" spc="-1" strike="noStrike">
              <a:solidFill>
                <a:srgbClr val="000000"/>
              </a:solidFill>
              <a:latin typeface="Arial"/>
            </a:endParaRPr>
          </a:p>
        </p:txBody>
      </p:sp>
      <p:sp>
        <p:nvSpPr>
          <p:cNvPr id="250"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Tenant isolation enforced in the database, not only in code</a:t>
            </a:r>
            <a:endParaRPr b="0" lang="en-US" sz="2300" spc="-1" strike="noStrike">
              <a:solidFill>
                <a:srgbClr val="000000"/>
              </a:solidFill>
              <a:latin typeface="Arial"/>
            </a:endParaRPr>
          </a:p>
        </p:txBody>
      </p:sp>
      <p:sp>
        <p:nvSpPr>
          <p:cNvPr id="251"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2"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3"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ADR-0001 · docs/security/threat-model.md · AGENTS.md (Prisma/ready gate) · contabo-ops.md</a:t>
            </a:r>
            <a:endParaRPr b="0" lang="en-US" sz="900" spc="-1" strike="noStrike">
              <a:solidFill>
                <a:srgbClr val="000000"/>
              </a:solidFill>
              <a:latin typeface="Arial"/>
            </a:endParaRPr>
          </a:p>
        </p:txBody>
      </p:sp>
      <p:sp>
        <p:nvSpPr>
          <p:cNvPr id="254"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13 / 20</a:t>
            </a:r>
            <a:endParaRPr b="0" lang="en-US" sz="900" spc="-1" strike="noStrike">
              <a:solidFill>
                <a:srgbClr val="000000"/>
              </a:solidFill>
              <a:latin typeface="Arial"/>
            </a:endParaRPr>
          </a:p>
        </p:txBody>
      </p:sp>
      <p:sp>
        <p:nvSpPr>
          <p:cNvPr id="255" name="Rounded Rectangle 7"/>
          <p:cNvSpPr/>
          <p:nvPr/>
        </p:nvSpPr>
        <p:spPr>
          <a:xfrm>
            <a:off x="567000" y="1298520"/>
            <a:ext cx="5437080" cy="2020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Tenant isolation</a:t>
            </a:r>
            <a:endParaRPr b="0" lang="en-US" sz="120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Shared schema with Postgres Row-Level Security: SET LOCAL app.current_tenant = $tenantId inside a TenantScopedConnection.</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Every repository takes TenantContext by constructor injection; every aggregate root carries tenantId as its first field.</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rls.sql is re-applied after each migration — verified by a cross-tenant query returning zero rows.</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Workers read the tenant from a signed X-Tenant-Id + HMAC header, never from a URL.</a:t>
            </a:r>
            <a:endParaRPr b="0" lang="en-US" sz="950" spc="-1" strike="noStrike">
              <a:solidFill>
                <a:srgbClr val="000000"/>
              </a:solidFill>
              <a:latin typeface="Arial"/>
            </a:endParaRPr>
          </a:p>
        </p:txBody>
      </p:sp>
      <p:sp>
        <p:nvSpPr>
          <p:cNvPr id="256" name="Rounded Rectangle 8"/>
          <p:cNvSpPr/>
          <p:nvPr/>
        </p:nvSpPr>
        <p:spPr>
          <a:xfrm>
            <a:off x="567000" y="1298520"/>
            <a:ext cx="50040" cy="202032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7" name="Rounded Rectangle 9"/>
          <p:cNvSpPr/>
          <p:nvPr/>
        </p:nvSpPr>
        <p:spPr>
          <a:xfrm>
            <a:off x="6187320" y="1298520"/>
            <a:ext cx="5437080" cy="2020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Identity &amp; authorization</a:t>
            </a:r>
            <a:endParaRPr b="0" lang="en-US" sz="120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JWT (HS256) with issuer/audience claims; TenantContext is set from the org claim by auth middleware (AsyncLocalStorage).</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Tenant roles map to explicit capabilities: resolve-claim, template upload, manage agent memory, approve, export, bill.</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The SuperAdmin portal uses a separate PlatformAdmin identity store — tenant credentials never work there.</a:t>
            </a:r>
            <a:endParaRPr b="0" lang="en-US" sz="950" spc="-1" strike="noStrike">
              <a:solidFill>
                <a:srgbClr val="000000"/>
              </a:solidFill>
              <a:latin typeface="Arial"/>
            </a:endParaRPr>
          </a:p>
        </p:txBody>
      </p:sp>
      <p:sp>
        <p:nvSpPr>
          <p:cNvPr id="258" name="Rounded Rectangle 10"/>
          <p:cNvSpPr/>
          <p:nvPr/>
        </p:nvSpPr>
        <p:spPr>
          <a:xfrm>
            <a:off x="6187320" y="1298520"/>
            <a:ext cx="50040" cy="202032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9" name="Rounded Rectangle 11"/>
          <p:cNvSpPr/>
          <p:nvPr/>
        </p:nvSpPr>
        <p:spPr>
          <a:xfrm>
            <a:off x="567000" y="3502080"/>
            <a:ext cx="5437080" cy="2020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Threat model</a:t>
            </a:r>
            <a:endParaRPr b="0" lang="en-US" sz="120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External attacker → Zod validation at every route boundary, RLS, parameterised Prisma access, short-lived presigned file URLs.</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Compromised NGO user → tenant filtering in the database and in every repository method, not just the UI.</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Rogue AI → outputs are reviewable drafts only; grounding rejects ungrounded numbers; nothing exports without human approval.</a:t>
            </a:r>
            <a:endParaRPr b="0" lang="en-US" sz="950" spc="-1" strike="noStrike">
              <a:solidFill>
                <a:srgbClr val="000000"/>
              </a:solidFill>
              <a:latin typeface="Arial"/>
            </a:endParaRPr>
          </a:p>
        </p:txBody>
      </p:sp>
      <p:sp>
        <p:nvSpPr>
          <p:cNvPr id="260" name="Rounded Rectangle 12"/>
          <p:cNvSpPr/>
          <p:nvPr/>
        </p:nvSpPr>
        <p:spPr>
          <a:xfrm>
            <a:off x="567000" y="3502080"/>
            <a:ext cx="50040" cy="202032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 name="Rounded Rectangle 13"/>
          <p:cNvSpPr/>
          <p:nvPr/>
        </p:nvSpPr>
        <p:spPr>
          <a:xfrm>
            <a:off x="6187320" y="3502080"/>
            <a:ext cx="5437080" cy="2020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Internal surface</a:t>
            </a:r>
            <a:endParaRPr b="0" lang="en-US" sz="120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/internal/* routes require an internal token plus HMAC; every DonorDesk service binds 127.0.0.1 only.</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Orchestrator-triggered writes are idempotency-keyed, so retries and duplicate deliveries never double-apply.</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Audit events are append-only and partitioned per tenant; hash-chained notarisation is the Phase 2/3 target.</a:t>
            </a:r>
            <a:endParaRPr b="0" lang="en-US" sz="950" spc="-1" strike="noStrike">
              <a:solidFill>
                <a:srgbClr val="000000"/>
              </a:solidFill>
              <a:latin typeface="Arial"/>
            </a:endParaRPr>
          </a:p>
          <a:p>
            <a:pPr defTabSz="457200">
              <a:lnSpc>
                <a:spcPct val="102000"/>
              </a:lnSpc>
              <a:spcAft>
                <a:spcPts val="300"/>
              </a:spcAft>
            </a:pPr>
            <a:r>
              <a:rPr b="0" lang="en-US" sz="950" spc="-1" strike="noStrike">
                <a:solidFill>
                  <a:srgbClr val="334155"/>
                </a:solidFill>
                <a:latin typeface="Calibri"/>
              </a:rPr>
              <a:t>Structured logs redact PII (pino redact paths).</a:t>
            </a:r>
            <a:endParaRPr b="0" lang="en-US" sz="950" spc="-1" strike="noStrike">
              <a:solidFill>
                <a:srgbClr val="000000"/>
              </a:solidFill>
              <a:latin typeface="Arial"/>
            </a:endParaRPr>
          </a:p>
        </p:txBody>
      </p:sp>
      <p:sp>
        <p:nvSpPr>
          <p:cNvPr id="262" name="Rounded Rectangle 14"/>
          <p:cNvSpPr/>
          <p:nvPr/>
        </p:nvSpPr>
        <p:spPr>
          <a:xfrm>
            <a:off x="6187320" y="3502080"/>
            <a:ext cx="50040" cy="202032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Rounded Rectangle 15"/>
          <p:cNvSpPr/>
          <p:nvPr/>
        </p:nvSpPr>
        <p:spPr>
          <a:xfrm>
            <a:off x="567000" y="5523120"/>
            <a:ext cx="11057400" cy="712800"/>
          </a:xfrm>
          <a:prstGeom prst="roundRect">
            <a:avLst>
              <a:gd name="adj" fmla="val 6000"/>
            </a:avLst>
          </a:prstGeom>
          <a:solidFill>
            <a:srgbClr val="fef2f2"/>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00" spc="-1" strike="noStrike">
                <a:solidFill>
                  <a:srgbClr val="0f172a"/>
                </a:solidFill>
                <a:latin typeface="Calibri"/>
              </a:rPr>
              <a:t>Deploy guard — /ready blocks a stale Prisma client</a:t>
            </a:r>
            <a:endParaRPr b="0" lang="en-US" sz="11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endpoint introspects prisma._runtimeDataModel against an allowlist of Model.field pairs the application code relies on. A 503 with missingPrismaFields means the generated client is stale; any new column the app selects must be added to REQUIRED_PRISMA_FIELDS in the same PR.</a:t>
            </a:r>
            <a:endParaRPr b="0" lang="en-US" sz="920" spc="-1" strike="noStrike">
              <a:solidFill>
                <a:srgbClr val="000000"/>
              </a:solidFill>
              <a:latin typeface="Arial"/>
            </a:endParaRPr>
          </a:p>
        </p:txBody>
      </p:sp>
      <p:sp>
        <p:nvSpPr>
          <p:cNvPr id="264" name="Rounded Rectangle 16"/>
          <p:cNvSpPr/>
          <p:nvPr/>
        </p:nvSpPr>
        <p:spPr>
          <a:xfrm>
            <a:off x="567000" y="5523120"/>
            <a:ext cx="11057400" cy="45360"/>
          </a:xfrm>
          <a:prstGeom prst="roundRect">
            <a:avLst>
              <a:gd name="adj" fmla="val 30000"/>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DEPLOYMENT &amp; OPERATIONS</a:t>
            </a:r>
            <a:endParaRPr b="0" lang="en-US" sz="950" spc="-1" strike="noStrike">
              <a:solidFill>
                <a:srgbClr val="000000"/>
              </a:solidFill>
              <a:latin typeface="Arial"/>
            </a:endParaRPr>
          </a:p>
        </p:txBody>
      </p:sp>
      <p:sp>
        <p:nvSpPr>
          <p:cNvPr id="266"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One host, five services, versioned releases that roll back</a:t>
            </a:r>
            <a:endParaRPr b="0" lang="en-US" sz="2300" spc="-1" strike="noStrike">
              <a:solidFill>
                <a:srgbClr val="000000"/>
              </a:solidFill>
              <a:latin typeface="Arial"/>
            </a:endParaRPr>
          </a:p>
        </p:txBody>
      </p:sp>
      <p:sp>
        <p:nvSpPr>
          <p:cNvPr id="267"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8"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9"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contabo-ops.md §9/§10 · CONTABO-DEPLOY.md · SUPERADMIN-PORTAL.md §2 · docs/runbooks/</a:t>
            </a:r>
            <a:endParaRPr b="0" lang="en-US" sz="900" spc="-1" strike="noStrike">
              <a:solidFill>
                <a:srgbClr val="000000"/>
              </a:solidFill>
              <a:latin typeface="Arial"/>
            </a:endParaRPr>
          </a:p>
        </p:txBody>
      </p:sp>
      <p:sp>
        <p:nvSpPr>
          <p:cNvPr id="270"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14 / 20</a:t>
            </a:r>
            <a:endParaRPr b="0" lang="en-US" sz="900" spc="-1" strike="noStrike">
              <a:solidFill>
                <a:srgbClr val="000000"/>
              </a:solidFill>
              <a:latin typeface="Arial"/>
            </a:endParaRPr>
          </a:p>
        </p:txBody>
      </p:sp>
      <p:sp>
        <p:nvSpPr>
          <p:cNvPr id="271" name="Rounded Rectangle 7"/>
          <p:cNvSpPr/>
          <p:nvPr/>
        </p:nvSpPr>
        <p:spPr>
          <a:xfrm>
            <a:off x="567000" y="1298520"/>
            <a:ext cx="5806080" cy="32000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Production topology (Contabo)</a:t>
            </a:r>
            <a:endParaRPr b="0" lang="en-US" sz="1200" spc="-1" strike="noStrike">
              <a:solidFill>
                <a:srgbClr val="000000"/>
              </a:solidFill>
              <a:latin typeface="Arial"/>
            </a:endParaRPr>
          </a:p>
          <a:p>
            <a:pPr defTabSz="457200">
              <a:lnSpc>
                <a:spcPct val="100000"/>
              </a:lnSpc>
              <a:spcBef>
                <a:spcPts val="400"/>
              </a:spcBef>
              <a:spcAft>
                <a:spcPts val="201"/>
              </a:spcAft>
            </a:pPr>
            <a:r>
              <a:rPr b="1" lang="en-US" sz="900" spc="-1" strike="noStrike">
                <a:solidFill>
                  <a:srgbClr val="0f172a"/>
                </a:solidFill>
                <a:latin typeface="Calibri"/>
              </a:rPr>
              <a:t>Internet</a:t>
            </a:r>
            <a:endParaRPr b="0" lang="en-US" sz="90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a:t>
            </a:r>
            <a:r>
              <a:rPr b="0" lang="en-US" sz="850" spc="-1" strike="noStrike">
                <a:solidFill>
                  <a:srgbClr val="1e3a8a"/>
                </a:solidFill>
                <a:latin typeface="Consolas"/>
              </a:rPr>
              <a:t>HTTPS :443 — Hestia nginx + Let's Encrypt certificates</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a:t>
            </a:r>
            <a:r>
              <a:rPr b="0" lang="en-US" sz="850" spc="-1" strike="noStrike">
                <a:solidFill>
                  <a:srgbClr val="1e3a8a"/>
                </a:solidFill>
                <a:latin typeface="Consolas"/>
              </a:rPr>
              <a:t>donordesk.online     → 127.0.0.1:3002  donordesk-web (Next.js)</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a:t>
            </a:r>
            <a:r>
              <a:rPr b="0" lang="en-US" sz="850" spc="-1" strike="noStrike">
                <a:solidFill>
                  <a:srgbClr val="1e3a8a"/>
                </a:solidFill>
                <a:latin typeface="Consolas"/>
              </a:rPr>
              <a:t>sa.donordesk.online  → 127.0.0.1:3012  donordesk-superadmin</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 </a:t>
            </a:r>
            <a:r>
              <a:rPr b="0" lang="en-US" sz="850" spc="-1" strike="noStrike">
                <a:solidFill>
                  <a:srgbClr val="1e3a8a"/>
                </a:solidFill>
                <a:latin typeface="Consolas"/>
              </a:rPr>
              <a:t>/api/control/* proxied server-side → :4001</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a:t>
            </a:r>
            <a:r>
              <a:rPr b="0" lang="en-US" sz="850" spc="-1" strike="noStrike">
                <a:solidFill>
                  <a:srgbClr val="1e3a8a"/>
                </a:solidFill>
                <a:latin typeface="Consolas"/>
              </a:rPr>
              <a:t>127.0.0.1:4001  donordesk-api (Fastify)</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 </a:t>
            </a:r>
            <a:r>
              <a:rPr b="0" lang="en-US" sz="850" spc="-1" strike="noStrike">
                <a:solidFill>
                  <a:srgbClr val="1e3a8a"/>
                </a:solidFill>
                <a:latin typeface="Consolas"/>
              </a:rPr>
              <a:t>PostgreSQL 16 with Row-Level Security</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 </a:t>
            </a:r>
            <a:r>
              <a:rPr b="0" lang="en-US" sz="850" spc="-1" strike="noStrike">
                <a:solidFill>
                  <a:srgbClr val="1e3a8a"/>
                </a:solidFill>
                <a:latin typeface="Consolas"/>
              </a:rPr>
              <a:t>127.0.0.1:8092  donordesk-workers (FastAPI)</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 </a:t>
            </a:r>
            <a:r>
              <a:rPr b="0" lang="en-US" sz="850" spc="-1" strike="noStrike">
                <a:solidFill>
                  <a:srgbClr val="1e3a8a"/>
                </a:solidFill>
                <a:latin typeface="Consolas"/>
              </a:rPr>
              <a:t>127.0.0.1:8093/8094  donordesk-kestra</a:t>
            </a:r>
            <a:endParaRPr b="0" lang="en-US" sz="850" spc="-1" strike="noStrike">
              <a:solidFill>
                <a:srgbClr val="000000"/>
              </a:solidFill>
              <a:latin typeface="Arial"/>
            </a:endParaRPr>
          </a:p>
          <a:p>
            <a:pPr defTabSz="457200">
              <a:lnSpc>
                <a:spcPct val="100000"/>
              </a:lnSpc>
              <a:spcAft>
                <a:spcPts val="300"/>
              </a:spcAft>
            </a:pPr>
            <a:r>
              <a:rPr b="0" lang="en-US" sz="850" spc="-1" strike="noStrike">
                <a:solidFill>
                  <a:srgbClr val="1e3a8a"/>
                </a:solidFill>
                <a:latin typeface="Consolas"/>
              </a:rPr>
              <a:t>        └─ </a:t>
            </a:r>
            <a:r>
              <a:rPr b="0" lang="en-US" sz="850" spc="-1" strike="noStrike">
                <a:solidFill>
                  <a:srgbClr val="1e3a8a"/>
                </a:solidFill>
                <a:latin typeface="Consolas"/>
              </a:rPr>
              <a:t>/opt/donordesk/shared/*.env  (mode 0600)</a:t>
            </a:r>
            <a:endParaRPr b="0" lang="en-US" sz="850" spc="-1" strike="noStrike">
              <a:solidFill>
                <a:srgbClr val="000000"/>
              </a:solidFill>
              <a:latin typeface="Arial"/>
            </a:endParaRPr>
          </a:p>
          <a:p>
            <a:pPr defTabSz="457200">
              <a:lnSpc>
                <a:spcPct val="102000"/>
              </a:lnSpc>
              <a:spcAft>
                <a:spcPts val="300"/>
              </a:spcAft>
            </a:pPr>
            <a:r>
              <a:rPr b="0" lang="en-US" sz="900" spc="-1" strike="noStrike">
                <a:solidFill>
                  <a:srgbClr val="334155"/>
                </a:solidFill>
                <a:latin typeface="Calibri"/>
              </a:rPr>
              <a:t>Every service binds loopback only; the browser never sees an internal address.</a:t>
            </a:r>
            <a:endParaRPr b="0" lang="en-US" sz="900" spc="-1" strike="noStrike">
              <a:solidFill>
                <a:srgbClr val="000000"/>
              </a:solidFill>
              <a:latin typeface="Arial"/>
            </a:endParaRPr>
          </a:p>
        </p:txBody>
      </p:sp>
      <p:sp>
        <p:nvSpPr>
          <p:cNvPr id="272" name="Rounded Rectangle 8"/>
          <p:cNvSpPr/>
          <p:nvPr/>
        </p:nvSpPr>
        <p:spPr>
          <a:xfrm>
            <a:off x="567000" y="1298520"/>
            <a:ext cx="580608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273" name="Table 9"/>
          <p:cNvGraphicFramePr/>
          <p:nvPr/>
        </p:nvGraphicFramePr>
        <p:xfrm>
          <a:off x="6620400" y="1298520"/>
          <a:ext cx="5004000" cy="2212560"/>
        </p:xfrm>
        <a:graphic>
          <a:graphicData uri="http://schemas.openxmlformats.org/drawingml/2006/table">
            <a:tbl>
              <a:tblPr/>
              <a:tblGrid>
                <a:gridCol w="1715760"/>
                <a:gridCol w="1143720"/>
                <a:gridCol w="2144520"/>
              </a:tblGrid>
              <a:tr h="292320">
                <a:tc>
                  <a:txBody>
                    <a:bodyPr lIns="73080" rIns="73080" tIns="36360" bIns="36360" anchor="ctr">
                      <a:noAutofit/>
                    </a:bodyPr>
                    <a:p>
                      <a:pPr defTabSz="457200">
                        <a:lnSpc>
                          <a:spcPct val="100000"/>
                        </a:lnSpc>
                      </a:pPr>
                      <a:r>
                        <a:rPr b="1" lang="en-US" sz="1050" spc="-1" strike="noStrike">
                          <a:solidFill>
                            <a:srgbClr val="ffffff"/>
                          </a:solidFill>
                          <a:latin typeface="Calibri"/>
                        </a:rPr>
                        <a:t>systemd service</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Bind</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tIns="36360" bIns="36360" anchor="ctr">
                      <a:noAutofit/>
                    </a:bodyPr>
                    <a:p>
                      <a:pPr defTabSz="457200">
                        <a:lnSpc>
                          <a:spcPct val="100000"/>
                        </a:lnSpc>
                      </a:pPr>
                      <a:r>
                        <a:rPr b="1" lang="en-US" sz="1050" spc="-1" strike="noStrike">
                          <a:solidFill>
                            <a:srgbClr val="ffffff"/>
                          </a:solidFill>
                          <a:latin typeface="Calibri"/>
                        </a:rPr>
                        <a:t>Command</a:t>
                      </a:r>
                      <a:endParaRPr b="0" lang="en-US" sz="1050" spc="-1" strike="noStrike">
                        <a:solidFill>
                          <a:srgbClr val="ffffff"/>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383760">
                <a:tc>
                  <a:txBody>
                    <a:bodyPr lIns="73080" rIns="73080" tIns="27360" bIns="27360" anchor="ctr">
                      <a:noAutofit/>
                    </a:bodyPr>
                    <a:p>
                      <a:pPr defTabSz="457200">
                        <a:lnSpc>
                          <a:spcPct val="95000"/>
                        </a:lnSpc>
                      </a:pPr>
                      <a:r>
                        <a:rPr b="1" lang="en-US" sz="880" spc="-1" strike="noStrike">
                          <a:solidFill>
                            <a:srgbClr val="0f172a"/>
                          </a:solidFill>
                          <a:latin typeface="Calibri"/>
                        </a:rPr>
                        <a:t>donordesk-web</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127.0.0.1:3002</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node .next/standalone/apps/web/server.js</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83760">
                <a:tc>
                  <a:txBody>
                    <a:bodyPr lIns="73080" rIns="73080" tIns="27360" bIns="27360" anchor="ctr">
                      <a:noAutofit/>
                    </a:bodyPr>
                    <a:p>
                      <a:pPr defTabSz="457200">
                        <a:lnSpc>
                          <a:spcPct val="95000"/>
                        </a:lnSpc>
                      </a:pPr>
                      <a:r>
                        <a:rPr b="1" lang="en-US" sz="880" spc="-1" strike="noStrike">
                          <a:solidFill>
                            <a:srgbClr val="0f172a"/>
                          </a:solidFill>
                          <a:latin typeface="Calibri"/>
                        </a:rPr>
                        <a:t>donordesk-api</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127.0.0.1:4001</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node dist/server.js (Fastify)</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83760">
                <a:tc>
                  <a:txBody>
                    <a:bodyPr lIns="73080" rIns="73080" tIns="27360" bIns="27360" anchor="ctr">
                      <a:noAutofit/>
                    </a:bodyPr>
                    <a:p>
                      <a:pPr defTabSz="457200">
                        <a:lnSpc>
                          <a:spcPct val="95000"/>
                        </a:lnSpc>
                      </a:pPr>
                      <a:r>
                        <a:rPr b="1" lang="en-US" sz="880" spc="-1" strike="noStrike">
                          <a:solidFill>
                            <a:srgbClr val="0f172a"/>
                          </a:solidFill>
                          <a:latin typeface="Calibri"/>
                        </a:rPr>
                        <a:t>donordesk-superadmin</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127.0.0.1:3012</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node server.js (Requires=donordesk-api)</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83760">
                <a:tc>
                  <a:txBody>
                    <a:bodyPr lIns="73080" rIns="73080" tIns="27360" bIns="27360" anchor="ctr">
                      <a:noAutofit/>
                    </a:bodyPr>
                    <a:p>
                      <a:pPr defTabSz="457200">
                        <a:lnSpc>
                          <a:spcPct val="95000"/>
                        </a:lnSpc>
                      </a:pPr>
                      <a:r>
                        <a:rPr b="1" lang="en-US" sz="880" spc="-1" strike="noStrike">
                          <a:solidFill>
                            <a:srgbClr val="0f172a"/>
                          </a:solidFill>
                          <a:latin typeface="Calibri"/>
                        </a:rPr>
                        <a:t>donordesk-workers</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127.0.0.1:8092</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.venv/bin/uvicorn app.main:app</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fafc"/>
                    </a:solidFill>
                  </a:tcPr>
                </a:tc>
              </a:tr>
              <a:tr h="383760">
                <a:tc>
                  <a:txBody>
                    <a:bodyPr lIns="73080" rIns="73080" tIns="27360" bIns="27360" anchor="ctr">
                      <a:noAutofit/>
                    </a:bodyPr>
                    <a:p>
                      <a:pPr defTabSz="457200">
                        <a:lnSpc>
                          <a:spcPct val="95000"/>
                        </a:lnSpc>
                      </a:pPr>
                      <a:r>
                        <a:rPr b="1" lang="en-US" sz="880" spc="-1" strike="noStrike">
                          <a:solidFill>
                            <a:srgbClr val="0f172a"/>
                          </a:solidFill>
                          <a:latin typeface="Calibri"/>
                        </a:rPr>
                        <a:t>donordesk-kestra</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127.0.0.1:8093/8094</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tIns="27360" bIns="27360" anchor="ctr">
                      <a:noAutofit/>
                    </a:bodyPr>
                    <a:p>
                      <a:pPr defTabSz="457200">
                        <a:lnSpc>
                          <a:spcPct val="95000"/>
                        </a:lnSpc>
                      </a:pPr>
                      <a:r>
                        <a:rPr b="0" lang="en-US" sz="880" spc="-1" strike="noStrike">
                          <a:solidFill>
                            <a:srgbClr val="334155"/>
                          </a:solidFill>
                          <a:latin typeface="Calibri"/>
                        </a:rPr>
                        <a:t>Java Kestra 1.3.30</a:t>
                      </a:r>
                      <a:endParaRPr b="0" lang="en-US" sz="880" spc="-1" strike="noStrike">
                        <a:solidFill>
                          <a:srgbClr val="000000"/>
                        </a:solidFill>
                        <a:latin typeface="Arial"/>
                      </a:endParaRPr>
                    </a:p>
                  </a:txBody>
                  <a:tcPr anchor="ctr" marL="73080" marR="73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74" name="Rounded Rectangle 10"/>
          <p:cNvSpPr/>
          <p:nvPr/>
        </p:nvSpPr>
        <p:spPr>
          <a:xfrm>
            <a:off x="6620400" y="3694320"/>
            <a:ext cx="5004000" cy="80424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00" spc="-1" strike="noStrike">
                <a:solidFill>
                  <a:srgbClr val="0f172a"/>
                </a:solidFill>
                <a:latin typeface="Calibri"/>
              </a:rPr>
              <a:t>Release hygiene</a:t>
            </a:r>
            <a:endParaRPr b="0" lang="en-US" sz="1100" spc="-1" strike="noStrike">
              <a:solidFill>
                <a:srgbClr val="000000"/>
              </a:solidFill>
              <a:latin typeface="Arial"/>
            </a:endParaRPr>
          </a:p>
          <a:p>
            <a:pPr defTabSz="457200">
              <a:lnSpc>
                <a:spcPct val="102000"/>
              </a:lnSpc>
              <a:spcAft>
                <a:spcPts val="300"/>
              </a:spcAft>
            </a:pPr>
            <a:r>
              <a:rPr b="0" lang="en-US" sz="900" spc="-1" strike="noStrike">
                <a:solidFill>
                  <a:srgbClr val="334155"/>
                </a:solidFill>
                <a:latin typeface="Calibri"/>
              </a:rPr>
              <a:t>releaseId = timestamp; /opt/donordesk/releases/&lt;id&gt; + current symlink; deploy-fast.sh re-runs prisma generate before restarting the api.</a:t>
            </a:r>
            <a:endParaRPr b="0" lang="en-US" sz="900" spc="-1" strike="noStrike">
              <a:solidFill>
                <a:srgbClr val="000000"/>
              </a:solidFill>
              <a:latin typeface="Arial"/>
            </a:endParaRPr>
          </a:p>
        </p:txBody>
      </p:sp>
      <p:sp>
        <p:nvSpPr>
          <p:cNvPr id="275" name="Rounded Rectangle 11"/>
          <p:cNvSpPr/>
          <p:nvPr/>
        </p:nvSpPr>
        <p:spPr>
          <a:xfrm>
            <a:off x="6620400" y="3694320"/>
            <a:ext cx="500400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276" name="Rounded Rectangle 12"/>
          <p:cNvSpPr/>
          <p:nvPr/>
        </p:nvSpPr>
        <p:spPr>
          <a:xfrm>
            <a:off x="567000" y="4700160"/>
            <a:ext cx="11057400" cy="11700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Deploy, migrate, verify, roll back</a:t>
            </a:r>
            <a:endParaRPr b="0" lang="en-US" sz="115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Additive migrations are applied first as donordesk_migrator (with a DB dump taken beforehand), and infra/postgres/rls.sql is shipped and re-applied with them — a new tenant-scoped table without its RLS entry is a silent no-op.</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Post-deploy verification: api/web/worker active, /health and /ready return 200 (Prisma client fresh, no missingPrismaFields), public donordesk.online and sa.donordesk.online return 200. Rollback: RELEASE_ID=&lt;id&gt; scripts/rollback.sh. Runbooks cover alerts, disaster recovery, key rotation and BYOC deployment.</a:t>
            </a:r>
            <a:endParaRPr b="0" lang="en-US" sz="920" spc="-1" strike="noStrike">
              <a:solidFill>
                <a:srgbClr val="000000"/>
              </a:solidFill>
              <a:latin typeface="Arial"/>
            </a:endParaRPr>
          </a:p>
        </p:txBody>
      </p:sp>
      <p:sp>
        <p:nvSpPr>
          <p:cNvPr id="277" name="Rounded Rectangle 13"/>
          <p:cNvSpPr/>
          <p:nvPr/>
        </p:nvSpPr>
        <p:spPr>
          <a:xfrm>
            <a:off x="567000" y="4700160"/>
            <a:ext cx="11057400" cy="4536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AI REPORTER · FEATURES 11 &amp; 20 · AI REPORTER 2</a:t>
            </a:r>
            <a:endParaRPr b="0" lang="en-US" sz="950" spc="-1" strike="noStrike">
              <a:solidFill>
                <a:srgbClr val="000000"/>
              </a:solidFill>
              <a:latin typeface="Arial"/>
            </a:endParaRPr>
          </a:p>
        </p:txBody>
      </p:sp>
      <p:sp>
        <p:nvSpPr>
          <p:cNvPr id="279"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The AI writes prose. The system owns numbers, sources and gates.</a:t>
            </a:r>
            <a:endParaRPr b="0" lang="en-US" sz="2300" spc="-1" strike="noStrike">
              <a:solidFill>
                <a:srgbClr val="000000"/>
              </a:solidFill>
              <a:latin typeface="Arial"/>
            </a:endParaRPr>
          </a:p>
        </p:txBody>
      </p:sp>
      <p:sp>
        <p:nvSpPr>
          <p:cNvPr id="280"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1"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2"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Features/11-AI-Report-Draft-Generator.md · Features/20-report-gen.md · imp/AI-REPORTER-2-*.md · AGENTS.md</a:t>
            </a:r>
            <a:endParaRPr b="0" lang="en-US" sz="900" spc="-1" strike="noStrike">
              <a:solidFill>
                <a:srgbClr val="000000"/>
              </a:solidFill>
              <a:latin typeface="Arial"/>
            </a:endParaRPr>
          </a:p>
        </p:txBody>
      </p:sp>
      <p:sp>
        <p:nvSpPr>
          <p:cNvPr id="283"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15 / 20</a:t>
            </a:r>
            <a:endParaRPr b="0" lang="en-US" sz="900" spc="-1" strike="noStrike">
              <a:solidFill>
                <a:srgbClr val="000000"/>
              </a:solidFill>
              <a:latin typeface="Arial"/>
            </a:endParaRPr>
          </a:p>
        </p:txBody>
      </p:sp>
      <p:sp>
        <p:nvSpPr>
          <p:cNvPr id="284" name="Rounded Rectangle 7"/>
          <p:cNvSpPr/>
          <p:nvPr/>
        </p:nvSpPr>
        <p:spPr>
          <a:xfrm>
            <a:off x="567000" y="1298520"/>
            <a:ext cx="5437080" cy="1714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Governing principle</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LLM is a controlled planner, narrator and reviewer — never the authority over calculations, provenance, lifecycle, authorization or approval.</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deterministic data analyst is the sole source of indicator mathematics.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No failed verification is ever silently converted into "verified"; no evaluative statement is produced from unresolved indicator semantics.</a:t>
            </a:r>
            <a:endParaRPr b="0" lang="en-US" sz="920" spc="-1" strike="noStrike">
              <a:solidFill>
                <a:srgbClr val="000000"/>
              </a:solidFill>
              <a:latin typeface="Arial"/>
            </a:endParaRPr>
          </a:p>
        </p:txBody>
      </p:sp>
      <p:sp>
        <p:nvSpPr>
          <p:cNvPr id="285" name="Rounded Rectangle 8"/>
          <p:cNvSpPr/>
          <p:nvPr/>
        </p:nvSpPr>
        <p:spPr>
          <a:xfrm>
            <a:off x="567000" y="1298520"/>
            <a:ext cx="50040" cy="171432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6" name="Rounded Rectangle 9"/>
          <p:cNvSpPr/>
          <p:nvPr/>
        </p:nvSpPr>
        <p:spPr>
          <a:xfrm>
            <a:off x="6187320" y="1298520"/>
            <a:ext cx="5437080" cy="1714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What each section is written from</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Donor template plus its extracted requirements, report-wide rules and per-section guidance (input type, mandatory questions, evidence needed, page limits, author instructions).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Project and reporting-period context; logframe indicators with name, type, baseline, target, previous-period comparison value and a deterministic performance evaluation.</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Verified evidence chunks (8 × 800 chars) and activity narratives — every paragraph carries its sources.</a:t>
            </a:r>
            <a:endParaRPr b="0" lang="en-US" sz="920" spc="-1" strike="noStrike">
              <a:solidFill>
                <a:srgbClr val="000000"/>
              </a:solidFill>
              <a:latin typeface="Arial"/>
            </a:endParaRPr>
          </a:p>
        </p:txBody>
      </p:sp>
      <p:sp>
        <p:nvSpPr>
          <p:cNvPr id="287" name="Rounded Rectangle 10"/>
          <p:cNvSpPr/>
          <p:nvPr/>
        </p:nvSpPr>
        <p:spPr>
          <a:xfrm>
            <a:off x="6187320" y="1298520"/>
            <a:ext cx="50040" cy="171432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Rounded Rectangle 11"/>
          <p:cNvSpPr/>
          <p:nvPr/>
        </p:nvSpPr>
        <p:spPr>
          <a:xfrm>
            <a:off x="567000" y="3195720"/>
            <a:ext cx="5437080" cy="1714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AI Reporter 2 — typed artifacts</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Sections may carry artifacts: TABLE · CHART · LIST · KEY_VALUE · QA · DELTA, plus optional chart specs and prior-period deltas.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Numbers, tables, charts and deltas are built deterministically from verified findings; the writer only writes the prose.</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Deterministic validators run twice — in the Python worker before responding and again in the TypeScript api on the response.</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Synthesis sections (executive summary, conclusion) are drafted last, from the already-drafted sections.</a:t>
            </a:r>
            <a:endParaRPr b="0" lang="en-US" sz="920" spc="-1" strike="noStrike">
              <a:solidFill>
                <a:srgbClr val="000000"/>
              </a:solidFill>
              <a:latin typeface="Arial"/>
            </a:endParaRPr>
          </a:p>
        </p:txBody>
      </p:sp>
      <p:sp>
        <p:nvSpPr>
          <p:cNvPr id="289" name="Rounded Rectangle 12"/>
          <p:cNvSpPr/>
          <p:nvPr/>
        </p:nvSpPr>
        <p:spPr>
          <a:xfrm>
            <a:off x="567000" y="3195720"/>
            <a:ext cx="50040" cy="171432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0" name="Rounded Rectangle 13"/>
          <p:cNvSpPr/>
          <p:nvPr/>
        </p:nvSpPr>
        <p:spPr>
          <a:xfrm>
            <a:off x="6187320" y="3195720"/>
            <a:ext cx="5437080" cy="171432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Grounding, timeouts, fallback</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grounding layer rejects any number that was not in the inputs; percent-of-target is the only derived figure allowed.</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An ungrounded number that survives the retry yields VALIDATOR_FAILED, and the API substitutes the deterministic section.</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Budgets: 90 s per LLM call and 200 s per section (draft plus one feedback retry). On timeout the section falls back to deterministic output and the rest of the draft continues.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HTTP client timeout must exceed the worker's section budget, so a slow provider degrades one section, not the run.</a:t>
            </a:r>
            <a:endParaRPr b="0" lang="en-US" sz="920" spc="-1" strike="noStrike">
              <a:solidFill>
                <a:srgbClr val="000000"/>
              </a:solidFill>
              <a:latin typeface="Arial"/>
            </a:endParaRPr>
          </a:p>
        </p:txBody>
      </p:sp>
      <p:sp>
        <p:nvSpPr>
          <p:cNvPr id="291" name="Rounded Rectangle 14"/>
          <p:cNvSpPr/>
          <p:nvPr/>
        </p:nvSpPr>
        <p:spPr>
          <a:xfrm>
            <a:off x="6187320" y="3195720"/>
            <a:ext cx="50040" cy="171432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2" name="Rounded Rectangle 15"/>
          <p:cNvSpPr/>
          <p:nvPr/>
        </p:nvSpPr>
        <p:spPr>
          <a:xfrm>
            <a:off x="567000" y="5065920"/>
            <a:ext cx="11057400" cy="117000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One editorial guidance channel — and one active provider per scope</a:t>
            </a:r>
            <a:endParaRPr b="0" lang="en-US" sz="115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buildSectionSpecificGuidance is the single source of truth for editorial guidance and feeds both the legacy narrator and the AI Reporter brief (sectionGuidance). Writer contract v4 is mirrored in Python and TypeScript and pinned by a string-identical test, so the two writers can never drift.</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Provider selection is per scope and resolved per generation: MiniMax, DeepSeek, Claude (SDK), Gemini, or the free stub that is never billed. Feature-flagged by AI_REPORTER_ENABLED (default off) against the worker at 127.0.0.1:8092 — with the flag off, the legacy generator serves every tenant.</a:t>
            </a:r>
            <a:endParaRPr b="0" lang="en-US" sz="920" spc="-1" strike="noStrike">
              <a:solidFill>
                <a:srgbClr val="000000"/>
              </a:solidFill>
              <a:latin typeface="Arial"/>
            </a:endParaRPr>
          </a:p>
        </p:txBody>
      </p:sp>
      <p:sp>
        <p:nvSpPr>
          <p:cNvPr id="293" name="Rounded Rectangle 16"/>
          <p:cNvSpPr/>
          <p:nvPr/>
        </p:nvSpPr>
        <p:spPr>
          <a:xfrm>
            <a:off x="567000" y="5065920"/>
            <a:ext cx="1105740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ASSURANCE LAYER · ADR 0005–0008</a:t>
            </a:r>
            <a:endParaRPr b="0" lang="en-US" sz="950" spc="-1" strike="noStrike">
              <a:solidFill>
                <a:srgbClr val="000000"/>
              </a:solidFill>
              <a:latin typeface="Arial"/>
            </a:endParaRPr>
          </a:p>
        </p:txBody>
      </p:sp>
      <p:sp>
        <p:nvSpPr>
          <p:cNvPr id="295"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Trust is architectural: revisions, verification and sealed snapshots</a:t>
            </a:r>
            <a:endParaRPr b="0" lang="en-US" sz="2300" spc="-1" strike="noStrike">
              <a:solidFill>
                <a:srgbClr val="000000"/>
              </a:solidFill>
              <a:latin typeface="Arial"/>
            </a:endParaRPr>
          </a:p>
        </p:txBody>
      </p:sp>
      <p:sp>
        <p:nvSpPr>
          <p:cNvPr id="296"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97"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98" name="TextBox 5"/>
          <p:cNvSpPr/>
          <p:nvPr/>
        </p:nvSpPr>
        <p:spPr>
          <a:xfrm>
            <a:off x="567000" y="6391800"/>
            <a:ext cx="862488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memorybank/docs/architecture/decisions/0005–0008 · imp/PROFESSIONAL-REPORTING-IMPLEMENTATION-PLAN.md · imp/RECOVERY-PLAN-IMPLEMENTATION.md</a:t>
            </a:r>
            <a:endParaRPr b="0" lang="en-US" sz="900" spc="-1" strike="noStrike">
              <a:solidFill>
                <a:srgbClr val="000000"/>
              </a:solidFill>
              <a:latin typeface="Arial"/>
            </a:endParaRPr>
          </a:p>
        </p:txBody>
      </p:sp>
      <p:sp>
        <p:nvSpPr>
          <p:cNvPr id="299"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16 / 20</a:t>
            </a:r>
            <a:endParaRPr b="0" lang="en-US" sz="900" spc="-1" strike="noStrike">
              <a:solidFill>
                <a:srgbClr val="000000"/>
              </a:solidFill>
              <a:latin typeface="Arial"/>
            </a:endParaRPr>
          </a:p>
        </p:txBody>
      </p:sp>
      <p:sp>
        <p:nvSpPr>
          <p:cNvPr id="300" name="Rounded Rectangle 7"/>
          <p:cNvSpPr/>
          <p:nvPr/>
        </p:nvSpPr>
        <p:spPr>
          <a:xfrm>
            <a:off x="567000" y="1298520"/>
            <a:ext cx="5421960" cy="26056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Revision-bound assurance (ADR-0005)</a:t>
            </a:r>
            <a:endParaRPr b="0" lang="en-US" sz="1200"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Every content mutation — generation, manual edit, rewrite, shorten, auto-fix, merge — creates an immutable ReportRevision and repoints the section at it. Each revision stores a SHA-256 content hash.</a:t>
            </a:r>
            <a:endParaRPr b="0" lang="en-US" sz="939"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Assurance states are enforced by the domain: UNASSESSED → ASSESSING → CURRENT | FAILED, and CURRENT → STALE. Approval requires the current revision to be CURRENT.</a:t>
            </a:r>
            <a:endParaRPr b="0" lang="en-US" sz="939"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Claims are revision-bound: they record revisionId, revisionHash, character span, numeric atoms and a structured reason code — so stale verification cannot survive an edit.</a:t>
            </a:r>
            <a:endParaRPr b="0" lang="en-US" sz="939" spc="-1" strike="noStrike">
              <a:solidFill>
                <a:srgbClr val="000000"/>
              </a:solidFill>
              <a:latin typeface="Arial"/>
            </a:endParaRPr>
          </a:p>
        </p:txBody>
      </p:sp>
      <p:sp>
        <p:nvSpPr>
          <p:cNvPr id="301" name="Rounded Rectangle 8"/>
          <p:cNvSpPr/>
          <p:nvPr/>
        </p:nvSpPr>
        <p:spPr>
          <a:xfrm>
            <a:off x="567000" y="1298520"/>
            <a:ext cx="542196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02" name="Rounded Rectangle 9"/>
          <p:cNvSpPr/>
          <p:nvPr/>
        </p:nvSpPr>
        <p:spPr>
          <a:xfrm>
            <a:off x="6199560" y="1298520"/>
            <a:ext cx="5424840" cy="26056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Verification composition (ADR-0007)</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Evidence integrity — every cited source must still match the snapshotted bytes: chunk exists, source text matches, hash matches, evidence verified, confidentiality authorized.</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Numeric assertion — every numeric atom is bound to indicator, unit, period and semantic role; matching one number never validates a sentence; decimal math only.</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Deterministic entailment — cited chunks must actually support the assertion (SUPPORTED | CONTRADICTED | INSUFFICIENT | UNCERTAIN).</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Causal review policy — causality is never auto-approved; an assertion extractor reads the final content so an empty writer claims array can never bypass verification.</a:t>
            </a:r>
            <a:endParaRPr b="0" lang="en-US" sz="920" spc="-1" strike="noStrike">
              <a:solidFill>
                <a:srgbClr val="000000"/>
              </a:solidFill>
              <a:latin typeface="Arial"/>
            </a:endParaRPr>
          </a:p>
        </p:txBody>
      </p:sp>
      <p:sp>
        <p:nvSpPr>
          <p:cNvPr id="303" name="Rounded Rectangle 10"/>
          <p:cNvSpPr/>
          <p:nvPr/>
        </p:nvSpPr>
        <p:spPr>
          <a:xfrm>
            <a:off x="6199560" y="1298520"/>
            <a:ext cx="5424840" cy="4536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04" name="Rounded Rectangle 11"/>
          <p:cNvSpPr/>
          <p:nvPr/>
        </p:nvSpPr>
        <p:spPr>
          <a:xfrm>
            <a:off x="567000" y="4041720"/>
            <a:ext cx="5421960" cy="210276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Requirement precedence (ADR-0006)</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There is no universal donor standard, so requirements are modelled per award, not per donor label.</a:t>
            </a:r>
            <a:endParaRPr b="0" lang="en-US" sz="920" spc="-1" strike="noStrike">
              <a:solidFill>
                <a:srgbClr val="000000"/>
              </a:solidFill>
              <a:latin typeface="Arial"/>
            </a:endParaRPr>
          </a:p>
          <a:p>
            <a:pPr defTabSz="457200">
              <a:lnSpc>
                <a:spcPct val="100000"/>
              </a:lnSpc>
              <a:spcAft>
                <a:spcPts val="300"/>
              </a:spcAft>
            </a:pPr>
            <a:r>
              <a:rPr b="0" lang="en-US" sz="870" spc="-1" strike="noStrike">
                <a:solidFill>
                  <a:srgbClr val="1e3a8a"/>
                </a:solidFill>
                <a:latin typeface="Consolas"/>
              </a:rPr>
              <a:t>signed award/amendment → award schedule/template → mechanism rules → donor report-type pack → organisation profile → conservative baseline</a:t>
            </a:r>
            <a:endParaRPr b="0" lang="en-US" sz="87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For each semantic key the highest-precedence layer wins and lower layers only fill gaps; every resolved requirement records the source reference that supplied it, and a version change forces human review plus a new snapshot.</a:t>
            </a:r>
            <a:endParaRPr b="0" lang="en-US" sz="920" spc="-1" strike="noStrike">
              <a:solidFill>
                <a:srgbClr val="000000"/>
              </a:solidFill>
              <a:latin typeface="Arial"/>
            </a:endParaRPr>
          </a:p>
        </p:txBody>
      </p:sp>
      <p:sp>
        <p:nvSpPr>
          <p:cNvPr id="305" name="Rounded Rectangle 12"/>
          <p:cNvSpPr/>
          <p:nvPr/>
        </p:nvSpPr>
        <p:spPr>
          <a:xfrm>
            <a:off x="567000" y="4041720"/>
            <a:ext cx="542196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06" name="Rounded Rectangle 13"/>
          <p:cNvSpPr/>
          <p:nvPr/>
        </p:nvSpPr>
        <p:spPr>
          <a:xfrm>
            <a:off x="6199560" y="4041720"/>
            <a:ext cx="5424840" cy="210276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Sealed submission snapshots (ADR-0008)</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A SubmissionSnapshot freezes approved revision ids and hashes, the resolved requirement snapshot and coverage, the assertion-verification manifest, evidence/annex manifests with confidentiality decisions, approval records, renderer version and final artifact hashes.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Donor-facing exports must reference a sealed snapshot; internal previews are allowed without one but are visibly watermarked. One shared gate policy drives approval, readiness, preflight and submission — so a direct API call cannot bypass what the UI showed.</a:t>
            </a:r>
            <a:endParaRPr b="0" lang="en-US" sz="920" spc="-1" strike="noStrike">
              <a:solidFill>
                <a:srgbClr val="000000"/>
              </a:solidFill>
              <a:latin typeface="Arial"/>
            </a:endParaRPr>
          </a:p>
        </p:txBody>
      </p:sp>
      <p:sp>
        <p:nvSpPr>
          <p:cNvPr id="307" name="Rounded Rectangle 14"/>
          <p:cNvSpPr/>
          <p:nvPr/>
        </p:nvSpPr>
        <p:spPr>
          <a:xfrm>
            <a:off x="6199560" y="4041720"/>
            <a:ext cx="5424840" cy="4536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COMPLIANCE, READINESS &amp; REVIEW · FEATURES 12, 13, 15</a:t>
            </a:r>
            <a:endParaRPr b="0" lang="en-US" sz="950" spc="-1" strike="noStrike">
              <a:solidFill>
                <a:srgbClr val="000000"/>
              </a:solidFill>
              <a:latin typeface="Arial"/>
            </a:endParaRPr>
          </a:p>
        </p:txBody>
      </p:sp>
      <p:sp>
        <p:nvSpPr>
          <p:cNvPr id="309"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Gaps are found before the donor finds them</a:t>
            </a:r>
            <a:endParaRPr b="0" lang="en-US" sz="2300" spc="-1" strike="noStrike">
              <a:solidFill>
                <a:srgbClr val="000000"/>
              </a:solidFill>
              <a:latin typeface="Arial"/>
            </a:endParaRPr>
          </a:p>
        </p:txBody>
      </p:sp>
      <p:sp>
        <p:nvSpPr>
          <p:cNvPr id="310"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1"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2" name="TextBox 5"/>
          <p:cNvSpPr/>
          <p:nvPr/>
        </p:nvSpPr>
        <p:spPr>
          <a:xfrm>
            <a:off x="567000" y="6391800"/>
            <a:ext cx="8624880" cy="274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Features/12-Missing-Evidence-And-Compliance-Checklist.md · Features/13-Review-And-Approval-Workflow.md · base/MVP-features.md §33–34 · Fixes.md (2026-08-31)</a:t>
            </a:r>
            <a:endParaRPr b="0" lang="en-US" sz="900" spc="-1" strike="noStrike">
              <a:solidFill>
                <a:srgbClr val="000000"/>
              </a:solidFill>
              <a:latin typeface="Arial"/>
            </a:endParaRPr>
          </a:p>
        </p:txBody>
      </p:sp>
      <p:sp>
        <p:nvSpPr>
          <p:cNvPr id="313"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17 / 20</a:t>
            </a:r>
            <a:endParaRPr b="0" lang="en-US" sz="900" spc="-1" strike="noStrike">
              <a:solidFill>
                <a:srgbClr val="000000"/>
              </a:solidFill>
              <a:latin typeface="Arial"/>
            </a:endParaRPr>
          </a:p>
        </p:txBody>
      </p:sp>
      <p:sp>
        <p:nvSpPr>
          <p:cNvPr id="314" name="Rounded Rectangle 7"/>
          <p:cNvSpPr/>
          <p:nvPr/>
        </p:nvSpPr>
        <p:spPr>
          <a:xfrm>
            <a:off x="567000" y="1298520"/>
            <a:ext cx="3563640" cy="33098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What the checklist detects</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Missing evidence · incomplete evidence metadata · unverified indicator · unsupported report claim · missing annex · missing procurement document · missing approval · missing disaggregation · late activity update · sensitive-data warning · unreviewed AI output.</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Each item carries project, period, related requirement, activity and indicator, severity (Low → Critical), owner, due date, status (Open / In progress / Resolved / Accepted risk / N/A) and resolution notes.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Example: "Indicator NUT-03 was updated but has no supporting evidence attached."</a:t>
            </a:r>
            <a:endParaRPr b="0" lang="en-US" sz="920" spc="-1" strike="noStrike">
              <a:solidFill>
                <a:srgbClr val="000000"/>
              </a:solidFill>
              <a:latin typeface="Arial"/>
            </a:endParaRPr>
          </a:p>
        </p:txBody>
      </p:sp>
      <p:sp>
        <p:nvSpPr>
          <p:cNvPr id="315" name="Rounded Rectangle 8"/>
          <p:cNvSpPr/>
          <p:nvPr/>
        </p:nvSpPr>
        <p:spPr>
          <a:xfrm>
            <a:off x="567000" y="1298520"/>
            <a:ext cx="50040" cy="330984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6" name="Rounded Rectangle 9"/>
          <p:cNvSpPr/>
          <p:nvPr/>
        </p:nvSpPr>
        <p:spPr>
          <a:xfrm>
            <a:off x="4313880" y="1298520"/>
            <a:ext cx="3563640" cy="33098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Readiness before submission</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Sections 25% · indicator updates verified 20% · required evidence attached 25% · checklist resolved 20% · approval completed 10%.</a:t>
            </a:r>
            <a:endParaRPr b="0" lang="en-US" sz="920" spc="-1" strike="noStrike">
              <a:solidFill>
                <a:srgbClr val="000000"/>
              </a:solidFill>
              <a:latin typeface="Arial"/>
            </a:endParaRPr>
          </a:p>
          <a:p>
            <a:pPr defTabSz="457200">
              <a:lnSpc>
                <a:spcPct val="100000"/>
              </a:lnSpc>
              <a:spcAft>
                <a:spcPts val="300"/>
              </a:spcAft>
            </a:pPr>
            <a:r>
              <a:rPr b="0" lang="en-US" sz="860" spc="-1" strike="noStrike">
                <a:solidFill>
                  <a:srgbClr val="1e3a8a"/>
                </a:solidFill>
                <a:latin typeface="Consolas"/>
              </a:rPr>
              <a:t>80·0.25 + 70·0.20 + 60·0.25 + 50·0.20 + 0·0.10 = 59%</a:t>
            </a:r>
            <a:endParaRPr b="0" lang="en-US" sz="86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dashboard adds a readiness snapshot, deadline overview with urgent flags, and a derived workspace-health score.</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Evidence readiness counts the period-linked evidence union; percentage indicators warn when they cannot be verified.</a:t>
            </a:r>
            <a:endParaRPr b="0" lang="en-US" sz="920" spc="-1" strike="noStrike">
              <a:solidFill>
                <a:srgbClr val="000000"/>
              </a:solidFill>
              <a:latin typeface="Arial"/>
            </a:endParaRPr>
          </a:p>
        </p:txBody>
      </p:sp>
      <p:sp>
        <p:nvSpPr>
          <p:cNvPr id="317" name="Rounded Rectangle 10"/>
          <p:cNvSpPr/>
          <p:nvPr/>
        </p:nvSpPr>
        <p:spPr>
          <a:xfrm>
            <a:off x="4313880" y="1298520"/>
            <a:ext cx="50040" cy="330984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8" name="Rounded Rectangle 11"/>
          <p:cNvSpPr/>
          <p:nvPr/>
        </p:nvSpPr>
        <p:spPr>
          <a:xfrm>
            <a:off x="8060760" y="1298520"/>
            <a:ext cx="3563640" cy="33098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Review and approval flow</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Draft created → internal review requested → reviewer comments → revisions → M&amp;E verification → compliance verification → project manager approval → export → submitted → closed.</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Comments attach to sections, evidence files, indicator updates, checklist items and activity updates; open/resolved plus mentions.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Approval requires: required sections complete, critical items resolved or accepted, indicator updates verified, evidence attached, sensitive files reviewed, approver selected.</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Claim resolution now happens inside the report workspace (Review view); blockers are written in human language.</a:t>
            </a:r>
            <a:endParaRPr b="0" lang="en-US" sz="920" spc="-1" strike="noStrike">
              <a:solidFill>
                <a:srgbClr val="000000"/>
              </a:solidFill>
              <a:latin typeface="Arial"/>
            </a:endParaRPr>
          </a:p>
        </p:txBody>
      </p:sp>
      <p:sp>
        <p:nvSpPr>
          <p:cNvPr id="319" name="Rounded Rectangle 12"/>
          <p:cNvSpPr/>
          <p:nvPr/>
        </p:nvSpPr>
        <p:spPr>
          <a:xfrm>
            <a:off x="8060760" y="1298520"/>
            <a:ext cx="50040" cy="330984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0" name="Rounded Rectangle 13"/>
          <p:cNvSpPr/>
          <p:nvPr/>
        </p:nvSpPr>
        <p:spPr>
          <a:xfrm>
            <a:off x="567000" y="4754880"/>
            <a:ext cx="11057400" cy="148104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Hard-won product lessons already paid for in production</a:t>
            </a:r>
            <a:endParaRPr b="0" lang="en-US" sz="115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Eligibility and role fixes dropped "Smart Review" noise from 109 items to 43 on a real report — many checklist items are the system asking the wrong person, not a real gap.</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Drafts are superseded rather than overwritten: one current draft plus a Versions archive, generation shows an ETA and can be cancelled, and regenerating with no AI provider always keeps the existing text instead of blanking it.</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unsupported-claim projector is idempotent against already-resolved items, so resolving a claim no longer re-creates it on the next pass.</a:t>
            </a:r>
            <a:endParaRPr b="0" lang="en-US" sz="920" spc="-1" strike="noStrike">
              <a:solidFill>
                <a:srgbClr val="000000"/>
              </a:solidFill>
              <a:latin typeface="Arial"/>
            </a:endParaRPr>
          </a:p>
        </p:txBody>
      </p:sp>
      <p:sp>
        <p:nvSpPr>
          <p:cNvPr id="321" name="Rounded Rectangle 14"/>
          <p:cNvSpPr/>
          <p:nvPr/>
        </p:nvSpPr>
        <p:spPr>
          <a:xfrm>
            <a:off x="567000" y="4754880"/>
            <a:ext cx="11057400" cy="4536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EXPORTS · FEATURE 14 · ADR-0009</a:t>
            </a:r>
            <a:endParaRPr b="0" lang="en-US" sz="950" spc="-1" strike="noStrike">
              <a:solidFill>
                <a:srgbClr val="000000"/>
              </a:solidFill>
              <a:latin typeface="Arial"/>
            </a:endParaRPr>
          </a:p>
        </p:txBody>
      </p:sp>
      <p:sp>
        <p:nvSpPr>
          <p:cNvPr id="323"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Deliverables a donor will actually accept</a:t>
            </a:r>
            <a:endParaRPr b="0" lang="en-US" sz="2300" spc="-1" strike="noStrike">
              <a:solidFill>
                <a:srgbClr val="000000"/>
              </a:solidFill>
              <a:latin typeface="Arial"/>
            </a:endParaRPr>
          </a:p>
        </p:txBody>
      </p:sp>
      <p:sp>
        <p:nvSpPr>
          <p:cNvPr id="324"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25"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26"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Features/14-Export-Module.md · ADR-0009 · base/MVP-features.md §35 · AGENTS.md (export markdown invariant)</a:t>
            </a:r>
            <a:endParaRPr b="0" lang="en-US" sz="900" spc="-1" strike="noStrike">
              <a:solidFill>
                <a:srgbClr val="000000"/>
              </a:solidFill>
              <a:latin typeface="Arial"/>
            </a:endParaRPr>
          </a:p>
        </p:txBody>
      </p:sp>
      <p:sp>
        <p:nvSpPr>
          <p:cNvPr id="327"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18 / 20</a:t>
            </a:r>
            <a:endParaRPr b="0" lang="en-US" sz="900" spc="-1" strike="noStrike">
              <a:solidFill>
                <a:srgbClr val="000000"/>
              </a:solidFill>
              <a:latin typeface="Arial"/>
            </a:endParaRPr>
          </a:p>
        </p:txBody>
      </p:sp>
      <p:sp>
        <p:nvSpPr>
          <p:cNvPr id="328" name="Rounded Rectangle 7"/>
          <p:cNvSpPr/>
          <p:nvPr/>
        </p:nvSpPr>
        <p:spPr>
          <a:xfrm>
            <a:off x="567000" y="1298520"/>
            <a:ext cx="5668920" cy="30628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Export types and package contents</a:t>
            </a:r>
            <a:endParaRPr b="0" lang="en-US" sz="1200" spc="-1" strike="noStrike">
              <a:solidFill>
                <a:srgbClr val="000000"/>
              </a:solidFill>
              <a:latin typeface="Arial"/>
            </a:endParaRPr>
          </a:p>
          <a:p>
            <a:pPr defTabSz="457200">
              <a:lnSpc>
                <a:spcPct val="102000"/>
              </a:lnSpc>
              <a:spcAft>
                <a:spcPts val="300"/>
              </a:spcAft>
            </a:pPr>
            <a:r>
              <a:rPr b="0" lang="en-US" sz="960" spc="-1" strike="noStrike">
                <a:solidFill>
                  <a:srgbClr val="334155"/>
                </a:solidFill>
                <a:latin typeface="Calibri"/>
              </a:rPr>
              <a:t>Word report · PDF report · Excel indicator table · evidence checklist · evidence pack ZIP.</a:t>
            </a:r>
            <a:endParaRPr b="0" lang="en-US" sz="960" spc="-1" strike="noStrike">
              <a:solidFill>
                <a:srgbClr val="000000"/>
              </a:solidFill>
              <a:latin typeface="Arial"/>
            </a:endParaRPr>
          </a:p>
          <a:p>
            <a:pPr defTabSz="457200">
              <a:lnSpc>
                <a:spcPct val="102000"/>
              </a:lnSpc>
              <a:spcAft>
                <a:spcPts val="300"/>
              </a:spcAft>
            </a:pPr>
            <a:r>
              <a:rPr b="0" lang="en-US" sz="960" spc="-1" strike="noStrike">
                <a:solidFill>
                  <a:srgbClr val="334155"/>
                </a:solidFill>
                <a:latin typeface="Calibri"/>
              </a:rPr>
              <a:t>A full package contains the final donor report, indicator table, evidence checklist, annex list, selected evidence files, compliance summary and report metadata.</a:t>
            </a:r>
            <a:endParaRPr b="0" lang="en-US" sz="960" spc="-1" strike="noStrike">
              <a:solidFill>
                <a:srgbClr val="000000"/>
              </a:solidFill>
              <a:latin typeface="Arial"/>
            </a:endParaRPr>
          </a:p>
          <a:p>
            <a:pPr defTabSz="457200">
              <a:lnSpc>
                <a:spcPct val="102000"/>
              </a:lnSpc>
              <a:spcAft>
                <a:spcPts val="300"/>
              </a:spcAft>
            </a:pPr>
            <a:r>
              <a:rPr b="0" lang="en-US" sz="960" spc="-1" strike="noStrike">
                <a:solidFill>
                  <a:srgbClr val="334155"/>
                </a:solidFill>
                <a:latin typeface="Calibri"/>
              </a:rPr>
              <a:t>Every export is recorded: type, who exported it, when, project, reporting period, report version and the files included.</a:t>
            </a:r>
            <a:endParaRPr b="0" lang="en-US" sz="960" spc="-1" strike="noStrike">
              <a:solidFill>
                <a:srgbClr val="000000"/>
              </a:solidFill>
              <a:latin typeface="Arial"/>
            </a:endParaRPr>
          </a:p>
          <a:p>
            <a:pPr defTabSz="457200">
              <a:lnSpc>
                <a:spcPct val="102000"/>
              </a:lnSpc>
              <a:spcAft>
                <a:spcPts val="300"/>
              </a:spcAft>
            </a:pPr>
            <a:r>
              <a:rPr b="0" lang="en-US" sz="960" spc="-1" strike="noStrike">
                <a:solidFill>
                  <a:srgbClr val="334155"/>
                </a:solidFill>
                <a:latin typeface="Calibri"/>
              </a:rPr>
              <a:t>Before export the user sees warnings — unresolved critical checklist items, unsupported claims, unverified indicators, sensitive evidence, missing annexes — and can only proceed with the right permission.</a:t>
            </a:r>
            <a:endParaRPr b="0" lang="en-US" sz="960" spc="-1" strike="noStrike">
              <a:solidFill>
                <a:srgbClr val="000000"/>
              </a:solidFill>
              <a:latin typeface="Arial"/>
            </a:endParaRPr>
          </a:p>
        </p:txBody>
      </p:sp>
      <p:sp>
        <p:nvSpPr>
          <p:cNvPr id="329" name="Rounded Rectangle 8"/>
          <p:cNvSpPr/>
          <p:nvPr/>
        </p:nvSpPr>
        <p:spPr>
          <a:xfrm>
            <a:off x="567000" y="1298520"/>
            <a:ext cx="5668920" cy="45360"/>
          </a:xfrm>
          <a:prstGeom prst="roundRect">
            <a:avLst>
              <a:gd name="adj" fmla="val 3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30" name="Rounded Rectangle 9"/>
          <p:cNvSpPr/>
          <p:nvPr/>
        </p:nvSpPr>
        <p:spPr>
          <a:xfrm>
            <a:off x="6437520" y="1298520"/>
            <a:ext cx="5186880" cy="30628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Evidence pack folder structure</a:t>
            </a:r>
            <a:endParaRPr b="0" lang="en-US" sz="120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Project Name/</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Reporting Period/</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01_Final_Report/</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02_Indicator_Table/</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03_Evidence_Checklist/</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04_Attendance_Sheets/</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05_Photos/</a:t>
            </a:r>
            <a:endParaRPr b="0" lang="en-US" sz="910" spc="-1" strike="noStrike">
              <a:solidFill>
                <a:srgbClr val="000000"/>
              </a:solidFill>
              <a:latin typeface="Arial"/>
            </a:endParaRPr>
          </a:p>
          <a:p>
            <a:pPr defTabSz="457200">
              <a:lnSpc>
                <a:spcPct val="100000"/>
              </a:lnSpc>
              <a:spcAft>
                <a:spcPts val="300"/>
              </a:spcAft>
            </a:pPr>
            <a:r>
              <a:rPr b="0" lang="en-US" sz="910" spc="-1" strike="noStrike">
                <a:solidFill>
                  <a:srgbClr val="1e3a8a"/>
                </a:solidFill>
                <a:latin typeface="Consolas"/>
              </a:rPr>
              <a:t>    </a:t>
            </a:r>
            <a:r>
              <a:rPr b="0" lang="en-US" sz="910" spc="-1" strike="noStrike">
                <a:solidFill>
                  <a:srgbClr val="1e3a8a"/>
                </a:solidFill>
                <a:latin typeface="Consolas"/>
              </a:rPr>
              <a:t>...</a:t>
            </a:r>
            <a:endParaRPr b="0" lang="en-US" sz="910" spc="-1" strike="noStrike">
              <a:solidFill>
                <a:srgbClr val="000000"/>
              </a:solidFill>
              <a:latin typeface="Arial"/>
            </a:endParaRPr>
          </a:p>
          <a:p>
            <a:pPr defTabSz="457200">
              <a:lnSpc>
                <a:spcPct val="102000"/>
              </a:lnSpc>
              <a:spcAft>
                <a:spcPts val="300"/>
              </a:spcAft>
            </a:pPr>
            <a:r>
              <a:rPr b="0" lang="en-US" sz="960" spc="-1" strike="noStrike">
                <a:solidFill>
                  <a:srgbClr val="334155"/>
                </a:solidFill>
                <a:latin typeface="Calibri"/>
              </a:rPr>
              <a:t>A predictable tree means the file a donor auditor asks for is where they expect it to be.</a:t>
            </a:r>
            <a:endParaRPr b="0" lang="en-US" sz="960" spc="-1" strike="noStrike">
              <a:solidFill>
                <a:srgbClr val="000000"/>
              </a:solidFill>
              <a:latin typeface="Arial"/>
            </a:endParaRPr>
          </a:p>
        </p:txBody>
      </p:sp>
      <p:sp>
        <p:nvSpPr>
          <p:cNvPr id="331" name="Rounded Rectangle 10"/>
          <p:cNvSpPr/>
          <p:nvPr/>
        </p:nvSpPr>
        <p:spPr>
          <a:xfrm>
            <a:off x="6437520" y="1298520"/>
            <a:ext cx="5186880" cy="4536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32" name="Rounded Rectangle 11"/>
          <p:cNvSpPr/>
          <p:nvPr/>
        </p:nvSpPr>
        <p:spPr>
          <a:xfrm>
            <a:off x="567000" y="4498920"/>
            <a:ext cx="11057400" cy="173700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Donor-native rendering behind one export builder (ADR-0009)</a:t>
            </a:r>
            <a:endParaRPr b="0" lang="en-US" sz="1150"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CreateExportHandler takes an explicit exportIntent and an optional submissionSnapshotId. DONOR_SUBMISSION requires a sealed snapshot and is never watermarked; internal previews must be watermarked. The builder validates those invariants itself, so no path can produce an unapproved donor artifact.</a:t>
            </a:r>
            <a:endParaRPr b="0" lang="en-US" sz="939"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DONOR_TEMPLATE rendering is worker-backed (docxtpl in the Python workers) using an approved, versioned template mapping; the TypeScript builder emits a placeholder-aware DOCX so the pipeline and preflight keep working. The snapshot records renderer, template and mapping versions plus artifact hashes, so a final artifact reproduces exactly.</a:t>
            </a:r>
            <a:endParaRPr b="0" lang="en-US" sz="939"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Charts are user-selectable per section (BAR, LINE, PIE, AREA, RADAR, GAUGE) and render identically in DOCX and PDF via ECharts SSR → PNG.</a:t>
            </a:r>
            <a:endParaRPr b="0" lang="en-US" sz="939" spc="-1" strike="noStrike">
              <a:solidFill>
                <a:srgbClr val="000000"/>
              </a:solidFill>
              <a:latin typeface="Arial"/>
            </a:endParaRPr>
          </a:p>
        </p:txBody>
      </p:sp>
      <p:sp>
        <p:nvSpPr>
          <p:cNvPr id="333" name="Rounded Rectangle 12"/>
          <p:cNvSpPr/>
          <p:nvPr/>
        </p:nvSpPr>
        <p:spPr>
          <a:xfrm>
            <a:off x="567000" y="4498920"/>
            <a:ext cx="1105740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DONORDESK VERSION 2.0 · FEATURE 21 · HEADLINE RELEASE</a:t>
            </a:r>
            <a:endParaRPr b="0" lang="en-US" sz="950" spc="-1" strike="noStrike">
              <a:solidFill>
                <a:srgbClr val="000000"/>
              </a:solidFill>
              <a:latin typeface="Arial"/>
            </a:endParaRPr>
          </a:p>
        </p:txBody>
      </p:sp>
      <p:sp>
        <p:nvSpPr>
          <p:cNvPr id="335"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Version 2.0 — Agent Memory: learns style, never numbers</a:t>
            </a:r>
            <a:endParaRPr b="0" lang="en-US" sz="2300" spc="-1" strike="noStrike">
              <a:solidFill>
                <a:srgbClr val="000000"/>
              </a:solidFill>
              <a:latin typeface="Arial"/>
            </a:endParaRPr>
          </a:p>
        </p:txBody>
      </p:sp>
      <p:sp>
        <p:nvSpPr>
          <p:cNvPr id="336"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7"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8"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Features/21-Agent-Memory.md · imp/Phase21-agent-memory.md · CONTABO-DEPLOY.md (release 20260928094857)</a:t>
            </a:r>
            <a:endParaRPr b="0" lang="en-US" sz="900" spc="-1" strike="noStrike">
              <a:solidFill>
                <a:srgbClr val="000000"/>
              </a:solidFill>
              <a:latin typeface="Arial"/>
            </a:endParaRPr>
          </a:p>
        </p:txBody>
      </p:sp>
      <p:sp>
        <p:nvSpPr>
          <p:cNvPr id="339"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19 / 20</a:t>
            </a:r>
            <a:endParaRPr b="0" lang="en-US" sz="900" spc="-1" strike="noStrike">
              <a:solidFill>
                <a:srgbClr val="000000"/>
              </a:solidFill>
              <a:latin typeface="Arial"/>
            </a:endParaRPr>
          </a:p>
        </p:txBody>
      </p:sp>
      <p:sp>
        <p:nvSpPr>
          <p:cNvPr id="340" name="Rounded Rectangle 7"/>
          <p:cNvSpPr/>
          <p:nvPr/>
        </p:nvSpPr>
        <p:spPr>
          <a:xfrm>
            <a:off x="56700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Opt in</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Tenant enables "AI Writing Style" in Settings</a:t>
            </a:r>
            <a:endParaRPr b="0" lang="en-US" sz="930" spc="-1" strike="noStrike">
              <a:solidFill>
                <a:srgbClr val="000000"/>
              </a:solidFill>
              <a:latin typeface="Arial"/>
            </a:endParaRPr>
          </a:p>
        </p:txBody>
      </p:sp>
      <p:sp>
        <p:nvSpPr>
          <p:cNvPr id="341" name="Oval 8"/>
          <p:cNvSpPr/>
          <p:nvPr/>
        </p:nvSpPr>
        <p:spPr>
          <a:xfrm>
            <a:off x="19162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1</a:t>
            </a:r>
            <a:endParaRPr b="0" lang="en-US" sz="1300" spc="-1" strike="noStrike">
              <a:solidFill>
                <a:srgbClr val="ffffff"/>
              </a:solidFill>
              <a:latin typeface="Arial"/>
            </a:endParaRPr>
          </a:p>
        </p:txBody>
      </p:sp>
      <p:sp>
        <p:nvSpPr>
          <p:cNvPr id="342" name="Rectangle 9"/>
          <p:cNvSpPr/>
          <p:nvPr/>
        </p:nvSpPr>
        <p:spPr>
          <a:xfrm>
            <a:off x="2318400" y="193392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343" name="Rounded Rectangle 10"/>
          <p:cNvSpPr/>
          <p:nvPr/>
        </p:nvSpPr>
        <p:spPr>
          <a:xfrm>
            <a:off x="242820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Reviewer edits</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A report manager corrects an AI-drafted section</a:t>
            </a:r>
            <a:endParaRPr b="0" lang="en-US" sz="930" spc="-1" strike="noStrike">
              <a:solidFill>
                <a:srgbClr val="000000"/>
              </a:solidFill>
              <a:latin typeface="Arial"/>
            </a:endParaRPr>
          </a:p>
        </p:txBody>
      </p:sp>
      <p:sp>
        <p:nvSpPr>
          <p:cNvPr id="344" name="Oval 11"/>
          <p:cNvSpPr/>
          <p:nvPr/>
        </p:nvSpPr>
        <p:spPr>
          <a:xfrm>
            <a:off x="37774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2</a:t>
            </a:r>
            <a:endParaRPr b="0" lang="en-US" sz="1300" spc="-1" strike="noStrike">
              <a:solidFill>
                <a:srgbClr val="ffffff"/>
              </a:solidFill>
              <a:latin typeface="Arial"/>
            </a:endParaRPr>
          </a:p>
        </p:txBody>
      </p:sp>
      <p:sp>
        <p:nvSpPr>
          <p:cNvPr id="345" name="Rectangle 12"/>
          <p:cNvSpPr/>
          <p:nvPr/>
        </p:nvSpPr>
        <p:spPr>
          <a:xfrm>
            <a:off x="4179600" y="193392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346" name="Rounded Rectangle 13"/>
          <p:cNvSpPr/>
          <p:nvPr/>
        </p:nvSpPr>
        <p:spPr>
          <a:xfrm>
            <a:off x="428940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Diff is read</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MANUAL_EDIT revision vs its parent revision</a:t>
            </a:r>
            <a:endParaRPr b="0" lang="en-US" sz="930" spc="-1" strike="noStrike">
              <a:solidFill>
                <a:srgbClr val="000000"/>
              </a:solidFill>
              <a:latin typeface="Arial"/>
            </a:endParaRPr>
          </a:p>
        </p:txBody>
      </p:sp>
      <p:sp>
        <p:nvSpPr>
          <p:cNvPr id="347" name="Oval 14"/>
          <p:cNvSpPr/>
          <p:nvPr/>
        </p:nvSpPr>
        <p:spPr>
          <a:xfrm>
            <a:off x="56386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3</a:t>
            </a:r>
            <a:endParaRPr b="0" lang="en-US" sz="1300" spc="-1" strike="noStrike">
              <a:solidFill>
                <a:srgbClr val="ffffff"/>
              </a:solidFill>
              <a:latin typeface="Arial"/>
            </a:endParaRPr>
          </a:p>
        </p:txBody>
      </p:sp>
      <p:sp>
        <p:nvSpPr>
          <p:cNvPr id="348" name="Rectangle 15"/>
          <p:cNvSpPr/>
          <p:nvPr/>
        </p:nvSpPr>
        <p:spPr>
          <a:xfrm>
            <a:off x="6041160" y="193392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349" name="Rounded Rectangle 16"/>
          <p:cNvSpPr/>
          <p:nvPr/>
        </p:nvSpPr>
        <p:spPr>
          <a:xfrm>
            <a:off x="615060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Numeric hunks dropped</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Numbers, dates, currencies, %, indicator codes</a:t>
            </a:r>
            <a:endParaRPr b="0" lang="en-US" sz="930" spc="-1" strike="noStrike">
              <a:solidFill>
                <a:srgbClr val="000000"/>
              </a:solidFill>
              <a:latin typeface="Arial"/>
            </a:endParaRPr>
          </a:p>
        </p:txBody>
      </p:sp>
      <p:sp>
        <p:nvSpPr>
          <p:cNvPr id="350" name="Oval 17"/>
          <p:cNvSpPr/>
          <p:nvPr/>
        </p:nvSpPr>
        <p:spPr>
          <a:xfrm>
            <a:off x="74998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4</a:t>
            </a:r>
            <a:endParaRPr b="0" lang="en-US" sz="1300" spc="-1" strike="noStrike">
              <a:solidFill>
                <a:srgbClr val="ffffff"/>
              </a:solidFill>
              <a:latin typeface="Arial"/>
            </a:endParaRPr>
          </a:p>
        </p:txBody>
      </p:sp>
      <p:sp>
        <p:nvSpPr>
          <p:cNvPr id="351" name="Rectangle 18"/>
          <p:cNvSpPr/>
          <p:nvPr/>
        </p:nvSpPr>
        <p:spPr>
          <a:xfrm>
            <a:off x="7902360" y="193392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352" name="Rounded Rectangle 19"/>
          <p:cNvSpPr/>
          <p:nvPr/>
        </p:nvSpPr>
        <p:spPr>
          <a:xfrm>
            <a:off x="801180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PROPOSED</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Statement proposed; occurrence count bumped if it recurs</a:t>
            </a:r>
            <a:endParaRPr b="0" lang="en-US" sz="930" spc="-1" strike="noStrike">
              <a:solidFill>
                <a:srgbClr val="000000"/>
              </a:solidFill>
              <a:latin typeface="Arial"/>
            </a:endParaRPr>
          </a:p>
        </p:txBody>
      </p:sp>
      <p:sp>
        <p:nvSpPr>
          <p:cNvPr id="353" name="Oval 20"/>
          <p:cNvSpPr/>
          <p:nvPr/>
        </p:nvSpPr>
        <p:spPr>
          <a:xfrm>
            <a:off x="93610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5</a:t>
            </a:r>
            <a:endParaRPr b="0" lang="en-US" sz="1300" spc="-1" strike="noStrike">
              <a:solidFill>
                <a:srgbClr val="ffffff"/>
              </a:solidFill>
              <a:latin typeface="Arial"/>
            </a:endParaRPr>
          </a:p>
        </p:txBody>
      </p:sp>
      <p:sp>
        <p:nvSpPr>
          <p:cNvPr id="354" name="Rectangle 21"/>
          <p:cNvSpPr/>
          <p:nvPr/>
        </p:nvSpPr>
        <p:spPr>
          <a:xfrm>
            <a:off x="9763560" y="1933920"/>
            <a:ext cx="109440" cy="2700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7640" bIns="-17640" anchor="ctr">
            <a:noAutofit/>
          </a:bodyPr>
          <a:p>
            <a:pPr algn="ctr" defTabSz="457200">
              <a:lnSpc>
                <a:spcPct val="100000"/>
              </a:lnSpc>
            </a:pPr>
            <a:endParaRPr b="0" lang="en-US" sz="1800" spc="-1" strike="noStrike">
              <a:solidFill>
                <a:schemeClr val="lt1"/>
              </a:solidFill>
              <a:latin typeface="Calibri"/>
            </a:endParaRPr>
          </a:p>
        </p:txBody>
      </p:sp>
      <p:sp>
        <p:nvSpPr>
          <p:cNvPr id="355" name="Rounded Rectangle 22"/>
          <p:cNvSpPr/>
          <p:nvPr/>
        </p:nvSpPr>
        <p:spPr>
          <a:xfrm>
            <a:off x="9873360" y="1344240"/>
            <a:ext cx="1751040" cy="1206720"/>
          </a:xfrm>
          <a:prstGeom prst="roundRect">
            <a:avLst>
              <a:gd name="adj" fmla="val 8000"/>
            </a:avLst>
          </a:prstGeom>
          <a:solidFill>
            <a:srgbClr val="ffffff"/>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t">
            <a:noAutofit/>
          </a:bodyPr>
          <a:p>
            <a:pPr defTabSz="457200">
              <a:lnSpc>
                <a:spcPct val="100000"/>
              </a:lnSpc>
              <a:spcAft>
                <a:spcPts val="201"/>
              </a:spcAft>
            </a:pPr>
            <a:r>
              <a:rPr b="1" lang="en-US" sz="1030" spc="-1" strike="noStrike">
                <a:solidFill>
                  <a:srgbClr val="0f172a"/>
                </a:solidFill>
                <a:latin typeface="Calibri"/>
              </a:rPr>
              <a:t>ACTIVE</a:t>
            </a:r>
            <a:endParaRPr b="0" lang="en-US" sz="1030" spc="-1" strike="noStrike">
              <a:solidFill>
                <a:srgbClr val="000000"/>
              </a:solidFill>
              <a:latin typeface="Arial"/>
            </a:endParaRPr>
          </a:p>
          <a:p>
            <a:pPr defTabSz="457200">
              <a:lnSpc>
                <a:spcPct val="100000"/>
              </a:lnSpc>
              <a:spcAft>
                <a:spcPts val="201"/>
              </a:spcAft>
            </a:pPr>
            <a:r>
              <a:rPr b="0" lang="en-US" sz="930" spc="-1" strike="noStrike">
                <a:solidFill>
                  <a:srgbClr val="64748b"/>
                </a:solidFill>
                <a:latin typeface="Calibri"/>
              </a:rPr>
              <a:t>Approved → injected into sectionGuidance for that context</a:t>
            </a:r>
            <a:endParaRPr b="0" lang="en-US" sz="930" spc="-1" strike="noStrike">
              <a:solidFill>
                <a:srgbClr val="000000"/>
              </a:solidFill>
              <a:latin typeface="Arial"/>
            </a:endParaRPr>
          </a:p>
        </p:txBody>
      </p:sp>
      <p:sp>
        <p:nvSpPr>
          <p:cNvPr id="356" name="Oval 23"/>
          <p:cNvSpPr/>
          <p:nvPr/>
        </p:nvSpPr>
        <p:spPr>
          <a:xfrm>
            <a:off x="11222280" y="1188720"/>
            <a:ext cx="328680" cy="328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0" rIns="0" tIns="0" bIns="0" anchor="ctr">
            <a:noAutofit/>
          </a:bodyPr>
          <a:p>
            <a:pPr algn="ctr" defTabSz="457200">
              <a:lnSpc>
                <a:spcPct val="100000"/>
              </a:lnSpc>
              <a:spcAft>
                <a:spcPts val="201"/>
              </a:spcAft>
            </a:pPr>
            <a:r>
              <a:rPr b="1" lang="en-US" sz="1300" spc="-1" strike="noStrike">
                <a:solidFill>
                  <a:srgbClr val="ffffff"/>
                </a:solidFill>
                <a:latin typeface="Calibri"/>
              </a:rPr>
              <a:t>6</a:t>
            </a:r>
            <a:endParaRPr b="0" lang="en-US" sz="1300" spc="-1" strike="noStrike">
              <a:solidFill>
                <a:srgbClr val="ffffff"/>
              </a:solidFill>
              <a:latin typeface="Arial"/>
            </a:endParaRPr>
          </a:p>
        </p:txBody>
      </p:sp>
      <p:sp>
        <p:nvSpPr>
          <p:cNvPr id="357" name="Rounded Rectangle 24"/>
          <p:cNvSpPr/>
          <p:nvPr/>
        </p:nvSpPr>
        <p:spPr>
          <a:xfrm>
            <a:off x="567000" y="2670120"/>
            <a:ext cx="5421960" cy="1874160"/>
          </a:xfrm>
          <a:prstGeom prst="roundRect">
            <a:avLst>
              <a:gd name="adj" fmla="val 6000"/>
            </a:avLst>
          </a:prstGeom>
          <a:solidFill>
            <a:srgbClr val="fffbeb"/>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Objective and user story</a:t>
            </a:r>
            <a:endParaRPr b="0" lang="en-US" sz="1200"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Today every section is drafted from scratch, guided only by the donor template's own instructions and fixed editorial rules — the tool cannot remember that a tenant or donor prefers a different tone, terminology or structure, so the same correction is made every period.</a:t>
            </a:r>
            <a:endParaRPr b="0" lang="en-US" sz="939" spc="-1" strike="noStrike">
              <a:solidFill>
                <a:srgbClr val="000000"/>
              </a:solidFill>
              <a:latin typeface="Arial"/>
            </a:endParaRPr>
          </a:p>
          <a:p>
            <a:pPr defTabSz="457200">
              <a:lnSpc>
                <a:spcPct val="102000"/>
              </a:lnSpc>
              <a:spcAft>
                <a:spcPts val="201"/>
              </a:spcAft>
            </a:pPr>
            <a:r>
              <a:rPr b="0" lang="en-US" sz="889" spc="-1" strike="noStrike">
                <a:solidFill>
                  <a:srgbClr val="64748b"/>
                </a:solidFill>
                <a:latin typeface="Calibri"/>
              </a:rPr>
              <a:t>"Notice the pattern, ask me once whether to apply it going forward, and then stop making that mistake in future drafts for that donor."</a:t>
            </a:r>
            <a:endParaRPr b="0" lang="en-US" sz="889" spc="-1" strike="noStrike">
              <a:solidFill>
                <a:srgbClr val="000000"/>
              </a:solidFill>
              <a:latin typeface="Arial"/>
            </a:endParaRPr>
          </a:p>
          <a:p>
            <a:pPr defTabSz="457200">
              <a:lnSpc>
                <a:spcPct val="102000"/>
              </a:lnSpc>
              <a:spcAft>
                <a:spcPts val="300"/>
              </a:spcAft>
            </a:pPr>
            <a:r>
              <a:rPr b="0" lang="en-US" sz="939" spc="-1" strike="noStrike">
                <a:solidFill>
                  <a:srgbClr val="334155"/>
                </a:solidFill>
                <a:latin typeface="Calibri"/>
              </a:rPr>
              <a:t>Agent Memory closes that gap for style and structure only; facts and figures stay with the deterministic verified-findings pipeline.</a:t>
            </a:r>
            <a:endParaRPr b="0" lang="en-US" sz="939" spc="-1" strike="noStrike">
              <a:solidFill>
                <a:srgbClr val="000000"/>
              </a:solidFill>
              <a:latin typeface="Arial"/>
            </a:endParaRPr>
          </a:p>
        </p:txBody>
      </p:sp>
      <p:sp>
        <p:nvSpPr>
          <p:cNvPr id="358" name="Rounded Rectangle 25"/>
          <p:cNvSpPr/>
          <p:nvPr/>
        </p:nvSpPr>
        <p:spPr>
          <a:xfrm>
            <a:off x="567000" y="2670120"/>
            <a:ext cx="5421960" cy="4536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59" name="Rounded Rectangle 26"/>
          <p:cNvSpPr/>
          <p:nvPr/>
        </p:nvSpPr>
        <p:spPr>
          <a:xfrm>
            <a:off x="6199560" y="2670120"/>
            <a:ext cx="5424840" cy="187416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200" spc="-1" strike="noStrike">
                <a:solidFill>
                  <a:srgbClr val="0f172a"/>
                </a:solidFill>
                <a:latin typeface="Calibri"/>
              </a:rPr>
              <a:t>Domain model</a:t>
            </a:r>
            <a:endParaRPr b="0" lang="en-US" sz="120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Scope: ORGANIZATION · DONOR · TEMPLATE · SECTION_TYPE.  Category: TONE · STRUCTURE · TERMINOLOGY · FORMATTING · LENGTH.</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Status: PROPOSED · ACTIVE · REJECTED · SUPERSEDED · DEACTIVATED. STATEMENT is capped and cannot contain a numeric atom.</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Confidence (LOW/MEDIUM/HIGH) is derived from occurrenceCount — never from an LLM's self-reported confidence. Provenance (source revision, parent revision, section, occurrence count, last observed) is append-only, so the history itself is the evidence.</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ACTIVE is reachable only through a transition that carries approvedById — no constructor can create an already-active memory.</a:t>
            </a:r>
            <a:endParaRPr b="0" lang="en-US" sz="920" spc="-1" strike="noStrike">
              <a:solidFill>
                <a:srgbClr val="000000"/>
              </a:solidFill>
              <a:latin typeface="Arial"/>
            </a:endParaRPr>
          </a:p>
        </p:txBody>
      </p:sp>
      <p:sp>
        <p:nvSpPr>
          <p:cNvPr id="360" name="Rounded Rectangle 27"/>
          <p:cNvSpPr/>
          <p:nvPr/>
        </p:nvSpPr>
        <p:spPr>
          <a:xfrm>
            <a:off x="6199560" y="2670120"/>
            <a:ext cx="5424840" cy="4536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61" name="Rounded Rectangle 28"/>
          <p:cNvSpPr/>
          <p:nvPr/>
        </p:nvSpPr>
        <p:spPr>
          <a:xfrm>
            <a:off x="567000" y="4663440"/>
            <a:ext cx="5421960" cy="173700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Where it plugs in — no new prompt channel</a:t>
            </a:r>
            <a:endParaRPr b="0" lang="en-US" sz="115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only integration point is sectionGuidance, the existing single source of truth already consumed by both the AI Reporter worker and the legacy generator.</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Extraction runs after the assurance pass has already re-verified the edited revision — a second, independent safety net on top of the hunk filter — and is dispatched through the existing BackgroundRunner.</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The generation-time lookup is synchronous and read-only: no LLM call and no new dependency on the hot path.</a:t>
            </a:r>
            <a:endParaRPr b="0" lang="en-US" sz="920" spc="-1" strike="noStrike">
              <a:solidFill>
                <a:srgbClr val="000000"/>
              </a:solidFill>
              <a:latin typeface="Arial"/>
            </a:endParaRPr>
          </a:p>
        </p:txBody>
      </p:sp>
      <p:sp>
        <p:nvSpPr>
          <p:cNvPr id="362" name="Rounded Rectangle 29"/>
          <p:cNvSpPr/>
          <p:nvPr/>
        </p:nvSpPr>
        <p:spPr>
          <a:xfrm>
            <a:off x="567000" y="4663440"/>
            <a:ext cx="5421960" cy="45360"/>
          </a:xfrm>
          <a:prstGeom prst="roundRect">
            <a:avLst>
              <a:gd name="adj" fmla="val 30000"/>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
        <p:nvSpPr>
          <p:cNvPr id="363" name="Rounded Rectangle 30"/>
          <p:cNvSpPr/>
          <p:nvPr/>
        </p:nvSpPr>
        <p:spPr>
          <a:xfrm>
            <a:off x="6199560" y="4663440"/>
            <a:ext cx="5424840" cy="1737000"/>
          </a:xfrm>
          <a:prstGeom prst="roundRect">
            <a:avLst>
              <a:gd name="adj" fmla="val 6000"/>
            </a:avLst>
          </a:prstGeom>
          <a:solidFill>
            <a:srgbClr val="ecfdf5"/>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46160" tIns="146160" bIns="91440" anchor="t">
            <a:noAutofit/>
          </a:bodyPr>
          <a:p>
            <a:pPr defTabSz="457200">
              <a:lnSpc>
                <a:spcPct val="100000"/>
              </a:lnSpc>
              <a:spcAft>
                <a:spcPts val="499"/>
              </a:spcAft>
            </a:pPr>
            <a:r>
              <a:rPr b="1" lang="en-US" sz="1150" spc="-1" strike="noStrike">
                <a:solidFill>
                  <a:srgbClr val="0f172a"/>
                </a:solidFill>
                <a:latin typeface="Calibri"/>
              </a:rPr>
              <a:t>What shipped</a:t>
            </a:r>
            <a:endParaRPr b="0" lang="en-US" sz="115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New AgentMemory table and Organization.agentMemoryEnabled tenant toggle; new capability report.manage-agent-memory; new "AI Writing Style" Settings tab (hidden unless the platform flag and the capability are both present).</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Migration 20260928150000_agent_memory applied manually with a DB dump taken first; rls.sql re-applied so AgentMemory is tenant-isolated — a cross-tenant read returns zero rows.</a:t>
            </a:r>
            <a:endParaRPr b="0" lang="en-US" sz="920" spc="-1" strike="noStrike">
              <a:solidFill>
                <a:srgbClr val="000000"/>
              </a:solidFill>
              <a:latin typeface="Arial"/>
            </a:endParaRPr>
          </a:p>
          <a:p>
            <a:pPr defTabSz="457200">
              <a:lnSpc>
                <a:spcPct val="102000"/>
              </a:lnSpc>
              <a:spcAft>
                <a:spcPts val="300"/>
              </a:spcAft>
            </a:pPr>
            <a:r>
              <a:rPr b="0" lang="en-US" sz="920" spc="-1" strike="noStrike">
                <a:solidFill>
                  <a:srgbClr val="334155"/>
                </a:solidFill>
                <a:latin typeface="Calibri"/>
              </a:rPr>
              <a:t>Deployed dark on 2026-09-28, then the platform flag was turned on the same day: tenants stay byte-identical to pre-2.0 behaviour until a report manager opts in.</a:t>
            </a:r>
            <a:endParaRPr b="0" lang="en-US" sz="920" spc="-1" strike="noStrike">
              <a:solidFill>
                <a:srgbClr val="000000"/>
              </a:solidFill>
              <a:latin typeface="Arial"/>
            </a:endParaRPr>
          </a:p>
        </p:txBody>
      </p:sp>
      <p:sp>
        <p:nvSpPr>
          <p:cNvPr id="364" name="Rounded Rectangle 31"/>
          <p:cNvSpPr/>
          <p:nvPr/>
        </p:nvSpPr>
        <p:spPr>
          <a:xfrm>
            <a:off x="6199560" y="4663440"/>
            <a:ext cx="5424840" cy="4536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560" bIns="-756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TextBox 1"/>
          <p:cNvSpPr/>
          <p:nvPr/>
        </p:nvSpPr>
        <p:spPr>
          <a:xfrm>
            <a:off x="567000" y="274320"/>
            <a:ext cx="110574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563eb"/>
                </a:solidFill>
                <a:latin typeface="Calibri"/>
              </a:rPr>
              <a:t>VERSION 2.0 WRAP-UP</a:t>
            </a:r>
            <a:endParaRPr b="0" lang="en-US" sz="950" spc="-1" strike="noStrike">
              <a:solidFill>
                <a:srgbClr val="000000"/>
              </a:solidFill>
              <a:latin typeface="Arial"/>
            </a:endParaRPr>
          </a:p>
        </p:txBody>
      </p:sp>
      <p:sp>
        <p:nvSpPr>
          <p:cNvPr id="366" name="TextBox 2"/>
          <p:cNvSpPr/>
          <p:nvPr/>
        </p:nvSpPr>
        <p:spPr>
          <a:xfrm>
            <a:off x="567000" y="631080"/>
            <a:ext cx="11057400" cy="3506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00" spc="-1" strike="noStrike">
                <a:solidFill>
                  <a:srgbClr val="0f172a"/>
                </a:solidFill>
                <a:latin typeface="Calibri"/>
              </a:rPr>
              <a:t>Guardrails, business model, and what comes next</a:t>
            </a:r>
            <a:endParaRPr b="0" lang="en-US" sz="2300" spc="-1" strike="noStrike">
              <a:solidFill>
                <a:srgbClr val="000000"/>
              </a:solidFill>
              <a:latin typeface="Arial"/>
            </a:endParaRPr>
          </a:p>
        </p:txBody>
      </p:sp>
      <p:sp>
        <p:nvSpPr>
          <p:cNvPr id="367" name="Rectangle 3"/>
          <p:cNvSpPr/>
          <p:nvPr/>
        </p:nvSpPr>
        <p:spPr>
          <a:xfrm>
            <a:off x="567000" y="1161360"/>
            <a:ext cx="1234080" cy="500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68" name="Rectangle 4"/>
          <p:cNvSpPr/>
          <p:nvPr/>
        </p:nvSpPr>
        <p:spPr>
          <a:xfrm>
            <a:off x="1801440" y="1161360"/>
            <a:ext cx="273960" cy="5004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69" name="TextBox 5"/>
          <p:cNvSpPr/>
          <p:nvPr/>
        </p:nvSpPr>
        <p:spPr>
          <a:xfrm>
            <a:off x="567000" y="6391800"/>
            <a:ext cx="862488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64748b"/>
                </a:solidFill>
                <a:latin typeface="Calibri"/>
              </a:rPr>
              <a:t>imp/Phase21-agent-memory.md §7/§8/§13 · Features/19-Tiers-And-Payments.md · SUPERADMIN-PORTAL.md · pending.md</a:t>
            </a:r>
            <a:endParaRPr b="0" lang="en-US" sz="900" spc="-1" strike="noStrike">
              <a:solidFill>
                <a:srgbClr val="000000"/>
              </a:solidFill>
              <a:latin typeface="Arial"/>
            </a:endParaRPr>
          </a:p>
        </p:txBody>
      </p:sp>
      <p:sp>
        <p:nvSpPr>
          <p:cNvPr id="370" name="TextBox 6"/>
          <p:cNvSpPr/>
          <p:nvPr/>
        </p:nvSpPr>
        <p:spPr>
          <a:xfrm>
            <a:off x="10436040" y="6391800"/>
            <a:ext cx="118836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64748b"/>
                </a:solidFill>
                <a:latin typeface="Calibri"/>
              </a:rPr>
              <a:t>20 / 20</a:t>
            </a:r>
            <a:endParaRPr b="0" lang="en-US" sz="900" spc="-1" strike="noStrike">
              <a:solidFill>
                <a:srgbClr val="000000"/>
              </a:solidFill>
              <a:latin typeface="Arial"/>
            </a:endParaRPr>
          </a:p>
        </p:txBody>
      </p:sp>
      <p:sp>
        <p:nvSpPr>
          <p:cNvPr id="371" name="Rounded Rectangle 7"/>
          <p:cNvSpPr/>
          <p:nvPr/>
        </p:nvSpPr>
        <p:spPr>
          <a:xfrm>
            <a:off x="567000" y="1298520"/>
            <a:ext cx="3563640" cy="39772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Three guard layers — none optional</a:t>
            </a:r>
            <a:endParaRPr b="0" lang="en-US" sz="120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1 · Extraction-time hunk filter: any diff hunk containing a numeric token, currency symbol, percentage, ISO date or indicator code is dropped before it reaches any extractor, deterministic or LLM-assisted.</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2 · Entity invariant: a statement matching the same numeric-atom pattern cannot be constructed at all, so a misbehaving extractor cannot persist a figure as "style".</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3 · Human approval gate: nothing reaches ACTIVE — and therefore sectionGuidance — without an explicit approval by a holder of reporting.manage-agent-memory, revocable at any time.</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The test matrix exercises each layer independently: disabling one must still be caught by the next.</a:t>
            </a:r>
            <a:endParaRPr b="0" lang="en-US" sz="860" spc="-1" strike="noStrike">
              <a:solidFill>
                <a:srgbClr val="000000"/>
              </a:solidFill>
              <a:latin typeface="Arial"/>
            </a:endParaRPr>
          </a:p>
        </p:txBody>
      </p:sp>
      <p:sp>
        <p:nvSpPr>
          <p:cNvPr id="372" name="Rounded Rectangle 8"/>
          <p:cNvSpPr/>
          <p:nvPr/>
        </p:nvSpPr>
        <p:spPr>
          <a:xfrm>
            <a:off x="567000" y="1298520"/>
            <a:ext cx="50040" cy="3977280"/>
          </a:xfrm>
          <a:prstGeom prst="roundRect">
            <a:avLst>
              <a:gd name="adj" fmla="val 30000"/>
            </a:avLst>
          </a:prstGeom>
          <a:solidFill>
            <a:srgbClr val="d9770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3" name="Rounded Rectangle 9"/>
          <p:cNvSpPr/>
          <p:nvPr/>
        </p:nvSpPr>
        <p:spPr>
          <a:xfrm>
            <a:off x="4313880" y="1298520"/>
            <a:ext cx="3563640" cy="39772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Non-goals — what it deliberately never learns</a:t>
            </a:r>
            <a:endParaRPr b="0" lang="en-US" sz="120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No memory of facts, figures, targets, dates or donor commitments. No conversational memory. No cross-tenant learning or shared pattern library. No automatic, unapproved behaviour change.</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No general-purpose memory framework as a runtime dependency: Mem0, Letta, Cognee and Graphiti were researched and rejected; LangMem's extraction shape and DSPy's optimisation role are reused as techniques, not libraries.</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Two flags with an AND relationship — AGENT_MEMORY_ENABLED (platform) × Organization.agentMemoryEnabled (tenant, self-service). Off on either side means byte-identical output, and disabling needs no migration.</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DSPy-style writer-contract optimisation is a separate, offline-only follow-up that never touches Agent Memory rows.</a:t>
            </a:r>
            <a:endParaRPr b="0" lang="en-US" sz="860" spc="-1" strike="noStrike">
              <a:solidFill>
                <a:srgbClr val="000000"/>
              </a:solidFill>
              <a:latin typeface="Arial"/>
            </a:endParaRPr>
          </a:p>
        </p:txBody>
      </p:sp>
      <p:sp>
        <p:nvSpPr>
          <p:cNvPr id="374" name="Rounded Rectangle 10"/>
          <p:cNvSpPr/>
          <p:nvPr/>
        </p:nvSpPr>
        <p:spPr>
          <a:xfrm>
            <a:off x="4313880" y="1298520"/>
            <a:ext cx="50040" cy="3977280"/>
          </a:xfrm>
          <a:prstGeom prst="roundRect">
            <a:avLst>
              <a:gd name="adj" fmla="val 30000"/>
            </a:avLst>
          </a:prstGeom>
          <a:solidFill>
            <a:srgbClr val="7c3ae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5" name="Rounded Rectangle 11"/>
          <p:cNvSpPr/>
          <p:nvPr/>
        </p:nvSpPr>
        <p:spPr>
          <a:xfrm>
            <a:off x="8060760" y="1298520"/>
            <a:ext cx="3563640" cy="3977280"/>
          </a:xfrm>
          <a:prstGeom prst="roundRect">
            <a:avLst>
              <a:gd name="adj" fmla="val 6000"/>
            </a:avLst>
          </a:prstGeom>
          <a:solidFill>
            <a:srgbClr val="f1f5f9"/>
          </a:solidFill>
          <a:ln w="12700">
            <a:solidFill>
              <a:srgbClr val="e2e8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28160" tIns="109800" bIns="91440" anchor="t">
            <a:noAutofit/>
          </a:bodyPr>
          <a:p>
            <a:pPr defTabSz="457200">
              <a:lnSpc>
                <a:spcPct val="95000"/>
              </a:lnSpc>
              <a:spcAft>
                <a:spcPts val="400"/>
              </a:spcAft>
            </a:pPr>
            <a:r>
              <a:rPr b="1" lang="en-US" sz="1200" spc="-1" strike="noStrike">
                <a:solidFill>
                  <a:srgbClr val="0f172a"/>
                </a:solidFill>
                <a:latin typeface="Calibri"/>
              </a:rPr>
              <a:t>Commercial model, control plane and next steps</a:t>
            </a:r>
            <a:endParaRPr b="0" lang="en-US" sz="120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Tiers: Starter free (1 project · 1 user · 1 GB · 5 AI drafts/month), Team $59 (5 · 5 · 25 GB · 100), Growth $149 (20 · 15 · 100 GB · 500), Enterprise custom; annual billing gives two months free.</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AI-credit quotas are enforced per tier; the stub fallback is free and never billed; a tenant's own LLM provider consumes no DonorDesk credits. Billing runs through Creem as merchant of record with HMAC-verified webhooks and reconciliation handlers behind /internal/billing/*.</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SuperAdmin control plane at sa.donordesk.online: a separate PlatformAdmin identity store, provider catalogue, tier and credit management, and its own hash-chained audit stream.</a:t>
            </a:r>
            <a:endParaRPr b="0" lang="en-US" sz="860" spc="-1" strike="noStrike">
              <a:solidFill>
                <a:srgbClr val="000000"/>
              </a:solidFill>
              <a:latin typeface="Arial"/>
            </a:endParaRPr>
          </a:p>
          <a:p>
            <a:pPr defTabSz="457200">
              <a:lnSpc>
                <a:spcPct val="102000"/>
              </a:lnSpc>
              <a:spcAft>
                <a:spcPts val="300"/>
              </a:spcAft>
            </a:pPr>
            <a:r>
              <a:rPr b="0" lang="en-US" sz="860" spc="-1" strike="noStrike">
                <a:solidFill>
                  <a:srgbClr val="334155"/>
                </a:solidFill>
                <a:latin typeface="Calibri"/>
              </a:rPr>
              <a:t>Next: merge branch 0009-agent-memory to master; Agent Memory Phase 4 (cross-tenant DB tests, live before/after golden-corpus run); confirm the deadline_reminders Kestra flow is genuinely scheduled; enable Postmark for real email; retire the classic editor components after one release; add axe-core and report-editor e2e specs.</a:t>
            </a:r>
            <a:endParaRPr b="0" lang="en-US" sz="860" spc="-1" strike="noStrike">
              <a:solidFill>
                <a:srgbClr val="000000"/>
              </a:solidFill>
              <a:latin typeface="Arial"/>
            </a:endParaRPr>
          </a:p>
        </p:txBody>
      </p:sp>
      <p:sp>
        <p:nvSpPr>
          <p:cNvPr id="376" name="Rounded Rectangle 12"/>
          <p:cNvSpPr/>
          <p:nvPr/>
        </p:nvSpPr>
        <p:spPr>
          <a:xfrm>
            <a:off x="8060760" y="1298520"/>
            <a:ext cx="50040" cy="3977280"/>
          </a:xfrm>
          <a:prstGeom prst="roundRect">
            <a:avLst>
              <a:gd name="adj" fmla="val 30000"/>
            </a:avLst>
          </a:prstGeom>
          <a:solidFill>
            <a:srgbClr val="05966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7" name="Rounded Rectangle 13"/>
          <p:cNvSpPr/>
          <p:nvPr/>
        </p:nvSpPr>
        <p:spPr>
          <a:xfrm>
            <a:off x="567000" y="5431680"/>
            <a:ext cx="11057400" cy="749520"/>
          </a:xfrm>
          <a:prstGeom prst="roundRect">
            <a:avLst>
              <a:gd name="adj" fmla="val 10000"/>
            </a:avLst>
          </a:prstGeom>
          <a:solidFill>
            <a:srgbClr val="0b122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28160" rIns="128160" tIns="64080" bIns="64080" anchor="ctr">
            <a:noAutofit/>
          </a:bodyPr>
          <a:p>
            <a:pPr defTabSz="457200">
              <a:lnSpc>
                <a:spcPct val="100000"/>
              </a:lnSpc>
              <a:spcAft>
                <a:spcPts val="201"/>
              </a:spcAft>
            </a:pPr>
            <a:r>
              <a:rPr b="1" lang="en-US" sz="1300" spc="-1" strike="noStrike">
                <a:solidFill>
                  <a:srgbClr val="ffffff"/>
                </a:solidFill>
                <a:latin typeface="Calibri"/>
              </a:rPr>
              <a:t>From messy field evidence to donor-ready reports — with a human on the approve button, and every number traceable.</a:t>
            </a:r>
            <a:endParaRPr b="0" lang="en-US" sz="1300" spc="-1" strike="noStrike">
              <a:solidFill>
                <a:srgbClr val="ffffff"/>
              </a:solidFill>
              <a:latin typeface="Arial"/>
            </a:endParaRPr>
          </a:p>
          <a:p>
            <a:pPr defTabSz="457200">
              <a:lnSpc>
                <a:spcPct val="100000"/>
              </a:lnSpc>
            </a:pPr>
            <a:r>
              <a:rPr b="0" lang="en-US" sz="950" spc="-1" strike="noStrike">
                <a:solidFill>
                  <a:srgbClr val="94a3b8"/>
                </a:solidFill>
                <a:latin typeface="Calibri"/>
              </a:rPr>
              <a:t>DonorDesk Version 2.0 · Agent Memory  |  Questions?  Deeper detail lives in memorybank/ (INDEX.md is the map).</a:t>
            </a:r>
            <a:endParaRPr b="0" lang="en-US" sz="950" spc="-1" strike="noStrike">
              <a:solidFill>
                <a:srgbClr val="ffffff"/>
              </a:solidFill>
              <a:latin typeface="Arial"/>
            </a:endParaRPr>
          </a:p>
        </p:txBody>
      </p:sp>
      <p:sp>
        <p:nvSpPr>
          <p:cNvPr id="378" name="Rectangle 14"/>
          <p:cNvSpPr/>
          <p:nvPr/>
        </p:nvSpPr>
        <p:spPr>
          <a:xfrm>
            <a:off x="567000" y="5431680"/>
            <a:ext cx="72720" cy="74952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Mohammad Najeeb</cp:lastModifiedBy>
  <dcterms:modified xsi:type="dcterms:W3CDTF">2026-09-28T17:34:01Z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
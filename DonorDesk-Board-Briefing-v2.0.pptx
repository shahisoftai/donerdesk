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6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8B01C7D-89FD-4C09-AE0C-FC6A7C7DB68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791949D-4DD6-4DAE-A7CA-B360067A5B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8D4A112D-F970-4836-BC9C-A86151616AB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E36E0079-943F-41E9-B4A1-83A1BEBD200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CCA290F2-4F08-4D3A-B87A-AC050F5A17B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F832202-D85D-4687-9C88-CCC8A796F1A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03762298-E26B-4A43-8557-C4E10648C6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1F045FE2-EA6F-4AB8-A3A4-A352A70C4F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AB390C0F-D938-41FB-A2FD-7E36CE4637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83C49390-9401-43D8-83D8-849ABADCEA6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D0907F82-1DAA-4D34-A24F-1CC9CF361C3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33C76E3-454B-44CB-9EE6-6190E9AAD94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236F362-BE50-4DA4-895A-57E49C1DDFE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E0BD831-059A-40A9-BA3B-8843226543A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5177858-EDD1-4E6B-9F6C-497CEC978E3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B78DB38-9315-47E3-92DE-51DAC40F72A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969D131-D0E9-480F-BBE7-EABABD38BE6C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51F8943-836F-4282-A58A-8027D52CE46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6979F4A-FA3F-4D36-8638-806853A9540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EBC5FA3-E916-47B9-8DD2-BCD6D95A3D4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55EC49E-4FFE-4B3E-85D0-D0C4EDF23C4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78C8D3D-14C8-4ACF-BF79-30C34440727B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1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Oval 2"/>
          <p:cNvSpPr/>
          <p:nvPr/>
        </p:nvSpPr>
        <p:spPr>
          <a:xfrm>
            <a:off x="7406640" y="-2011680"/>
            <a:ext cx="7131600" cy="713160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3" name="Oval 3"/>
          <p:cNvSpPr/>
          <p:nvPr/>
        </p:nvSpPr>
        <p:spPr>
          <a:xfrm>
            <a:off x="8961120" y="2743200"/>
            <a:ext cx="5851440" cy="585144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4" name="Oval 4"/>
          <p:cNvSpPr/>
          <p:nvPr/>
        </p:nvSpPr>
        <p:spPr>
          <a:xfrm>
            <a:off x="-2560320" y="3291840"/>
            <a:ext cx="6034320" cy="603432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5" name="TextBox 5"/>
          <p:cNvSpPr/>
          <p:nvPr/>
        </p:nvSpPr>
        <p:spPr>
          <a:xfrm>
            <a:off x="567000" y="1115640"/>
            <a:ext cx="7680240" cy="15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50" spc="-1" strike="noStrike">
                <a:solidFill>
                  <a:srgbClr val="22d3ee"/>
                </a:solidFill>
                <a:latin typeface="Calibri"/>
              </a:rPr>
              <a:t>BOARD BRIEFING  ·  VERSION 2.0  ·  SEPTEMBER 2026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Box 6"/>
          <p:cNvSpPr/>
          <p:nvPr/>
        </p:nvSpPr>
        <p:spPr>
          <a:xfrm>
            <a:off x="567000" y="1444680"/>
            <a:ext cx="7680240" cy="7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600" spc="-1" strike="noStrike">
                <a:solidFill>
                  <a:srgbClr val="ffffff"/>
                </a:solidFill>
                <a:latin typeface="Calibri"/>
              </a:rPr>
              <a:t>DonorDesk</a:t>
            </a:r>
            <a:endParaRPr b="0" lang="en-US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Rectangle 7"/>
          <p:cNvSpPr/>
          <p:nvPr/>
        </p:nvSpPr>
        <p:spPr>
          <a:xfrm>
            <a:off x="567000" y="2212920"/>
            <a:ext cx="1370880" cy="54000"/>
          </a:xfrm>
          <a:prstGeom prst="rect">
            <a:avLst/>
          </a:prstGeom>
          <a:gradFill rotWithShape="0">
            <a:gsLst>
              <a:gs pos="0">
                <a:srgbClr val="7cc7fb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8" name="Rectangle 8"/>
          <p:cNvSpPr/>
          <p:nvPr/>
        </p:nvSpPr>
        <p:spPr>
          <a:xfrm>
            <a:off x="1938600" y="2212920"/>
            <a:ext cx="310320" cy="5400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9" name="TextBox 9"/>
          <p:cNvSpPr/>
          <p:nvPr/>
        </p:nvSpPr>
        <p:spPr>
          <a:xfrm>
            <a:off x="567000" y="2414160"/>
            <a:ext cx="7314480" cy="32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100" spc="-1" strike="noStrike">
                <a:solidFill>
                  <a:srgbClr val="7cc7fb"/>
                </a:solidFill>
                <a:latin typeface="Calibri"/>
              </a:rPr>
              <a:t>Evidence intelligence for funded programmes.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TextBox 10"/>
          <p:cNvSpPr/>
          <p:nvPr/>
        </p:nvSpPr>
        <p:spPr>
          <a:xfrm>
            <a:off x="567000" y="2962800"/>
            <a:ext cx="7223040" cy="22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e2e8f0"/>
                </a:solidFill>
                <a:latin typeface="Calibri"/>
              </a:rPr>
              <a:t>From scattered field evidence to donor-ready reports.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TextBox 11"/>
          <p:cNvSpPr/>
          <p:nvPr/>
        </p:nvSpPr>
        <p:spPr>
          <a:xfrm>
            <a:off x="567000" y="3456360"/>
            <a:ext cx="7040160" cy="64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8000"/>
              </a:lnSpc>
            </a:pPr>
            <a:r>
              <a:rPr b="0" lang="en-US" sz="1200" spc="-1" strike="noStrike">
                <a:solidFill>
                  <a:srgbClr val="94a3b8"/>
                </a:solidFill>
                <a:latin typeface="Calibri"/>
              </a:rPr>
              <a:t>DonorDesk helps humanitarian, development and other grant-funded programmes turn activity records, indicator results and supporting evidence into professional, audit-ready reports — with source-linked AI drafting, automatic compliance checks and human approval.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Rounded Rectangle 12"/>
          <p:cNvSpPr/>
          <p:nvPr/>
        </p:nvSpPr>
        <p:spPr>
          <a:xfrm>
            <a:off x="567000" y="4617720"/>
            <a:ext cx="1677240" cy="365040"/>
          </a:xfrm>
          <a:prstGeom prst="roundRect">
            <a:avLst>
              <a:gd name="adj" fmla="val 45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836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2d3ee"/>
                </a:solidFill>
                <a:latin typeface="Calibri"/>
              </a:rPr>
              <a:t>Human-reviewed AI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Rounded Rectangle 13"/>
          <p:cNvSpPr/>
          <p:nvPr/>
        </p:nvSpPr>
        <p:spPr>
          <a:xfrm>
            <a:off x="2354760" y="4617720"/>
            <a:ext cx="1677240" cy="365040"/>
          </a:xfrm>
          <a:prstGeom prst="roundRect">
            <a:avLst>
              <a:gd name="adj" fmla="val 45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836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2d3ee"/>
                </a:solidFill>
                <a:latin typeface="Calibri"/>
              </a:rPr>
              <a:t>Source-linked drafting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Rounded Rectangle 14"/>
          <p:cNvSpPr/>
          <p:nvPr/>
        </p:nvSpPr>
        <p:spPr>
          <a:xfrm>
            <a:off x="4142160" y="4617720"/>
            <a:ext cx="1677240" cy="365040"/>
          </a:xfrm>
          <a:prstGeom prst="roundRect">
            <a:avLst>
              <a:gd name="adj" fmla="val 45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836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2d3ee"/>
                </a:solidFill>
                <a:latin typeface="Calibri"/>
              </a:rPr>
              <a:t>Live readiness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Rounded Rectangle 15"/>
          <p:cNvSpPr/>
          <p:nvPr/>
        </p:nvSpPr>
        <p:spPr>
          <a:xfrm>
            <a:off x="5929920" y="4617720"/>
            <a:ext cx="1677240" cy="365040"/>
          </a:xfrm>
          <a:prstGeom prst="roundRect">
            <a:avLst>
              <a:gd name="adj" fmla="val 45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8360" bIns="1836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22d3ee"/>
                </a:solidFill>
                <a:latin typeface="Calibri"/>
              </a:rPr>
              <a:t>Audit-ready exports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Rounded Rectangle 16"/>
          <p:cNvSpPr/>
          <p:nvPr/>
        </p:nvSpPr>
        <p:spPr>
          <a:xfrm>
            <a:off x="7918560" y="1444680"/>
            <a:ext cx="3702600" cy="3538080"/>
          </a:xfrm>
          <a:prstGeom prst="roundRect">
            <a:avLst>
              <a:gd name="adj" fmla="val 5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64520" tIns="164520" bIns="91440" anchor="t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Emergency Response — Health Programme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0" lang="en-US" sz="900" spc="-1" strike="noStrike">
                <a:solidFill>
                  <a:srgbClr val="94a3b8"/>
                </a:solidFill>
                <a:latin typeface="Calibri"/>
              </a:rPr>
              <a:t>Report readiness · Q3 2026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601"/>
              </a:spcAft>
            </a:pPr>
            <a:r>
              <a:rPr b="1" lang="en-US" sz="2200" spc="-1" strike="noStrike">
                <a:solidFill>
                  <a:srgbClr val="22d3ee"/>
                </a:solidFill>
                <a:latin typeface="Calibri"/>
              </a:rPr>
              <a:t>92% ready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Rectangle 17"/>
          <p:cNvSpPr/>
          <p:nvPr/>
        </p:nvSpPr>
        <p:spPr>
          <a:xfrm>
            <a:off x="7918560" y="1444680"/>
            <a:ext cx="3702600" cy="5400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ounded Rectangle 18"/>
          <p:cNvSpPr/>
          <p:nvPr/>
        </p:nvSpPr>
        <p:spPr>
          <a:xfrm>
            <a:off x="8101440" y="2651760"/>
            <a:ext cx="3336840" cy="182160"/>
          </a:xfrm>
          <a:prstGeom prst="roundRect">
            <a:avLst>
              <a:gd name="adj" fmla="val 45000"/>
            </a:avLst>
          </a:prstGeom>
          <a:solidFill>
            <a:srgbClr val="ffffff">
              <a:alpha val="12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Rounded Rectangle 19"/>
          <p:cNvSpPr/>
          <p:nvPr/>
        </p:nvSpPr>
        <p:spPr>
          <a:xfrm>
            <a:off x="8101440" y="2651760"/>
            <a:ext cx="3069720" cy="182160"/>
          </a:xfrm>
          <a:prstGeom prst="roundRect">
            <a:avLst>
              <a:gd name="adj" fmla="val 45000"/>
            </a:avLst>
          </a:prstGeom>
          <a:gradFill rotWithShape="0">
            <a:gsLst>
              <a:gs pos="0">
                <a:srgbClr val="0c8de6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0" name="TextBox 20"/>
          <p:cNvSpPr/>
          <p:nvPr/>
        </p:nvSpPr>
        <p:spPr>
          <a:xfrm>
            <a:off x="8101440" y="2670120"/>
            <a:ext cx="306972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92% ready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21"/>
          <p:cNvSpPr/>
          <p:nvPr/>
        </p:nvSpPr>
        <p:spPr>
          <a:xfrm>
            <a:off x="8101440" y="3017520"/>
            <a:ext cx="333684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Evidence verified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   128 / 132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Indicators on track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   24 / 25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05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Activities logged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   61 / 64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b="1" lang="en-US" sz="1050" spc="-1" strike="noStrike">
                <a:solidFill>
                  <a:srgbClr val="fbbf24"/>
                </a:solidFill>
                <a:latin typeface="Calibri"/>
              </a:rPr>
              <a:t>▲  </a:t>
            </a:r>
            <a:r>
              <a:rPr b="0" lang="en-US" sz="1050" spc="-1" strike="noStrike">
                <a:solidFill>
                  <a:srgbClr val="cbd5e1"/>
                </a:solidFill>
                <a:latin typeface="Calibri"/>
              </a:rPr>
              <a:t>Indicators awaiting verification</a:t>
            </a: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   2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22"/>
          <p:cNvSpPr/>
          <p:nvPr/>
        </p:nvSpPr>
        <p:spPr>
          <a:xfrm>
            <a:off x="8101440" y="4599360"/>
            <a:ext cx="333684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Illustrative view, as published on donordesk.online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23"/>
          <p:cNvSpPr/>
          <p:nvPr/>
        </p:nvSpPr>
        <p:spPr>
          <a:xfrm>
            <a:off x="567000" y="5742360"/>
            <a:ext cx="5485680" cy="18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22d3ee"/>
                </a:solidFill>
                <a:latin typeface="Calibri"/>
              </a:rPr>
              <a:t>donordesk.online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24"/>
          <p:cNvSpPr/>
          <p:nvPr/>
        </p:nvSpPr>
        <p:spPr>
          <a:xfrm>
            <a:off x="7052760" y="5742360"/>
            <a:ext cx="4571280" cy="15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4a3b8"/>
                </a:solidFill>
                <a:latin typeface="Calibri"/>
              </a:rPr>
              <a:t>Prepared for board review · 2026-09-28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9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EXECUTIVE SUMMARY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Where we are, in one page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Box 6"/>
          <p:cNvSpPr/>
          <p:nvPr/>
        </p:nvSpPr>
        <p:spPr>
          <a:xfrm>
            <a:off x="567000" y="1005840"/>
            <a:ext cx="973008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DonorDesk turns programme delivery records and field evidence into donor-ready reports — with the figures owned by the system, a source behind every claim, and a human on the approve button.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4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2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Rounded Rectangle 11"/>
          <p:cNvSpPr/>
          <p:nvPr/>
        </p:nvSpPr>
        <p:spPr>
          <a:xfrm>
            <a:off x="567000" y="1682640"/>
            <a:ext cx="2640240" cy="1224720"/>
          </a:xfrm>
          <a:prstGeom prst="roundRect">
            <a:avLst>
              <a:gd name="adj" fmla="val 7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720" bIns="54720" anchor="ctr">
            <a:noAutofit/>
          </a:bodyPr>
          <a:p>
            <a:pPr algn="ctr" defTabSz="457200">
              <a:lnSpc>
                <a:spcPct val="95000"/>
              </a:lnSpc>
              <a:spcAft>
                <a:spcPts val="201"/>
              </a:spcAft>
            </a:pPr>
            <a:r>
              <a:rPr b="1" lang="en-US" sz="2600" spc="-1" strike="noStrike">
                <a:solidFill>
                  <a:srgbClr val="36a8f6"/>
                </a:solidFill>
                <a:latin typeface="Calibri"/>
              </a:rPr>
              <a:t>21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2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</a:rPr>
              <a:t>product features delivered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Features 01–21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Rounded Rectangle 12"/>
          <p:cNvSpPr/>
          <p:nvPr/>
        </p:nvSpPr>
        <p:spPr>
          <a:xfrm>
            <a:off x="567000" y="1682640"/>
            <a:ext cx="2640240" cy="58680"/>
          </a:xfrm>
          <a:prstGeom prst="roundRect">
            <a:avLst>
              <a:gd name="adj" fmla="val 35000"/>
            </a:avLst>
          </a:prstGeom>
          <a:gradFill rotWithShape="0">
            <a:gsLst>
              <a:gs pos="0">
                <a:srgbClr val="36a8f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520" bIns="2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8" name="Rounded Rectangle 13"/>
          <p:cNvSpPr/>
          <p:nvPr/>
        </p:nvSpPr>
        <p:spPr>
          <a:xfrm>
            <a:off x="3372480" y="1682640"/>
            <a:ext cx="2640240" cy="1224720"/>
          </a:xfrm>
          <a:prstGeom prst="roundRect">
            <a:avLst>
              <a:gd name="adj" fmla="val 7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720" bIns="54720" anchor="ctr">
            <a:noAutofit/>
          </a:bodyPr>
          <a:p>
            <a:pPr algn="ctr" defTabSz="457200">
              <a:lnSpc>
                <a:spcPct val="95000"/>
              </a:lnSpc>
              <a:spcAft>
                <a:spcPts val="201"/>
              </a:spcAft>
            </a:pPr>
            <a:r>
              <a:rPr b="1" lang="en-US" sz="2600" spc="-1" strike="noStrike">
                <a:solidFill>
                  <a:srgbClr val="34d399"/>
                </a:solidFill>
                <a:latin typeface="Calibri"/>
              </a:rPr>
              <a:t>Live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2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</a:rPr>
              <a:t>in production today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donordesk.online · HTTPS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Rounded Rectangle 14"/>
          <p:cNvSpPr/>
          <p:nvPr/>
        </p:nvSpPr>
        <p:spPr>
          <a:xfrm>
            <a:off x="3372480" y="1682640"/>
            <a:ext cx="2640240" cy="58680"/>
          </a:xfrm>
          <a:prstGeom prst="roundRect">
            <a:avLst>
              <a:gd name="adj" fmla="val 35000"/>
            </a:avLst>
          </a:prstGeom>
          <a:gradFill rotWithShape="0">
            <a:gsLst>
              <a:gs pos="0">
                <a:srgbClr val="34d399"/>
              </a:gs>
              <a:gs pos="100000">
                <a:srgbClr val="6ee7b7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520" bIns="2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Rounded Rectangle 15"/>
          <p:cNvSpPr/>
          <p:nvPr/>
        </p:nvSpPr>
        <p:spPr>
          <a:xfrm>
            <a:off x="6178320" y="1682640"/>
            <a:ext cx="2640240" cy="1224720"/>
          </a:xfrm>
          <a:prstGeom prst="roundRect">
            <a:avLst>
              <a:gd name="adj" fmla="val 7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720" bIns="54720" anchor="ctr">
            <a:noAutofit/>
          </a:bodyPr>
          <a:p>
            <a:pPr algn="ctr" defTabSz="457200">
              <a:lnSpc>
                <a:spcPct val="95000"/>
              </a:lnSpc>
              <a:spcAft>
                <a:spcPts val="201"/>
              </a:spcAft>
            </a:pPr>
            <a:r>
              <a:rPr b="1" lang="en-US" sz="2600" spc="-1" strike="noStrike">
                <a:solidFill>
                  <a:srgbClr val="36a8f6"/>
                </a:solidFill>
                <a:latin typeface="Calibri"/>
              </a:rPr>
              <a:t>25 / 25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2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</a:rPr>
              <a:t>report-quality acceptance corpus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every hard gate green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ounded Rectangle 16"/>
          <p:cNvSpPr/>
          <p:nvPr/>
        </p:nvSpPr>
        <p:spPr>
          <a:xfrm>
            <a:off x="6178320" y="1682640"/>
            <a:ext cx="2640240" cy="58680"/>
          </a:xfrm>
          <a:prstGeom prst="roundRect">
            <a:avLst>
              <a:gd name="adj" fmla="val 35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520" bIns="2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ounded Rectangle 17"/>
          <p:cNvSpPr/>
          <p:nvPr/>
        </p:nvSpPr>
        <p:spPr>
          <a:xfrm>
            <a:off x="8983800" y="1682640"/>
            <a:ext cx="2640240" cy="1224720"/>
          </a:xfrm>
          <a:prstGeom prst="roundRect">
            <a:avLst>
              <a:gd name="adj" fmla="val 7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720" bIns="54720" anchor="ctr">
            <a:noAutofit/>
          </a:bodyPr>
          <a:p>
            <a:pPr algn="ctr" defTabSz="457200">
              <a:lnSpc>
                <a:spcPct val="95000"/>
              </a:lnSpc>
              <a:spcAft>
                <a:spcPts val="201"/>
              </a:spcAft>
            </a:pPr>
            <a:r>
              <a:rPr b="1" lang="en-US" sz="2600" spc="-1" strike="noStrike">
                <a:solidFill>
                  <a:srgbClr val="a78bfa"/>
                </a:solidFill>
                <a:latin typeface="Calibri"/>
              </a:rPr>
              <a:t>$0–$149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2000"/>
              </a:lnSpc>
              <a:spcAft>
                <a:spcPts val="99"/>
              </a:spcAft>
            </a:pPr>
            <a:r>
              <a:rPr b="0" lang="en-US" sz="1000" spc="-1" strike="noStrike">
                <a:solidFill>
                  <a:srgbClr val="cbd5e1"/>
                </a:solidFill>
                <a:latin typeface="Calibri"/>
              </a:rPr>
              <a:t>published monthly pricing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plus Enterprise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Rounded Rectangle 18"/>
          <p:cNvSpPr/>
          <p:nvPr/>
        </p:nvSpPr>
        <p:spPr>
          <a:xfrm>
            <a:off x="8983800" y="1682640"/>
            <a:ext cx="2640240" cy="58680"/>
          </a:xfrm>
          <a:prstGeom prst="roundRect">
            <a:avLst>
              <a:gd name="adj" fmla="val 35000"/>
            </a:avLst>
          </a:prstGeom>
          <a:gradFill rotWithShape="0">
            <a:gsLst>
              <a:gs pos="0">
                <a:srgbClr val="a78bfa"/>
              </a:gs>
              <a:gs pos="100000">
                <a:srgbClr val="c4b5fd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520" bIns="25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Rounded Rectangle 19"/>
          <p:cNvSpPr/>
          <p:nvPr/>
        </p:nvSpPr>
        <p:spPr>
          <a:xfrm>
            <a:off x="567000" y="3108960"/>
            <a:ext cx="5427720" cy="21391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What the product does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Build the reporting structure once — logframe, indicators, donor template, compliance requirements.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Capture activities, results and evidence as delivery happens.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Draft, check, review and export every reporting period from those records.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ounded Rectangle 20"/>
          <p:cNvSpPr/>
          <p:nvPr/>
        </p:nvSpPr>
        <p:spPr>
          <a:xfrm>
            <a:off x="567000" y="3108960"/>
            <a:ext cx="542772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Rounded Rectangle 21"/>
          <p:cNvSpPr/>
          <p:nvPr/>
        </p:nvSpPr>
        <p:spPr>
          <a:xfrm>
            <a:off x="6196320" y="3108960"/>
            <a:ext cx="5427720" cy="21391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What the platform guarantees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Every number comes from verified programme records — the model writes prose, the system owns the figures.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Every AI output is reviewable: model, prompt version and sources are stored with it.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Tenant isolation is enforced in the database, and every change is audited.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ounded Rectangle 22"/>
          <p:cNvSpPr/>
          <p:nvPr/>
        </p:nvSpPr>
        <p:spPr>
          <a:xfrm>
            <a:off x="6196320" y="3108960"/>
            <a:ext cx="542772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ounded Rectangle 23"/>
          <p:cNvSpPr/>
          <p:nvPr/>
        </p:nvSpPr>
        <p:spPr>
          <a:xfrm>
            <a:off x="567000" y="5577840"/>
            <a:ext cx="11057040" cy="45648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Board decisions requested today:  </a:t>
            </a:r>
            <a:r>
              <a:rPr b="1" lang="en-US" sz="1050" spc="-1" strike="noStrike">
                <a:solidFill>
                  <a:srgbClr val="22d3ee"/>
                </a:solidFill>
                <a:latin typeface="Calibri"/>
              </a:rPr>
              <a:t>approve launch pricing and the nonprofit policy, and back a 3–5 NGO pilot programme.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Rectangle 24"/>
          <p:cNvSpPr/>
          <p:nvPr/>
        </p:nvSpPr>
        <p:spPr>
          <a:xfrm>
            <a:off x="567000" y="5577840"/>
            <a:ext cx="63360" cy="4564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1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2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3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THE PROBLEM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Reporting is an essential part of every funded project.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6"/>
          <p:cNvSpPr/>
          <p:nvPr/>
        </p:nvSpPr>
        <p:spPr>
          <a:xfrm>
            <a:off x="567000" y="1005840"/>
            <a:ext cx="9730080" cy="38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The work gets done in the field. Proving it happens later, by hand — reassembling a period from WhatsApp threads, inboxes, spreadsheets and field folders while a donor deadline moves closer.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8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9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3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Rounded Rectangle 11"/>
          <p:cNvSpPr/>
          <p:nvPr/>
        </p:nvSpPr>
        <p:spPr>
          <a:xfrm>
            <a:off x="567000" y="1682640"/>
            <a:ext cx="3551040" cy="26143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f1f5f9"/>
                </a:solidFill>
                <a:latin typeface="Calibri"/>
              </a:rPr>
              <a:t>01  Evidence is scattered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6000"/>
              </a:lnSpc>
              <a:spcAft>
                <a:spcPts val="300"/>
              </a:spcAft>
              <a:buClr>
                <a:srgbClr val="cbd5e1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Attendance sheets, distribution lists, photos, approvals and field notes live in WhatsApp, email, personal drives and shared folders.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2000"/>
              </a:lnSpc>
              <a:spcAft>
                <a:spcPts val="201"/>
              </a:spcAft>
              <a:buClr>
                <a:srgbClr val="64748b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</a:rPr>
              <a:t>Nothing is linked to the activity, indicator or donor requirement it is meant to prove.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6000"/>
              </a:lnSpc>
              <a:spcAft>
                <a:spcPts val="300"/>
              </a:spcAft>
              <a:buClr>
                <a:srgbClr val="cbd5e1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The same attendance sheet gets emailed to three different people.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Rounded Rectangle 12"/>
          <p:cNvSpPr/>
          <p:nvPr/>
        </p:nvSpPr>
        <p:spPr>
          <a:xfrm>
            <a:off x="567000" y="1682640"/>
            <a:ext cx="49680" cy="261432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fbbf24"/>
              </a:gs>
              <a:gs pos="100000">
                <a:srgbClr val="fde68a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3" name="Rounded Rectangle 13"/>
          <p:cNvSpPr/>
          <p:nvPr/>
        </p:nvSpPr>
        <p:spPr>
          <a:xfrm>
            <a:off x="4320000" y="1682640"/>
            <a:ext cx="3551040" cy="26143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f1f5f9"/>
                </a:solidFill>
                <a:latin typeface="Calibri"/>
              </a:rPr>
              <a:t>02  Quality is invisible until deadline week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6000"/>
              </a:lnSpc>
              <a:spcAft>
                <a:spcPts val="300"/>
              </a:spcAft>
              <a:buClr>
                <a:srgbClr val="cbd5e1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Gaps surface during final assembly: an expired approval, an unexplained indicator movement, an annex nobody owns.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2000"/>
              </a:lnSpc>
              <a:spcAft>
                <a:spcPts val="201"/>
              </a:spcAft>
              <a:buClr>
                <a:srgbClr val="64748b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</a:rPr>
              <a:t>By then the only fixes available are late ones.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6000"/>
              </a:lnSpc>
              <a:spcAft>
                <a:spcPts val="300"/>
              </a:spcAft>
              <a:buClr>
                <a:srgbClr val="cbd5e1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Readiness cannot be seen until somebody assembles the document.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Rounded Rectangle 14"/>
          <p:cNvSpPr/>
          <p:nvPr/>
        </p:nvSpPr>
        <p:spPr>
          <a:xfrm>
            <a:off x="4320000" y="1682640"/>
            <a:ext cx="49680" cy="261432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f87171"/>
              </a:gs>
              <a:gs pos="100000">
                <a:srgbClr val="fca5a5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5" name="Rounded Rectangle 15"/>
          <p:cNvSpPr/>
          <p:nvPr/>
        </p:nvSpPr>
        <p:spPr>
          <a:xfrm>
            <a:off x="8073000" y="1682640"/>
            <a:ext cx="3551040" cy="26143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f1f5f9"/>
                </a:solidFill>
                <a:latin typeface="Calibri"/>
              </a:rPr>
              <a:t>03  Knowledge leaves when staff rotate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6000"/>
              </a:lnSpc>
              <a:spcAft>
                <a:spcPts val="300"/>
              </a:spcAft>
              <a:buClr>
                <a:srgbClr val="cbd5e1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Emergency and multi-donor programmes rotate teams every few months, so every cycle rebuilds the same story from scratch.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2000"/>
              </a:lnSpc>
              <a:spcAft>
                <a:spcPts val="201"/>
              </a:spcAft>
              <a:buClr>
                <a:srgbClr val="64748b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</a:rPr>
              <a:t>Institutional memory ends up as a folder nobody can navigate.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6000"/>
              </a:lnSpc>
              <a:spcAft>
                <a:spcPts val="300"/>
              </a:spcAft>
              <a:buClr>
                <a:srgbClr val="cbd5e1"/>
              </a:buClr>
              <a:buFont typeface="Wingdings" charset="2"/>
              <a:buChar char=""/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New staff start by asking where last period's files are.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ounded Rectangle 16"/>
          <p:cNvSpPr/>
          <p:nvPr/>
        </p:nvSpPr>
        <p:spPr>
          <a:xfrm>
            <a:off x="8073000" y="1682640"/>
            <a:ext cx="49680" cy="261432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Rounded Rectangle 17"/>
          <p:cNvSpPr/>
          <p:nvPr/>
        </p:nvSpPr>
        <p:spPr>
          <a:xfrm>
            <a:off x="567000" y="4462200"/>
            <a:ext cx="11057040" cy="657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37600" rIns="201240" tIns="45000" bIns="45000" anchor="ctr">
            <a:noAutofit/>
          </a:bodyPr>
          <a:p>
            <a:pPr defTabSz="457200">
              <a:lnSpc>
                <a:spcPct val="106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The work was done. Proving it happened took longer than doing it.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18"/>
          <p:cNvSpPr/>
          <p:nvPr/>
        </p:nvSpPr>
        <p:spPr>
          <a:xfrm>
            <a:off x="567000" y="4462200"/>
            <a:ext cx="63360" cy="65772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Rounded Rectangle 19"/>
          <p:cNvSpPr/>
          <p:nvPr/>
        </p:nvSpPr>
        <p:spPr>
          <a:xfrm>
            <a:off x="567000" y="5285160"/>
            <a:ext cx="11057040" cy="41976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What it costs:  </a:t>
            </a:r>
            <a:r>
              <a:rPr b="1" lang="en-US" sz="1050" spc="-1" strike="noStrike">
                <a:solidFill>
                  <a:srgbClr val="22d3ee"/>
                </a:solidFill>
                <a:latin typeface="Calibri"/>
              </a:rPr>
              <a:t>weeks of assembly every cycle · late annexes · audit exposure · donor confidence.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Rectangle 20"/>
          <p:cNvSpPr/>
          <p:nvPr/>
        </p:nvSpPr>
        <p:spPr>
          <a:xfrm>
            <a:off x="567000" y="5285160"/>
            <a:ext cx="63360" cy="41976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3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4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WHO IT IS FOR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Built first for humanitarian and development teams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567000" y="1005840"/>
            <a:ext cx="97300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Designed for any grant-funded programme that must prove results — multiple funders, multiple locations, one evidence trail.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4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Rounded Rectangle 11"/>
          <p:cNvSpPr/>
          <p:nvPr/>
        </p:nvSpPr>
        <p:spPr>
          <a:xfrm>
            <a:off x="567000" y="1682640"/>
            <a:ext cx="7003440" cy="71244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45000" bIns="45000" anchor="ctr">
            <a:no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Programme Manager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4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</a:rPr>
              <a:t>Sees delivery and gaps in one place instead of chasing updates before a deadline.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Rounded Rectangle 12"/>
          <p:cNvSpPr/>
          <p:nvPr/>
        </p:nvSpPr>
        <p:spPr>
          <a:xfrm>
            <a:off x="567000" y="1682640"/>
            <a:ext cx="49680" cy="71244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4" name="Rounded Rectangle 13"/>
          <p:cNvSpPr/>
          <p:nvPr/>
        </p:nvSpPr>
        <p:spPr>
          <a:xfrm>
            <a:off x="567000" y="2487240"/>
            <a:ext cx="7003440" cy="71244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45000" bIns="45000" anchor="ctr">
            <a:no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M&amp;E Officer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4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</a:rPr>
              <a:t>Indicators, results and evidence reconcile instead of living in a spreadsheet beside the narrative.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Rounded Rectangle 14"/>
          <p:cNvSpPr/>
          <p:nvPr/>
        </p:nvSpPr>
        <p:spPr>
          <a:xfrm>
            <a:off x="567000" y="2487240"/>
            <a:ext cx="49680" cy="71244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6" name="Rounded Rectangle 15"/>
          <p:cNvSpPr/>
          <p:nvPr/>
        </p:nvSpPr>
        <p:spPr>
          <a:xfrm>
            <a:off x="567000" y="3291840"/>
            <a:ext cx="7003440" cy="71244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45000" bIns="45000" anchor="ctr">
            <a:no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Grants &amp; Reporting Lead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4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</a:rPr>
              <a:t>Starts from a structure that already knows the funder's template and requirements.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Rounded Rectangle 16"/>
          <p:cNvSpPr/>
          <p:nvPr/>
        </p:nvSpPr>
        <p:spPr>
          <a:xfrm>
            <a:off x="567000" y="3291840"/>
            <a:ext cx="49680" cy="71244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6a8f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8" name="Rounded Rectangle 17"/>
          <p:cNvSpPr/>
          <p:nvPr/>
        </p:nvSpPr>
        <p:spPr>
          <a:xfrm>
            <a:off x="567000" y="4096440"/>
            <a:ext cx="7003440" cy="71244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45000" bIns="45000" anchor="ctr">
            <a:no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Compliance &amp; Audit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4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</a:rPr>
              <a:t>Every claim traces to a source, a version and an approval in the audit trail.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Rounded Rectangle 18"/>
          <p:cNvSpPr/>
          <p:nvPr/>
        </p:nvSpPr>
        <p:spPr>
          <a:xfrm>
            <a:off x="567000" y="4096440"/>
            <a:ext cx="49680" cy="71244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0" name="Rounded Rectangle 19"/>
          <p:cNvSpPr/>
          <p:nvPr/>
        </p:nvSpPr>
        <p:spPr>
          <a:xfrm>
            <a:off x="567000" y="4901040"/>
            <a:ext cx="7003440" cy="71244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45000" bIns="45000" anchor="ctr">
            <a:noAutofit/>
          </a:bodyPr>
          <a:p>
            <a:pPr defTabSz="457200">
              <a:lnSpc>
                <a:spcPct val="98000"/>
              </a:lnSpc>
              <a:spcAft>
                <a:spcPts val="201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Country Director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4000"/>
              </a:lnSpc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</a:rPr>
              <a:t>Predictable submission quality across donors, teams and locations.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Rounded Rectangle 20"/>
          <p:cNvSpPr/>
          <p:nvPr/>
        </p:nvSpPr>
        <p:spPr>
          <a:xfrm>
            <a:off x="567000" y="4901040"/>
            <a:ext cx="49680" cy="71244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a78bfa"/>
              </a:gs>
              <a:gs pos="100000">
                <a:srgbClr val="c4b5fd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Rounded Rectangle 21"/>
          <p:cNvSpPr/>
          <p:nvPr/>
        </p:nvSpPr>
        <p:spPr>
          <a:xfrm>
            <a:off x="7772400" y="1682640"/>
            <a:ext cx="3851640" cy="184644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Sectors we serve today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◎  </a:t>
            </a: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Humanitarian response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✦  </a:t>
            </a: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International development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◉  </a:t>
            </a: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Public health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▤  </a:t>
            </a: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Research &amp; education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◇  </a:t>
            </a: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Government grants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≈  </a:t>
            </a: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Climate &amp; social impact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Rounded Rectangle 22"/>
          <p:cNvSpPr/>
          <p:nvPr/>
        </p:nvSpPr>
        <p:spPr>
          <a:xfrm>
            <a:off x="7772400" y="1682640"/>
            <a:ext cx="385164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4" name="Rounded Rectangle 23"/>
          <p:cNvSpPr/>
          <p:nvPr/>
        </p:nvSpPr>
        <p:spPr>
          <a:xfrm>
            <a:off x="7772400" y="3730680"/>
            <a:ext cx="3851640" cy="179136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Why it lands with donors too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Submissions arrive complete, consistent and on time.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Claims are substantiated, so review questions drop.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The audit trail exists before it is ever requested.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Rounded Rectangle 24"/>
          <p:cNvSpPr/>
          <p:nvPr/>
        </p:nvSpPr>
        <p:spPr>
          <a:xfrm>
            <a:off x="7772400" y="3730680"/>
            <a:ext cx="385164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4d399"/>
              </a:gs>
              <a:gs pos="100000">
                <a:srgbClr val="6ee7b7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48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0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THE VISION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The operating layer for donor-funded reporting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Box 6"/>
          <p:cNvSpPr/>
          <p:nvPr/>
        </p:nvSpPr>
        <p:spPr>
          <a:xfrm>
            <a:off x="567000" y="1005840"/>
            <a:ext cx="97300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DonorDesk should become the system an organisation opens when it must answer — for any programme, any funder, any period: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4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5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Rounded Rectangle 11"/>
          <p:cNvSpPr/>
          <p:nvPr/>
        </p:nvSpPr>
        <p:spPr>
          <a:xfrm>
            <a:off x="567000" y="1682640"/>
            <a:ext cx="2640240" cy="11332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›  </a:t>
            </a: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What activities were completed?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ounded Rectangle 12"/>
          <p:cNvSpPr/>
          <p:nvPr/>
        </p:nvSpPr>
        <p:spPr>
          <a:xfrm>
            <a:off x="567000" y="1682640"/>
            <a:ext cx="49680" cy="11332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Rounded Rectangle 13"/>
          <p:cNvSpPr/>
          <p:nvPr/>
        </p:nvSpPr>
        <p:spPr>
          <a:xfrm>
            <a:off x="3372480" y="1682640"/>
            <a:ext cx="2640240" cy="11332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›  </a:t>
            </a: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Where did they take place?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Rounded Rectangle 14"/>
          <p:cNvSpPr/>
          <p:nvPr/>
        </p:nvSpPr>
        <p:spPr>
          <a:xfrm>
            <a:off x="3372480" y="1682640"/>
            <a:ext cx="49680" cy="11332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Rounded Rectangle 15"/>
          <p:cNvSpPr/>
          <p:nvPr/>
        </p:nvSpPr>
        <p:spPr>
          <a:xfrm>
            <a:off x="6178320" y="1682640"/>
            <a:ext cx="2640240" cy="11332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›  </a:t>
            </a: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Who benefited?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Rounded Rectangle 16"/>
          <p:cNvSpPr/>
          <p:nvPr/>
        </p:nvSpPr>
        <p:spPr>
          <a:xfrm>
            <a:off x="6178320" y="1682640"/>
            <a:ext cx="49680" cy="11332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Rounded Rectangle 17"/>
          <p:cNvSpPr/>
          <p:nvPr/>
        </p:nvSpPr>
        <p:spPr>
          <a:xfrm>
            <a:off x="8983800" y="1682640"/>
            <a:ext cx="2640240" cy="11332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›  </a:t>
            </a: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Which indicators changed?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Rounded Rectangle 18"/>
          <p:cNvSpPr/>
          <p:nvPr/>
        </p:nvSpPr>
        <p:spPr>
          <a:xfrm>
            <a:off x="8983800" y="1682640"/>
            <a:ext cx="49680" cy="11332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5" name="Rounded Rectangle 19"/>
          <p:cNvSpPr/>
          <p:nvPr/>
        </p:nvSpPr>
        <p:spPr>
          <a:xfrm>
            <a:off x="567000" y="2980800"/>
            <a:ext cx="2640240" cy="11332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›  </a:t>
            </a: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What evidence proves it?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Rounded Rectangle 20"/>
          <p:cNvSpPr/>
          <p:nvPr/>
        </p:nvSpPr>
        <p:spPr>
          <a:xfrm>
            <a:off x="567000" y="2980800"/>
            <a:ext cx="49680" cy="11332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Rounded Rectangle 21"/>
          <p:cNvSpPr/>
          <p:nvPr/>
        </p:nvSpPr>
        <p:spPr>
          <a:xfrm>
            <a:off x="3372480" y="2980800"/>
            <a:ext cx="2640240" cy="11332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›  </a:t>
            </a: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Which donor requirement does it satisfy?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ounded Rectangle 22"/>
          <p:cNvSpPr/>
          <p:nvPr/>
        </p:nvSpPr>
        <p:spPr>
          <a:xfrm>
            <a:off x="3372480" y="2980800"/>
            <a:ext cx="49680" cy="11332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Rounded Rectangle 23"/>
          <p:cNvSpPr/>
          <p:nvPr/>
        </p:nvSpPr>
        <p:spPr>
          <a:xfrm>
            <a:off x="6178320" y="2980800"/>
            <a:ext cx="2640240" cy="11332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›  </a:t>
            </a: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What is still missing before submission?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Rounded Rectangle 24"/>
          <p:cNvSpPr/>
          <p:nvPr/>
        </p:nvSpPr>
        <p:spPr>
          <a:xfrm>
            <a:off x="6178320" y="2980800"/>
            <a:ext cx="49680" cy="11332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1" name="Rounded Rectangle 25"/>
          <p:cNvSpPr/>
          <p:nvPr/>
        </p:nvSpPr>
        <p:spPr>
          <a:xfrm>
            <a:off x="8983800" y="2980800"/>
            <a:ext cx="2640240" cy="11332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›  </a:t>
            </a:r>
            <a:r>
              <a:rPr b="1" lang="en-US" sz="1600" spc="-1" strike="noStrike">
                <a:solidFill>
                  <a:srgbClr val="f1f5f9"/>
                </a:solidFill>
                <a:latin typeface="Calibri"/>
              </a:rPr>
              <a:t>Which compliance risk needs attention?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Rounded Rectangle 26"/>
          <p:cNvSpPr/>
          <p:nvPr/>
        </p:nvSpPr>
        <p:spPr>
          <a:xfrm>
            <a:off x="8983800" y="2980800"/>
            <a:ext cx="49680" cy="11332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Rounded Rectangle 27"/>
          <p:cNvSpPr/>
          <p:nvPr/>
        </p:nvSpPr>
        <p:spPr>
          <a:xfrm>
            <a:off x="567000" y="4279320"/>
            <a:ext cx="3575520" cy="14806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f1f5f9"/>
                </a:solidFill>
                <a:latin typeface="Calibri"/>
              </a:rPr>
              <a:t>01  Own the evidence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One structured place where delivery, results, documents and approvals are linked to the programme structure.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Rounded Rectangle 28"/>
          <p:cNvSpPr/>
          <p:nvPr/>
        </p:nvSpPr>
        <p:spPr>
          <a:xfrm>
            <a:off x="567000" y="4279320"/>
            <a:ext cx="49680" cy="1480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5" name="Rounded Rectangle 29"/>
          <p:cNvSpPr/>
          <p:nvPr/>
        </p:nvSpPr>
        <p:spPr>
          <a:xfrm>
            <a:off x="4307760" y="4279320"/>
            <a:ext cx="3575520" cy="14806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f1f5f9"/>
                </a:solidFill>
                <a:latin typeface="Calibri"/>
              </a:rPr>
              <a:t>02  Own the reporting cycle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Every period repeats the same auditable path: capture, draft, check, review, approve, export.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Rounded Rectangle 30"/>
          <p:cNvSpPr/>
          <p:nvPr/>
        </p:nvSpPr>
        <p:spPr>
          <a:xfrm>
            <a:off x="4307760" y="4279320"/>
            <a:ext cx="49680" cy="1480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Rounded Rectangle 31"/>
          <p:cNvSpPr/>
          <p:nvPr/>
        </p:nvSpPr>
        <p:spPr>
          <a:xfrm>
            <a:off x="8048520" y="4279320"/>
            <a:ext cx="3575520" cy="14806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f1f5f9"/>
                </a:solidFill>
                <a:latin typeface="Calibri"/>
              </a:rPr>
              <a:t>03  Own the standard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Sector reporting packs and donor requirements become the reason teams choose DonorDesk first.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Rounded Rectangle 32"/>
          <p:cNvSpPr/>
          <p:nvPr/>
        </p:nvSpPr>
        <p:spPr>
          <a:xfrm>
            <a:off x="8048520" y="4279320"/>
            <a:ext cx="49680" cy="1480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a78bfa"/>
              </a:gs>
              <a:gs pos="100000">
                <a:srgbClr val="c4b5fd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1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3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HOW IT WORKS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One clear path from set-up to periodic reporting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Box 6"/>
          <p:cNvSpPr/>
          <p:nvPr/>
        </p:nvSpPr>
        <p:spPr>
          <a:xfrm>
            <a:off x="567000" y="1005840"/>
            <a:ext cx="97300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Build the reporting structure once, keep it current as delivery unfolds, and turn verified programme records into repeatable reports.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7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6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ounded Rectangle 11"/>
          <p:cNvSpPr/>
          <p:nvPr/>
        </p:nvSpPr>
        <p:spPr>
          <a:xfrm>
            <a:off x="567000" y="1682640"/>
            <a:ext cx="3563280" cy="15354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01  Set up your project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Define the programme, reporting profile, dates, funder and team.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Rounded Rectangle 12"/>
          <p:cNvSpPr/>
          <p:nvPr/>
        </p:nvSpPr>
        <p:spPr>
          <a:xfrm>
            <a:off x="567000" y="1682640"/>
            <a:ext cx="49680" cy="153540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2" name="Rounded Rectangle 13"/>
          <p:cNvSpPr/>
          <p:nvPr/>
        </p:nvSpPr>
        <p:spPr>
          <a:xfrm>
            <a:off x="4313880" y="1682640"/>
            <a:ext cx="3563280" cy="15354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02  Build your logframe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Create it in DonorDesk, or import objectives, outcomes and outputs.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ounded Rectangle 14"/>
          <p:cNvSpPr/>
          <p:nvPr/>
        </p:nvSpPr>
        <p:spPr>
          <a:xfrm>
            <a:off x="4313880" y="1682640"/>
            <a:ext cx="49680" cy="153540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Rounded Rectangle 15"/>
          <p:cNvSpPr/>
          <p:nvPr/>
        </p:nvSpPr>
        <p:spPr>
          <a:xfrm>
            <a:off x="8060760" y="1682640"/>
            <a:ext cx="3563280" cy="15354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03  Add your indicators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Enter or import baselines, targets, results and data sources.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Rounded Rectangle 16"/>
          <p:cNvSpPr/>
          <p:nvPr/>
        </p:nvSpPr>
        <p:spPr>
          <a:xfrm>
            <a:off x="8060760" y="1682640"/>
            <a:ext cx="49680" cy="153540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6" name="Rounded Rectangle 17"/>
          <p:cNvSpPr/>
          <p:nvPr/>
        </p:nvSpPr>
        <p:spPr>
          <a:xfrm>
            <a:off x="567000" y="3401640"/>
            <a:ext cx="3563280" cy="15354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04  Define compliance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Turn funder requirements into a live, trackable readiness checklist.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Rounded Rectangle 18"/>
          <p:cNvSpPr/>
          <p:nvPr/>
        </p:nvSpPr>
        <p:spPr>
          <a:xfrm>
            <a:off x="567000" y="3401640"/>
            <a:ext cx="49680" cy="153540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Rounded Rectangle 19"/>
          <p:cNvSpPr/>
          <p:nvPr/>
        </p:nvSpPr>
        <p:spPr>
          <a:xfrm>
            <a:off x="4313880" y="3401640"/>
            <a:ext cx="3563280" cy="15354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05  Capture delivery &amp; evidence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Log activities, results, documents, photos and supporting data as work happens.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Rounded Rectangle 20"/>
          <p:cNvSpPr/>
          <p:nvPr/>
        </p:nvSpPr>
        <p:spPr>
          <a:xfrm>
            <a:off x="4313880" y="3401640"/>
            <a:ext cx="49680" cy="153540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6a8f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0" name="Rounded Rectangle 21"/>
          <p:cNvSpPr/>
          <p:nvPr/>
        </p:nvSpPr>
        <p:spPr>
          <a:xfrm>
            <a:off x="8060760" y="3401640"/>
            <a:ext cx="3563280" cy="15354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06  Generate ready-to-review reports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Draft periodically, verify sources, approve sections and export funder-ready files.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Rounded Rectangle 22"/>
          <p:cNvSpPr/>
          <p:nvPr/>
        </p:nvSpPr>
        <p:spPr>
          <a:xfrm>
            <a:off x="8060760" y="3401640"/>
            <a:ext cx="49680" cy="153540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6a8f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2" name="Rounded Rectangle 23"/>
          <p:cNvSpPr/>
          <p:nvPr/>
        </p:nvSpPr>
        <p:spPr>
          <a:xfrm>
            <a:off x="567000" y="5175360"/>
            <a:ext cx="11057040" cy="47484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The chain that keeps it honest:  </a:t>
            </a:r>
            <a:r>
              <a:rPr b="1" lang="en-US" sz="1400" spc="-1" strike="noStrike">
                <a:solidFill>
                  <a:srgbClr val="22d3ee"/>
                </a:solidFill>
                <a:latin typeface="Calibri"/>
              </a:rPr>
              <a:t>logframe → indicators → activities → evidence → compliance → draft → review → export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Rectangle 24"/>
          <p:cNvSpPr/>
          <p:nvPr/>
        </p:nvSpPr>
        <p:spPr>
          <a:xfrm>
            <a:off x="567000" y="5175360"/>
            <a:ext cx="63360" cy="47484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06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THE DIFFERENCE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The same monthly report, two very different weeks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TextBox 6"/>
          <p:cNvSpPr/>
          <p:nvPr/>
        </p:nvSpPr>
        <p:spPr>
          <a:xfrm>
            <a:off x="567000" y="1005840"/>
            <a:ext cx="973008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Illustrative walkthrough: a funded health programme reporting on a single month.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Rectangle 7"/>
          <p:cNvSpPr/>
          <p:nvPr/>
        </p:nvSpPr>
        <p:spPr>
          <a:xfrm>
            <a:off x="567000" y="128016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Rectangle 8"/>
          <p:cNvSpPr/>
          <p:nvPr/>
        </p:nvSpPr>
        <p:spPr>
          <a:xfrm>
            <a:off x="1801440" y="128016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3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7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Rounded Rectangle 11"/>
          <p:cNvSpPr/>
          <p:nvPr/>
        </p:nvSpPr>
        <p:spPr>
          <a:xfrm>
            <a:off x="567000" y="1499760"/>
            <a:ext cx="5354640" cy="321804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Today — assembled by hand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6000"/>
              </a:lnSpc>
              <a:spcAft>
                <a:spcPts val="400"/>
              </a:spcAft>
              <a:buClr>
                <a:srgbClr val="cbd5e1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Activity updates arrive late; nobody knows what is still missing.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6000"/>
              </a:lnSpc>
              <a:spcAft>
                <a:spcPts val="400"/>
              </a:spcAft>
              <a:buClr>
                <a:srgbClr val="cbd5e1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M&amp;E cleans indicator data in a spreadsheet beside the narrative.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6000"/>
              </a:lnSpc>
              <a:spcAft>
                <a:spcPts val="400"/>
              </a:spcAft>
              <a:buClr>
                <a:srgbClr val="cbd5e1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The story is rewritten from emails and last period's report.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6000"/>
              </a:lnSpc>
              <a:spcAft>
                <a:spcPts val="400"/>
              </a:spcAft>
              <a:buClr>
                <a:srgbClr val="cbd5e1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Annexes are chased from people; the donor template is rebuilt in Word.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6000"/>
              </a:lnSpc>
              <a:spcAft>
                <a:spcPts val="400"/>
              </a:spcAft>
              <a:buClr>
                <a:srgbClr val="cbd5e1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Reporting weeks cannot be planned — nobody can see what is outstanding.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216000" indent="-216000" defTabSz="457200">
              <a:lnSpc>
                <a:spcPct val="104000"/>
              </a:lnSpc>
              <a:spcAft>
                <a:spcPts val="201"/>
              </a:spcAft>
              <a:buClr>
                <a:srgbClr val="64748b"/>
              </a:buClr>
              <a:buFont typeface="Wingdings" charset="2"/>
              <a:buChar char=""/>
            </a:pPr>
            <a:r>
              <a:rPr b="0" lang="en-US" sz="1400" spc="-1" strike="noStrike">
                <a:solidFill>
                  <a:srgbClr val="64748b"/>
                </a:solidFill>
                <a:latin typeface="Calibri"/>
              </a:rPr>
              <a:t>The report is finished in the final week, under pressure.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Rounded Rectangle 12"/>
          <p:cNvSpPr/>
          <p:nvPr/>
        </p:nvSpPr>
        <p:spPr>
          <a:xfrm>
            <a:off x="567000" y="1499760"/>
            <a:ext cx="535464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fbbf24"/>
              </a:gs>
              <a:gs pos="100000">
                <a:srgbClr val="fde68a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7" name="TextBox 13"/>
          <p:cNvSpPr/>
          <p:nvPr/>
        </p:nvSpPr>
        <p:spPr>
          <a:xfrm>
            <a:off x="5922000" y="2910240"/>
            <a:ext cx="346680" cy="39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7cc7fb"/>
                </a:solidFill>
                <a:latin typeface="Calibri"/>
              </a:rPr>
              <a:t>→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Rounded Rectangle 14"/>
          <p:cNvSpPr/>
          <p:nvPr/>
        </p:nvSpPr>
        <p:spPr>
          <a:xfrm>
            <a:off x="6269760" y="1499760"/>
            <a:ext cx="5354640" cy="321804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With DonorDesk — assembled by the system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Activities, results and evidence are captured as delivery happens.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Evidence is already mapped to the activity, indicator and donor requirement.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A first draft appears with a source attached to every statement.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Readiness names exactly what is missing — days before the deadline.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PDF, DOCX, XLSX and ZIP produce as one approved pack.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Rounded Rectangle 15"/>
          <p:cNvSpPr/>
          <p:nvPr/>
        </p:nvSpPr>
        <p:spPr>
          <a:xfrm>
            <a:off x="6269760" y="1499760"/>
            <a:ext cx="535464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0" name="Rounded Rectangle 16"/>
          <p:cNvSpPr/>
          <p:nvPr/>
        </p:nvSpPr>
        <p:spPr>
          <a:xfrm>
            <a:off x="567000" y="5139000"/>
            <a:ext cx="11057040" cy="5662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37600" rIns="201240" tIns="45000" bIns="45000" anchor="ctr">
            <a:noAutofit/>
          </a:bodyPr>
          <a:p>
            <a:pPr defTabSz="457200">
              <a:lnSpc>
                <a:spcPct val="106000"/>
              </a:lnSpc>
            </a:pPr>
            <a:r>
              <a:rPr b="1" lang="en-US" sz="1500" spc="-1" strike="noStrike">
                <a:solidFill>
                  <a:srgbClr val="ffffff"/>
                </a:solidFill>
                <a:latin typeface="Calibri"/>
              </a:rPr>
              <a:t>Less report assembly. More reporting confidence.</a:t>
            </a:r>
            <a:endParaRPr b="0" lang="en-US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Rectangle 17"/>
          <p:cNvSpPr/>
          <p:nvPr/>
        </p:nvSpPr>
        <p:spPr>
          <a:xfrm>
            <a:off x="567000" y="5139000"/>
            <a:ext cx="63360" cy="5662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3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4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5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SIGNATURE FEATURE 1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Upload the funder's template once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6"/>
          <p:cNvSpPr/>
          <p:nvPr/>
        </p:nvSpPr>
        <p:spPr>
          <a:xfrm>
            <a:off x="567000" y="1005840"/>
            <a:ext cx="97300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DonorDesk structures donor and funder templates into editable, reviewable report sections with evidence requirements mapped to your programme.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0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8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Rounded Rectangle 11"/>
          <p:cNvSpPr/>
          <p:nvPr/>
        </p:nvSpPr>
        <p:spPr>
          <a:xfrm>
            <a:off x="567000" y="1682640"/>
            <a:ext cx="5046840" cy="3528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What changes for the team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Stop rebuilding the donor's Word template every reporting cycle.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Sections, hierarchy, mandatory questions, required tables and page limits become part of the plan.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Every section carries the evidence the donor expects against it.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Reviewed once, reused for every period of the grant.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Rounded Rectangle 12"/>
          <p:cNvSpPr/>
          <p:nvPr/>
        </p:nvSpPr>
        <p:spPr>
          <a:xfrm>
            <a:off x="567000" y="1682640"/>
            <a:ext cx="504684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5" name="Rounded Rectangle 13"/>
          <p:cNvSpPr/>
          <p:nvPr/>
        </p:nvSpPr>
        <p:spPr>
          <a:xfrm>
            <a:off x="5815440" y="1682640"/>
            <a:ext cx="5808600" cy="3528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f1f5f9"/>
                </a:solidFill>
                <a:latin typeface="Calibri"/>
              </a:rPr>
              <a:t>Extracted structure — illustrative example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36a8f6"/>
                </a:solidFill>
                <a:latin typeface="Consolas"/>
              </a:rPr>
              <a:t>USAID Performance Report (FY2026)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36a8f6"/>
                </a:solidFill>
                <a:latin typeface="Consolas"/>
              </a:rPr>
              <a:t>├ </a:t>
            </a:r>
            <a:r>
              <a:rPr b="0" lang="en-US" sz="1300" spc="-1" strike="noStrike">
                <a:solidFill>
                  <a:srgbClr val="36a8f6"/>
                </a:solidFill>
                <a:latin typeface="Consolas"/>
              </a:rPr>
              <a:t>1. Programme Overview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36a8f6"/>
                </a:solidFill>
                <a:latin typeface="Consolas"/>
              </a:rPr>
              <a:t>├ </a:t>
            </a:r>
            <a:r>
              <a:rPr b="0" lang="en-US" sz="1300" spc="-1" strike="noStrike">
                <a:solidFill>
                  <a:srgbClr val="36a8f6"/>
                </a:solidFill>
                <a:latin typeface="Consolas"/>
              </a:rPr>
              <a:t>2. Results &amp; Indicators      [3 required tables]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36a8f6"/>
                </a:solidFill>
                <a:latin typeface="Consolas"/>
              </a:rPr>
              <a:t>├ </a:t>
            </a:r>
            <a:r>
              <a:rPr b="0" lang="en-US" sz="1300" spc="-1" strike="noStrike">
                <a:solidFill>
                  <a:srgbClr val="36a8f6"/>
                </a:solidFill>
                <a:latin typeface="Consolas"/>
              </a:rPr>
              <a:t>3. Beneficiary Reach         [annex: lists]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36a8f6"/>
                </a:solidFill>
                <a:latin typeface="Consolas"/>
              </a:rPr>
              <a:t>├ </a:t>
            </a:r>
            <a:r>
              <a:rPr b="0" lang="en-US" sz="1300" spc="-1" strike="noStrike">
                <a:solidFill>
                  <a:srgbClr val="36a8f6"/>
                </a:solidFill>
                <a:latin typeface="Consolas"/>
              </a:rPr>
              <a:t>4. Challenges &amp; Lessons      [mandatory question]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201"/>
              </a:spcAft>
            </a:pPr>
            <a:r>
              <a:rPr b="0" lang="en-US" sz="1300" spc="-1" strike="noStrike">
                <a:solidFill>
                  <a:srgbClr val="36a8f6"/>
                </a:solidFill>
                <a:latin typeface="Consolas"/>
              </a:rPr>
              <a:t>└ </a:t>
            </a:r>
            <a:r>
              <a:rPr b="0" lang="en-US" sz="1300" spc="-1" strike="noStrike">
                <a:solidFill>
                  <a:srgbClr val="36a8f6"/>
                </a:solidFill>
                <a:latin typeface="Consolas"/>
              </a:rPr>
              <a:t>5. Financial Summary         [page limit: 2]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64748b"/>
                </a:solidFill>
                <a:latin typeface="Calibri"/>
              </a:rPr>
              <a:t>Sections, levels, required tables and mandatory questions are extracted from the uploaded document, then confirmed by a person before use.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Rounded Rectangle 14"/>
          <p:cNvSpPr/>
          <p:nvPr/>
        </p:nvSpPr>
        <p:spPr>
          <a:xfrm>
            <a:off x="5815440" y="1682640"/>
            <a:ext cx="580860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6a8f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7" name="Rounded Rectangle 15"/>
          <p:cNvSpPr/>
          <p:nvPr/>
        </p:nvSpPr>
        <p:spPr>
          <a:xfrm>
            <a:off x="567000" y="5358240"/>
            <a:ext cx="11057040" cy="43812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Impact:  </a:t>
            </a:r>
            <a:r>
              <a:rPr b="1" lang="en-US" sz="1050" spc="-1" strike="noStrike">
                <a:solidFill>
                  <a:srgbClr val="22d3ee"/>
                </a:solidFill>
                <a:latin typeface="Calibri"/>
              </a:rPr>
              <a:t>days of formatting disappear from every reporting cycle.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Rectangle 16"/>
          <p:cNvSpPr/>
          <p:nvPr/>
        </p:nvSpPr>
        <p:spPr>
          <a:xfrm>
            <a:off x="567000" y="5358240"/>
            <a:ext cx="63360" cy="43812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0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1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2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3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SIGNATURE FEATURE 2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AI as assistant, not author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6"/>
          <p:cNvSpPr/>
          <p:nvPr/>
        </p:nvSpPr>
        <p:spPr>
          <a:xfrm>
            <a:off x="567000" y="1005840"/>
            <a:ext cx="97300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Drafts are built from saved activities, indicator results and evidence text — statement-level sources stay visible, and every section remains editable and human-approved.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8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9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Rounded Rectangle 11"/>
          <p:cNvSpPr/>
          <p:nvPr/>
        </p:nvSpPr>
        <p:spPr>
          <a:xfrm>
            <a:off x="567000" y="1682640"/>
            <a:ext cx="5046840" cy="3528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How we keep it honest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The model writes prose. Every figure comes from your verified records.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Each statement keeps the sources behind it in view.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Sections stay editable — nothing is released without approval.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House style is learned per organisation, never across tenants.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Rounded Rectangle 12"/>
          <p:cNvSpPr/>
          <p:nvPr/>
        </p:nvSpPr>
        <p:spPr>
          <a:xfrm>
            <a:off x="567000" y="1682640"/>
            <a:ext cx="504684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a78bfa"/>
              </a:gs>
              <a:gs pos="100000">
                <a:srgbClr val="c4b5fd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Rounded Rectangle 13"/>
          <p:cNvSpPr/>
          <p:nvPr/>
        </p:nvSpPr>
        <p:spPr>
          <a:xfrm>
            <a:off x="5815440" y="1682640"/>
            <a:ext cx="5808600" cy="3528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Rounded Rectangle 14"/>
          <p:cNvSpPr/>
          <p:nvPr/>
        </p:nvSpPr>
        <p:spPr>
          <a:xfrm>
            <a:off x="5815440" y="1682640"/>
            <a:ext cx="580860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a78bfa"/>
              </a:gs>
              <a:gs pos="100000">
                <a:srgbClr val="c4b5fd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4" name="TextBox 15"/>
          <p:cNvSpPr/>
          <p:nvPr/>
        </p:nvSpPr>
        <p:spPr>
          <a:xfrm>
            <a:off x="5998320" y="1847160"/>
            <a:ext cx="5460840" cy="167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100" spc="-1" strike="noStrike">
                <a:solidFill>
                  <a:srgbClr val="f1f5f9"/>
                </a:solidFill>
                <a:latin typeface="Calibri"/>
              </a:rPr>
              <a:t>What a drafted statement looks like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ounded Rectangle 16"/>
          <p:cNvSpPr/>
          <p:nvPr/>
        </p:nvSpPr>
        <p:spPr>
          <a:xfrm>
            <a:off x="5998320" y="2212920"/>
            <a:ext cx="5460840" cy="9684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22d3ee">
                  <a:alpha val="10000"/>
                </a:srgbClr>
              </a:gs>
              <a:gs pos="100000">
                <a:srgbClr val="22d3ee">
                  <a:alpha val="3000"/>
                </a:srgbClr>
              </a:gs>
            </a:gsLst>
            <a:lin ang="5400000"/>
          </a:gradFill>
          <a:ln>
            <a:solidFill>
              <a:srgbClr val="3faf46">
                <a:alpha val="25000"/>
              </a:srgbClr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46160" rIns="128160" tIns="91440" bIns="91440" anchor="ctr">
            <a:noAutofit/>
          </a:bodyPr>
          <a:p>
            <a:pPr defTabSz="457200">
              <a:lnSpc>
                <a:spcPct val="118000"/>
              </a:lnSpc>
            </a:pP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“</a:t>
            </a: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Community health workers delivered 1,240 consultations in Q3 (Indic 4.1, [evidence-2041]), an increase of 18% over target.”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Box 17"/>
          <p:cNvSpPr/>
          <p:nvPr/>
        </p:nvSpPr>
        <p:spPr>
          <a:xfrm>
            <a:off x="5998320" y="3291840"/>
            <a:ext cx="54608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36a8f6"/>
                </a:solidFill>
                <a:latin typeface="Calibri"/>
              </a:rPr>
              <a:t>Sources attached to that statement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18"/>
          <p:cNvSpPr/>
          <p:nvPr/>
        </p:nvSpPr>
        <p:spPr>
          <a:xfrm>
            <a:off x="5998320" y="3566160"/>
            <a:ext cx="546084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Indic 4.1 — verified result, Q3 2026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evidence-2041 — attendance register, checksum verified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Target 1,050 — approved logframe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601"/>
              </a:spcAft>
            </a:pPr>
            <a:r>
              <a:rPr b="1" lang="en-US" sz="1300" spc="-1" strike="noStrike">
                <a:solidFill>
                  <a:srgbClr val="64748b"/>
                </a:solidFill>
                <a:latin typeface="Calibri"/>
              </a:rPr>
              <a:t>◦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18% over target — derived figure, the only one allowed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TextBox 19"/>
          <p:cNvSpPr/>
          <p:nvPr/>
        </p:nvSpPr>
        <p:spPr>
          <a:xfrm>
            <a:off x="5998320" y="4864680"/>
            <a:ext cx="546084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Illustrative example, consistent with published product copy.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Rounded Rectangle 20"/>
          <p:cNvSpPr/>
          <p:nvPr/>
        </p:nvSpPr>
        <p:spPr>
          <a:xfrm>
            <a:off x="567000" y="5358240"/>
            <a:ext cx="11057040" cy="43812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The rule:  </a:t>
            </a:r>
            <a:r>
              <a:rPr b="1" lang="en-US" sz="1300" spc="-1" strike="noStrike">
                <a:solidFill>
                  <a:srgbClr val="22d3ee"/>
                </a:solidFill>
                <a:latin typeface="Calibri"/>
              </a:rPr>
              <a:t>the model never invents a number — it explains numbers the platform owns.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Rectangle 21"/>
          <p:cNvSpPr/>
          <p:nvPr/>
        </p:nvSpPr>
        <p:spPr>
          <a:xfrm>
            <a:off x="567000" y="5358240"/>
            <a:ext cx="63360" cy="43812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63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5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SIGNATURE FEATURE 3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Readiness you can see before the deadline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Box 6"/>
          <p:cNvSpPr/>
          <p:nvPr/>
        </p:nvSpPr>
        <p:spPr>
          <a:xfrm>
            <a:off x="567000" y="1005840"/>
            <a:ext cx="97300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A live readiness score surfaces missing evidence, unverified indicators and late activity updates while there is still time to fix them.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0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10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Rounded Rectangle 11"/>
          <p:cNvSpPr/>
          <p:nvPr/>
        </p:nvSpPr>
        <p:spPr>
          <a:xfrm>
            <a:off x="567000" y="1682640"/>
            <a:ext cx="5046840" cy="3528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What the readiness score is made of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Required sections completed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Indicators updated with results for the period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Evidence attached to activities and indicators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Compliance documents verified — approvals, agreements, registrations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Internal review completed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Export-ready, approved deliverables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Rounded Rectangle 12"/>
          <p:cNvSpPr/>
          <p:nvPr/>
        </p:nvSpPr>
        <p:spPr>
          <a:xfrm>
            <a:off x="567000" y="1682640"/>
            <a:ext cx="504684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4" name="Rounded Rectangle 13"/>
          <p:cNvSpPr/>
          <p:nvPr/>
        </p:nvSpPr>
        <p:spPr>
          <a:xfrm>
            <a:off x="5815440" y="1682640"/>
            <a:ext cx="5808600" cy="3528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Rounded Rectangle 14"/>
          <p:cNvSpPr/>
          <p:nvPr/>
        </p:nvSpPr>
        <p:spPr>
          <a:xfrm>
            <a:off x="5815440" y="1682640"/>
            <a:ext cx="580860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6" name="TextBox 15"/>
          <p:cNvSpPr/>
          <p:nvPr/>
        </p:nvSpPr>
        <p:spPr>
          <a:xfrm>
            <a:off x="5998320" y="1847160"/>
            <a:ext cx="5460840" cy="35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200" spc="-1" strike="noStrike">
                <a:solidFill>
                  <a:srgbClr val="f1f5f9"/>
                </a:solidFill>
                <a:latin typeface="Calibri"/>
              </a:rPr>
              <a:t>Monthly report — Q3 2026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</a:rPr>
              <a:t>Donor deadline: 14 October · 9 days remaining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Rounded Rectangle 16"/>
          <p:cNvSpPr/>
          <p:nvPr/>
        </p:nvSpPr>
        <p:spPr>
          <a:xfrm>
            <a:off x="5998320" y="2560320"/>
            <a:ext cx="5442840" cy="310320"/>
          </a:xfrm>
          <a:prstGeom prst="roundRect">
            <a:avLst>
              <a:gd name="adj" fmla="val 45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8" name="Rounded Rectangle 17"/>
          <p:cNvSpPr/>
          <p:nvPr/>
        </p:nvSpPr>
        <p:spPr>
          <a:xfrm>
            <a:off x="5998320" y="2560320"/>
            <a:ext cx="3918600" cy="310320"/>
          </a:xfrm>
          <a:prstGeom prst="roundRect">
            <a:avLst>
              <a:gd name="adj" fmla="val 45000"/>
            </a:avLst>
          </a:prstGeom>
          <a:gradFill rotWithShape="0">
            <a:gsLst>
              <a:gs pos="0">
                <a:srgbClr val="0c8de6"/>
              </a:gs>
              <a:gs pos="100000">
                <a:srgbClr val="22d3ee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9" name="TextBox 18"/>
          <p:cNvSpPr/>
          <p:nvPr/>
        </p:nvSpPr>
        <p:spPr>
          <a:xfrm>
            <a:off x="5998320" y="2642760"/>
            <a:ext cx="39186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ffffff"/>
                </a:solidFill>
                <a:latin typeface="Calibri"/>
              </a:rPr>
              <a:t>72% ready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0" name="TextBox 19"/>
          <p:cNvSpPr/>
          <p:nvPr/>
        </p:nvSpPr>
        <p:spPr>
          <a:xfrm>
            <a:off x="5998320" y="3054240"/>
            <a:ext cx="54608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fbbf24"/>
                </a:solidFill>
                <a:latin typeface="Calibri"/>
              </a:rPr>
              <a:t>Still missing before submission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Box 20"/>
          <p:cNvSpPr/>
          <p:nvPr/>
        </p:nvSpPr>
        <p:spPr>
          <a:xfrm>
            <a:off x="5998320" y="3346560"/>
            <a:ext cx="5460840" cy="109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4000"/>
              </a:lnSpc>
              <a:spcAft>
                <a:spcPts val="700"/>
              </a:spcAft>
            </a:pPr>
            <a:r>
              <a:rPr b="1" lang="en-US" sz="1300" spc="-1" strike="noStrike">
                <a:solidFill>
                  <a:srgbClr val="fbbf24"/>
                </a:solidFill>
                <a:latin typeface="Calibri"/>
              </a:rPr>
              <a:t>▲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3 attendance sheets — July distribution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700"/>
              </a:spcAft>
            </a:pPr>
            <a:r>
              <a:rPr b="1" lang="en-US" sz="1300" spc="-1" strike="noStrike">
                <a:solidFill>
                  <a:srgbClr val="fbbf24"/>
                </a:solidFill>
                <a:latin typeface="Calibri"/>
              </a:rPr>
              <a:t>▲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1 procurement approval — expired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700"/>
              </a:spcAft>
            </a:pPr>
            <a:r>
              <a:rPr b="1" lang="en-US" sz="1300" spc="-1" strike="noStrike">
                <a:solidFill>
                  <a:srgbClr val="fbbf24"/>
                </a:solidFill>
                <a:latin typeface="Calibri"/>
              </a:rPr>
              <a:t>▲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2 indicator explanations — Indic 4.1, Indic 3.2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4000"/>
              </a:lnSpc>
              <a:spcAft>
                <a:spcPts val="7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No unresolved compliance item is left unnamed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Box 21"/>
          <p:cNvSpPr/>
          <p:nvPr/>
        </p:nvSpPr>
        <p:spPr>
          <a:xfrm>
            <a:off x="5998320" y="4809600"/>
            <a:ext cx="546084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Illustrative view; readiness is computed from the programme's own records.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Rounded Rectangle 22"/>
          <p:cNvSpPr/>
          <p:nvPr/>
        </p:nvSpPr>
        <p:spPr>
          <a:xfrm>
            <a:off x="567000" y="5358240"/>
            <a:ext cx="11057040" cy="43812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Impact:  </a:t>
            </a:r>
            <a:r>
              <a:rPr b="1" lang="en-US" sz="1400" spc="-1" strike="noStrike">
                <a:solidFill>
                  <a:srgbClr val="22d3ee"/>
                </a:solidFill>
                <a:latin typeface="Calibri"/>
              </a:rPr>
              <a:t>gaps are found while they can still be fixed — not in deadline week.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Rectangle 23"/>
          <p:cNvSpPr/>
          <p:nvPr/>
        </p:nvSpPr>
        <p:spPr>
          <a:xfrm>
            <a:off x="567000" y="5358240"/>
            <a:ext cx="63360" cy="43812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6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87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8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SIGNATURE FEATURE 4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Evidence that holds up to audit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6"/>
          <p:cNvSpPr/>
          <p:nvPr/>
        </p:nvSpPr>
        <p:spPr>
          <a:xfrm>
            <a:off x="567000" y="1005840"/>
            <a:ext cx="97300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Programme documents, field evidence and source records stay organised with checksums, verification states and a traceable history.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11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Rounded Rectangle 11"/>
          <p:cNvSpPr/>
          <p:nvPr/>
        </p:nvSpPr>
        <p:spPr>
          <a:xfrm>
            <a:off x="567000" y="1682640"/>
            <a:ext cx="5046840" cy="3528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What makes evidence audit-ready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A checksum is recorded when a file is uploaded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Every document has a verification state, not just a folder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Evidence is linked to the activity, indicator and donor requirement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Confidential labels and PII warnings for beneficiary data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Optional anonymisation of beneficiary lists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4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400" spc="-1" strike="noStrike">
                <a:solidFill>
                  <a:srgbClr val="cbd5e1"/>
                </a:solidFill>
                <a:latin typeface="Calibri"/>
              </a:rPr>
              <a:t>Version and export history kept for the whole grant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Rounded Rectangle 12"/>
          <p:cNvSpPr/>
          <p:nvPr/>
        </p:nvSpPr>
        <p:spPr>
          <a:xfrm>
            <a:off x="567000" y="1682640"/>
            <a:ext cx="504684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4d399"/>
              </a:gs>
              <a:gs pos="100000">
                <a:srgbClr val="6ee7b7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8" name="Rounded Rectangle 13"/>
          <p:cNvSpPr/>
          <p:nvPr/>
        </p:nvSpPr>
        <p:spPr>
          <a:xfrm>
            <a:off x="5815440" y="1682640"/>
            <a:ext cx="5808600" cy="3528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100" spc="-1" strike="noStrike">
                <a:solidFill>
                  <a:srgbClr val="f1f5f9"/>
                </a:solidFill>
                <a:latin typeface="Calibri"/>
              </a:rPr>
              <a:t>Evidence pack handed to the donor — illustrative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201"/>
              </a:spcAft>
            </a:pPr>
            <a:r>
              <a:rPr b="0" lang="en-US" sz="1050" spc="-1" strike="noStrike">
                <a:solidFill>
                  <a:srgbClr val="36a8f6"/>
                </a:solidFill>
                <a:latin typeface="Consolas"/>
              </a:rPr>
              <a:t>Donor_Package_Q3_2026.zip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201"/>
              </a:spcAft>
            </a:pPr>
            <a:r>
              <a:rPr b="0" lang="en-US" sz="1050" spc="-1" strike="noStrike">
                <a:solidFill>
                  <a:srgbClr val="36a8f6"/>
                </a:solidFill>
                <a:latin typeface="Consolas"/>
              </a:rPr>
              <a:t>├ </a:t>
            </a:r>
            <a:r>
              <a:rPr b="0" lang="en-US" sz="1050" spc="-1" strike="noStrike">
                <a:solidFill>
                  <a:srgbClr val="36a8f6"/>
                </a:solidFill>
                <a:latin typeface="Consolas"/>
              </a:rPr>
              <a:t>01_Final_Report/           PDF · sealed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201"/>
              </a:spcAft>
            </a:pPr>
            <a:r>
              <a:rPr b="0" lang="en-US" sz="1050" spc="-1" strike="noStrike">
                <a:solidFill>
                  <a:srgbClr val="36a8f6"/>
                </a:solidFill>
                <a:latin typeface="Consolas"/>
              </a:rPr>
              <a:t>├ </a:t>
            </a:r>
            <a:r>
              <a:rPr b="0" lang="en-US" sz="1050" spc="-1" strike="noStrike">
                <a:solidFill>
                  <a:srgbClr val="36a8f6"/>
                </a:solidFill>
                <a:latin typeface="Consolas"/>
              </a:rPr>
              <a:t>02_Indicator_Table/        XLSX · verified results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201"/>
              </a:spcAft>
            </a:pPr>
            <a:r>
              <a:rPr b="0" lang="en-US" sz="1050" spc="-1" strike="noStrike">
                <a:solidFill>
                  <a:srgbClr val="36a8f6"/>
                </a:solidFill>
                <a:latin typeface="Consolas"/>
              </a:rPr>
              <a:t>├ </a:t>
            </a:r>
            <a:r>
              <a:rPr b="0" lang="en-US" sz="1050" spc="-1" strike="noStrike">
                <a:solidFill>
                  <a:srgbClr val="36a8f6"/>
                </a:solidFill>
                <a:latin typeface="Consolas"/>
              </a:rPr>
              <a:t>03_Evidence_Checklist/     XLSX · requirement by requirement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201"/>
              </a:spcAft>
            </a:pPr>
            <a:r>
              <a:rPr b="0" lang="en-US" sz="1050" spc="-1" strike="noStrike">
                <a:solidFill>
                  <a:srgbClr val="36a8f6"/>
                </a:solidFill>
                <a:latin typeface="Consolas"/>
              </a:rPr>
              <a:t>├ </a:t>
            </a:r>
            <a:r>
              <a:rPr b="0" lang="en-US" sz="1050" spc="-1" strike="noStrike">
                <a:solidFill>
                  <a:srgbClr val="36a8f6"/>
                </a:solidFill>
                <a:latin typeface="Consolas"/>
              </a:rPr>
              <a:t>04_Attendance_Sheets/      18 files · checksummed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22000"/>
              </a:lnSpc>
              <a:spcAft>
                <a:spcPts val="201"/>
              </a:spcAft>
            </a:pPr>
            <a:r>
              <a:rPr b="0" lang="en-US" sz="1050" spc="-1" strike="noStrike">
                <a:solidFill>
                  <a:srgbClr val="36a8f6"/>
                </a:solidFill>
                <a:latin typeface="Consolas"/>
              </a:rPr>
              <a:t>└ </a:t>
            </a:r>
            <a:r>
              <a:rPr b="0" lang="en-US" sz="1050" spc="-1" strike="noStrike">
                <a:solidFill>
                  <a:srgbClr val="36a8f6"/>
                </a:solidFill>
                <a:latin typeface="Consolas"/>
              </a:rPr>
              <a:t>05_Photos/                 42 files · tagged to activities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000" spc="-1" strike="noStrike">
                <a:solidFill>
                  <a:srgbClr val="64748b"/>
                </a:solidFill>
                <a:latin typeface="Calibri"/>
              </a:rPr>
              <a:t>Pack contents follow the funder's requirements; approval is recorded before the ZIP is sealed.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Rounded Rectangle 14"/>
          <p:cNvSpPr/>
          <p:nvPr/>
        </p:nvSpPr>
        <p:spPr>
          <a:xfrm>
            <a:off x="5815440" y="1682640"/>
            <a:ext cx="580860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4d399"/>
              </a:gs>
              <a:gs pos="100000">
                <a:srgbClr val="6ee7b7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0" name="Rounded Rectangle 15"/>
          <p:cNvSpPr/>
          <p:nvPr/>
        </p:nvSpPr>
        <p:spPr>
          <a:xfrm>
            <a:off x="567000" y="5358240"/>
            <a:ext cx="11057040" cy="43812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Impact:  </a:t>
            </a:r>
            <a:r>
              <a:rPr b="1" lang="en-US" sz="1400" spc="-1" strike="noStrike">
                <a:solidFill>
                  <a:srgbClr val="22d3ee"/>
                </a:solidFill>
                <a:latin typeface="Calibri"/>
              </a:rPr>
              <a:t>when a donor or auditor asks “show me the source”, the answer already exists.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Rectangle 16"/>
          <p:cNvSpPr/>
          <p:nvPr/>
        </p:nvSpPr>
        <p:spPr>
          <a:xfrm>
            <a:off x="567000" y="5358240"/>
            <a:ext cx="63360" cy="43812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3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4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6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SIGNATURE FEATURE 5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Numbers first, narrative second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8" name="TextBox 6"/>
          <p:cNvSpPr/>
          <p:nvPr/>
        </p:nvSpPr>
        <p:spPr>
          <a:xfrm>
            <a:off x="567000" y="1005840"/>
            <a:ext cx="97300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Model objectives, outcomes, outputs and indicators with baselines and targets — then drive the narrative straight from the numbers.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0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1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12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Rounded Rectangle 11"/>
          <p:cNvSpPr/>
          <p:nvPr/>
        </p:nvSpPr>
        <p:spPr>
          <a:xfrm>
            <a:off x="567000" y="1682640"/>
            <a:ext cx="5046840" cy="3528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Why it matters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One structure holds the whole programme: goal, outcomes, outputs, activities.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Indicator results update the report itself, not a parallel spreadsheet.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Tables, charts and period-to-period change are built from verified findings.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The logframe annex, the narrative and the donor template share one source of truth.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Rounded Rectangle 12"/>
          <p:cNvSpPr/>
          <p:nvPr/>
        </p:nvSpPr>
        <p:spPr>
          <a:xfrm>
            <a:off x="567000" y="1682640"/>
            <a:ext cx="504684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6a8f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315" name="Table 13"/>
          <p:cNvGraphicFramePr/>
          <p:nvPr/>
        </p:nvGraphicFramePr>
        <p:xfrm>
          <a:off x="5815440" y="1719000"/>
          <a:ext cx="5807880" cy="1371240"/>
        </p:xfrm>
        <a:graphic>
          <a:graphicData uri="http://schemas.openxmlformats.org/drawingml/2006/table">
            <a:tbl>
              <a:tblPr/>
              <a:tblGrid>
                <a:gridCol w="2262960"/>
                <a:gridCol w="754200"/>
                <a:gridCol w="754200"/>
                <a:gridCol w="829800"/>
                <a:gridCol w="1207080"/>
              </a:tblGrid>
              <a:tr h="32904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Indicator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0c8de6"/>
                        </a:gs>
                        <a:gs pos="100000">
                          <a:srgbClr val="0070c4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Baseline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0c8de6"/>
                        </a:gs>
                        <a:gs pos="100000">
                          <a:srgbClr val="0070c4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Target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0c8de6"/>
                        </a:gs>
                        <a:gs pos="100000">
                          <a:srgbClr val="0070c4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Q3 result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0c8de6"/>
                        </a:gs>
                        <a:gs pos="100000">
                          <a:srgbClr val="0070c4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95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  <a:endParaRPr b="0" lang="en-US" sz="95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0c8de6"/>
                        </a:gs>
                        <a:gs pos="100000">
                          <a:srgbClr val="0070c4"/>
                        </a:gs>
                      </a:gsLst>
                      <a:lin ang="5400000"/>
                    </a:gradFill>
                  </a:tcPr>
                </a:tc>
              </a:tr>
              <a:tr h="34740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1" lang="en-US" sz="12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4.1 Consultations delivered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1,050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1,240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118% of target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34740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1" lang="en-US" sz="12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3.2 Households reached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>
                        <a:alpha val="3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>
                        <a:alpha val="3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2,000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>
                        <a:alpha val="3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1,860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>
                        <a:alpha val="3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93% of target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>
                        <a:alpha val="3000"/>
                      </a:srgbClr>
                    </a:solidFill>
                  </a:tcPr>
                </a:tc>
              </a:tr>
              <a:tr h="34740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1" lang="en-US" sz="12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2.5 Health workers trained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12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40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40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Complete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316" name="Rounded Rectangle 14"/>
          <p:cNvSpPr/>
          <p:nvPr/>
        </p:nvSpPr>
        <p:spPr>
          <a:xfrm>
            <a:off x="5815440" y="3255120"/>
            <a:ext cx="5808600" cy="195624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What happens automatically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Tables and charts are generated from the same verified findings.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Movement against the previous period is shown when one exists.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The narrative explains the movement — it cannot introduce a new figure.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Rounded Rectangle 15"/>
          <p:cNvSpPr/>
          <p:nvPr/>
        </p:nvSpPr>
        <p:spPr>
          <a:xfrm>
            <a:off x="5815440" y="3255120"/>
            <a:ext cx="580860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8" name="TextBox 16"/>
          <p:cNvSpPr/>
          <p:nvPr/>
        </p:nvSpPr>
        <p:spPr>
          <a:xfrm>
            <a:off x="5815440" y="5285160"/>
            <a:ext cx="5808600" cy="12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pc="-1" strike="noStrike">
                <a:solidFill>
                  <a:srgbClr val="94a3b8"/>
                </a:solidFill>
                <a:latin typeface="Calibri"/>
              </a:rPr>
              <a:t>Illustrative figures.</a:t>
            </a:r>
            <a:endParaRPr b="0" lang="en-US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9" name="Rounded Rectangle 17"/>
          <p:cNvSpPr/>
          <p:nvPr/>
        </p:nvSpPr>
        <p:spPr>
          <a:xfrm>
            <a:off x="567000" y="5486400"/>
            <a:ext cx="11057040" cy="43812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Impact:  </a:t>
            </a:r>
            <a:r>
              <a:rPr b="1" lang="en-US" sz="1400" spc="-1" strike="noStrike">
                <a:solidFill>
                  <a:srgbClr val="22d3ee"/>
                </a:solidFill>
                <a:latin typeface="Calibri"/>
              </a:rPr>
              <a:t>narrative, tables and annexes can never disagree — they share one source.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0" name="Rectangle 18"/>
          <p:cNvSpPr/>
          <p:nvPr/>
        </p:nvSpPr>
        <p:spPr>
          <a:xfrm>
            <a:off x="567000" y="5486400"/>
            <a:ext cx="63360" cy="43812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2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3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4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5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SIGNATURE FEATURE 6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Deliverables in the formats funders ask for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TextBox 6"/>
          <p:cNvSpPr/>
          <p:nvPr/>
        </p:nvSpPr>
        <p:spPr>
          <a:xfrm>
            <a:off x="567000" y="1005840"/>
            <a:ext cx="97300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PDF, DOCX, XLSX and ZIP produce from one structured workspace, rendered into the donor's own template — with review and approval gates before release.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9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13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Rounded Rectangle 11"/>
          <p:cNvSpPr/>
          <p:nvPr/>
        </p:nvSpPr>
        <p:spPr>
          <a:xfrm>
            <a:off x="567000" y="1682640"/>
            <a:ext cx="5046840" cy="3528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What the team receives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PDF, DOCX, XLSX and ZIP from one workspace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Output rendered into the donor's own template and headings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Internal drafts stay marked as drafts; finals are sealed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Every export recorded in history with its version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One repeatable pack per funder, every period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Rounded Rectangle 12"/>
          <p:cNvSpPr/>
          <p:nvPr/>
        </p:nvSpPr>
        <p:spPr>
          <a:xfrm>
            <a:off x="567000" y="1682640"/>
            <a:ext cx="504684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4" name="Rounded Rectangle 13"/>
          <p:cNvSpPr/>
          <p:nvPr/>
        </p:nvSpPr>
        <p:spPr>
          <a:xfrm>
            <a:off x="5815440" y="1682640"/>
            <a:ext cx="2830680" cy="64836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f1f5f9"/>
                </a:solidFill>
                <a:latin typeface="Calibri"/>
              </a:rPr>
              <a:t>PDF  Final report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</a:rPr>
              <a:t>Print-ready, watermarked until approved.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Rounded Rectangle 14"/>
          <p:cNvSpPr/>
          <p:nvPr/>
        </p:nvSpPr>
        <p:spPr>
          <a:xfrm>
            <a:off x="5815440" y="1682640"/>
            <a:ext cx="49680" cy="64836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6" name="Rounded Rectangle 15"/>
          <p:cNvSpPr/>
          <p:nvPr/>
        </p:nvSpPr>
        <p:spPr>
          <a:xfrm>
            <a:off x="8793360" y="1682640"/>
            <a:ext cx="2830680" cy="64836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f1f5f9"/>
                </a:solidFill>
                <a:latin typeface="Calibri"/>
              </a:rPr>
              <a:t>DOCX  Editable narrative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</a:rPr>
              <a:t>For funders who want to leave comments.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Rounded Rectangle 16"/>
          <p:cNvSpPr/>
          <p:nvPr/>
        </p:nvSpPr>
        <p:spPr>
          <a:xfrm>
            <a:off x="8793360" y="1682640"/>
            <a:ext cx="49680" cy="64836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8" name="Rounded Rectangle 17"/>
          <p:cNvSpPr/>
          <p:nvPr/>
        </p:nvSpPr>
        <p:spPr>
          <a:xfrm>
            <a:off x="5815440" y="2477880"/>
            <a:ext cx="2830680" cy="64836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f1f5f9"/>
                </a:solidFill>
                <a:latin typeface="Calibri"/>
              </a:rPr>
              <a:t>XLSX  Indicator table &amp; checklist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</a:rPr>
              <a:t>Results and compliance, as the donor asks.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Rounded Rectangle 18"/>
          <p:cNvSpPr/>
          <p:nvPr/>
        </p:nvSpPr>
        <p:spPr>
          <a:xfrm>
            <a:off x="5815440" y="2477880"/>
            <a:ext cx="49680" cy="64836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Rounded Rectangle 19"/>
          <p:cNvSpPr/>
          <p:nvPr/>
        </p:nvSpPr>
        <p:spPr>
          <a:xfrm>
            <a:off x="8793360" y="2477880"/>
            <a:ext cx="2830680" cy="64836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f1f5f9"/>
                </a:solidFill>
                <a:latin typeface="Calibri"/>
              </a:rPr>
              <a:t>ZIP  Full evidence pack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950" spc="-1" strike="noStrike">
                <a:solidFill>
                  <a:srgbClr val="cbd5e1"/>
                </a:solidFill>
                <a:latin typeface="Calibri"/>
              </a:rPr>
              <a:t>Report, annexes, sheets and photos.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Rounded Rectangle 20"/>
          <p:cNvSpPr/>
          <p:nvPr/>
        </p:nvSpPr>
        <p:spPr>
          <a:xfrm>
            <a:off x="8793360" y="2477880"/>
            <a:ext cx="49680" cy="64836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4d399"/>
              </a:gs>
              <a:gs pos="100000">
                <a:srgbClr val="6ee7b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2" name="Rounded Rectangle 21"/>
          <p:cNvSpPr/>
          <p:nvPr/>
        </p:nvSpPr>
        <p:spPr>
          <a:xfrm>
            <a:off x="5815440" y="3273480"/>
            <a:ext cx="5808600" cy="19378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Approval before release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Section reviewer sign-off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Final approver sign-off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The sealed version records who approved it, and when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Rounded Rectangle 22"/>
          <p:cNvSpPr/>
          <p:nvPr/>
        </p:nvSpPr>
        <p:spPr>
          <a:xfrm>
            <a:off x="5815440" y="3273480"/>
            <a:ext cx="580860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a78bfa"/>
              </a:gs>
              <a:gs pos="100000">
                <a:srgbClr val="c4b5fd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4" name="Rounded Rectangle 23"/>
          <p:cNvSpPr/>
          <p:nvPr/>
        </p:nvSpPr>
        <p:spPr>
          <a:xfrm>
            <a:off x="567000" y="5358240"/>
            <a:ext cx="11057040" cy="43812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050" spc="-1" strike="noStrike">
                <a:solidFill>
                  <a:srgbClr val="ffffff"/>
                </a:solidFill>
                <a:latin typeface="Calibri"/>
              </a:rPr>
              <a:t>Impact:  </a:t>
            </a:r>
            <a:r>
              <a:rPr b="1" lang="en-US" sz="1050" spc="-1" strike="noStrike">
                <a:solidFill>
                  <a:srgbClr val="22d3ee"/>
                </a:solidFill>
                <a:latin typeface="Calibri"/>
              </a:rPr>
              <a:t>one pack per funder, instead of a week of copy-paste.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Rectangle 24"/>
          <p:cNvSpPr/>
          <p:nvPr/>
        </p:nvSpPr>
        <p:spPr>
          <a:xfrm>
            <a:off x="567000" y="5358240"/>
            <a:ext cx="63360" cy="43812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7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48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9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0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VERSION 2.0 FLAGSHIP · AGENT MEMORY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It learns your house style. It never learns your numbers.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TextBox 6"/>
          <p:cNvSpPr/>
          <p:nvPr/>
        </p:nvSpPr>
        <p:spPr>
          <a:xfrm>
            <a:off x="567000" y="1005840"/>
            <a:ext cx="97300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Agent Memory turns an organisation's own edits into writing guidance — tone, structure, recurring phrasing — while figures, dates, targets and commitments stay out of its reach.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4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5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14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7" name="Rounded Rectangle 11"/>
          <p:cNvSpPr/>
          <p:nvPr/>
        </p:nvSpPr>
        <p:spPr>
          <a:xfrm>
            <a:off x="567000" y="1682640"/>
            <a:ext cx="5046840" cy="16999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What it learns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Tone of voice and register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How sections are ordered and opened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Recurring phrasing your reviewers keep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What reviewers consistently change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Rounded Rectangle 12"/>
          <p:cNvSpPr/>
          <p:nvPr/>
        </p:nvSpPr>
        <p:spPr>
          <a:xfrm>
            <a:off x="567000" y="1682640"/>
            <a:ext cx="504684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a78bfa"/>
              </a:gs>
              <a:gs pos="100000">
                <a:srgbClr val="c4b5fd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59" name="Rounded Rectangle 13"/>
          <p:cNvSpPr/>
          <p:nvPr/>
        </p:nvSpPr>
        <p:spPr>
          <a:xfrm>
            <a:off x="567000" y="3511440"/>
            <a:ext cx="5046840" cy="16999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What it never learns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Figures, percentages and dates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Targets, commitments or donor obligations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Beneficiary names or any personal data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Anything from another organisation's workspace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Rounded Rectangle 14"/>
          <p:cNvSpPr/>
          <p:nvPr/>
        </p:nvSpPr>
        <p:spPr>
          <a:xfrm>
            <a:off x="567000" y="3511440"/>
            <a:ext cx="504684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f87171"/>
              </a:gs>
              <a:gs pos="100000">
                <a:srgbClr val="fca5a5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1" name="Rounded Rectangle 15"/>
          <p:cNvSpPr/>
          <p:nvPr/>
        </p:nvSpPr>
        <p:spPr>
          <a:xfrm>
            <a:off x="5815440" y="1682640"/>
            <a:ext cx="1838160" cy="18280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LAYER 1  Extraction filter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</a:rPr>
              <a:t>Any edit containing a number or a date is discarded before memory is even considered.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Rounded Rectangle 16"/>
          <p:cNvSpPr/>
          <p:nvPr/>
        </p:nvSpPr>
        <p:spPr>
          <a:xfrm>
            <a:off x="5815440" y="1682640"/>
            <a:ext cx="49680" cy="18280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3" name="Rounded Rectangle 17"/>
          <p:cNvSpPr/>
          <p:nvPr/>
        </p:nvSpPr>
        <p:spPr>
          <a:xfrm>
            <a:off x="7800840" y="1682640"/>
            <a:ext cx="1838160" cy="18280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LAYER 2  Entity invariant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</a:rPr>
              <a:t>A writing memory that contains a figure cannot be constructed at all — enforced in the domain model.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Rounded Rectangle 18"/>
          <p:cNvSpPr/>
          <p:nvPr/>
        </p:nvSpPr>
        <p:spPr>
          <a:xfrm>
            <a:off x="7800840" y="1682640"/>
            <a:ext cx="49680" cy="18280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5" name="Rounded Rectangle 19"/>
          <p:cNvSpPr/>
          <p:nvPr/>
        </p:nvSpPr>
        <p:spPr>
          <a:xfrm>
            <a:off x="9785880" y="1682640"/>
            <a:ext cx="1838160" cy="18280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LAYER 3  Human approval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200" spc="-1" strike="noStrike">
                <a:solidFill>
                  <a:srgbClr val="cbd5e1"/>
                </a:solidFill>
                <a:latin typeface="Calibri"/>
              </a:rPr>
              <a:t>Nothing becomes active guidance until a person reviews and approves it.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6" name="Rounded Rectangle 20"/>
          <p:cNvSpPr/>
          <p:nvPr/>
        </p:nvSpPr>
        <p:spPr>
          <a:xfrm>
            <a:off x="9785880" y="1682640"/>
            <a:ext cx="49680" cy="18280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4d399"/>
              </a:gs>
              <a:gs pos="100000">
                <a:srgbClr val="6ee7b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7" name="Rounded Rectangle 21"/>
          <p:cNvSpPr/>
          <p:nvPr/>
        </p:nvSpPr>
        <p:spPr>
          <a:xfrm>
            <a:off x="5815440" y="3657600"/>
            <a:ext cx="5808600" cy="155376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Where it stands today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Shipped with Version 2.0; off by default for every tenant.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Scoped to one organisation, reviewable and revocable at any time.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Style only — no cross-tenant learning, ever.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Rounded Rectangle 22"/>
          <p:cNvSpPr/>
          <p:nvPr/>
        </p:nvSpPr>
        <p:spPr>
          <a:xfrm>
            <a:off x="5815440" y="3657600"/>
            <a:ext cx="580860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a78bfa"/>
              </a:gs>
              <a:gs pos="100000">
                <a:srgbClr val="c4b5fd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69" name="Rounded Rectangle 23"/>
          <p:cNvSpPr/>
          <p:nvPr/>
        </p:nvSpPr>
        <p:spPr>
          <a:xfrm>
            <a:off x="567000" y="5358240"/>
            <a:ext cx="11057040" cy="43812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Why it matters:  </a:t>
            </a:r>
            <a:r>
              <a:rPr b="1" lang="en-US" sz="1400" spc="-1" strike="noStrike">
                <a:solidFill>
                  <a:srgbClr val="22d3ee"/>
                </a:solidFill>
                <a:latin typeface="Calibri"/>
              </a:rPr>
              <a:t>from the second reporting period, the first draft already sounds like your organisation.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Rectangle 24"/>
          <p:cNvSpPr/>
          <p:nvPr/>
        </p:nvSpPr>
        <p:spPr>
          <a:xfrm>
            <a:off x="567000" y="5358240"/>
            <a:ext cx="63360" cy="43812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2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3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4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5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RESPONSIBLE AI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A human always holds the approve button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7" name="TextBox 6"/>
          <p:cNvSpPr/>
          <p:nvPr/>
        </p:nvSpPr>
        <p:spPr>
          <a:xfrm>
            <a:off x="567000" y="1005840"/>
            <a:ext cx="9730080" cy="19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150" spc="-1" strike="noStrike">
                <a:solidFill>
                  <a:srgbClr val="cbd5e1"/>
                </a:solidFill>
                <a:latin typeface="Calibri"/>
              </a:rPr>
              <a:t>AI accelerates drafting. Accountability stays with the organisation — and every AI output can be reviewed after the fact.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79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0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15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2" name="Rounded Rectangle 11"/>
          <p:cNvSpPr/>
          <p:nvPr/>
        </p:nvSpPr>
        <p:spPr>
          <a:xfrm>
            <a:off x="567000" y="1682640"/>
            <a:ext cx="2640240" cy="223956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◆  </a:t>
            </a: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Reviewable AI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Model, prompt version and source references are stored with every AI output.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Rounded Rectangle 12"/>
          <p:cNvSpPr/>
          <p:nvPr/>
        </p:nvSpPr>
        <p:spPr>
          <a:xfrm>
            <a:off x="567000" y="1682640"/>
            <a:ext cx="49680" cy="223956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a78bfa"/>
              </a:gs>
              <a:gs pos="100000">
                <a:srgbClr val="c4b5fd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4" name="Rounded Rectangle 13"/>
          <p:cNvSpPr/>
          <p:nvPr/>
        </p:nvSpPr>
        <p:spPr>
          <a:xfrm>
            <a:off x="3372480" y="1682640"/>
            <a:ext cx="2640240" cy="223956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◆  </a:t>
            </a: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Human approval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Nothing reaches a funder without a person's sign-off — sections stay editable throughout.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Rounded Rectangle 14"/>
          <p:cNvSpPr/>
          <p:nvPr/>
        </p:nvSpPr>
        <p:spPr>
          <a:xfrm>
            <a:off x="3372480" y="1682640"/>
            <a:ext cx="49680" cy="223956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6" name="Rounded Rectangle 15"/>
          <p:cNvSpPr/>
          <p:nvPr/>
        </p:nvSpPr>
        <p:spPr>
          <a:xfrm>
            <a:off x="6178320" y="1682640"/>
            <a:ext cx="2640240" cy="223956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◆  </a:t>
            </a: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Numbers are not generated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Tables, charts and period-to-period changes are computed from verified findings.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7" name="Rounded Rectangle 16"/>
          <p:cNvSpPr/>
          <p:nvPr/>
        </p:nvSpPr>
        <p:spPr>
          <a:xfrm>
            <a:off x="6178320" y="1682640"/>
            <a:ext cx="49680" cy="223956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88" name="Rounded Rectangle 17"/>
          <p:cNvSpPr/>
          <p:nvPr/>
        </p:nvSpPr>
        <p:spPr>
          <a:xfrm>
            <a:off x="8983800" y="1682640"/>
            <a:ext cx="2640240" cy="223956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◆  </a:t>
            </a: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Never blocked by AI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If a draft call fails or a claim cannot be grounded, the section falls back to deterministic text.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9" name="Rounded Rectangle 18"/>
          <p:cNvSpPr/>
          <p:nvPr/>
        </p:nvSpPr>
        <p:spPr>
          <a:xfrm>
            <a:off x="8983800" y="1682640"/>
            <a:ext cx="49680" cy="223956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4d399"/>
              </a:gs>
              <a:gs pos="100000">
                <a:srgbClr val="6ee7b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0" name="Rounded Rectangle 19"/>
          <p:cNvSpPr/>
          <p:nvPr/>
        </p:nvSpPr>
        <p:spPr>
          <a:xfrm>
            <a:off x="567000" y="4087440"/>
            <a:ext cx="11057040" cy="8406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37600" rIns="201240" tIns="45000" bIns="45000" anchor="ctr">
            <a:noAutofit/>
          </a:bodyPr>
          <a:p>
            <a:pPr defTabSz="457200">
              <a:lnSpc>
                <a:spcPct val="106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The risk in AI-assisted reporting is an unsupported claim. Our answer is architectural: the model never invents a figure, and every number in a report can be traced back to a source.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Rectangle 20"/>
          <p:cNvSpPr/>
          <p:nvPr/>
        </p:nvSpPr>
        <p:spPr>
          <a:xfrm>
            <a:off x="567000" y="4087440"/>
            <a:ext cx="63360" cy="84060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2" name="Rounded Rectangle 21"/>
          <p:cNvSpPr/>
          <p:nvPr/>
        </p:nvSpPr>
        <p:spPr>
          <a:xfrm>
            <a:off x="567000" y="5074920"/>
            <a:ext cx="11057040" cy="43812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What the board should take away:  </a:t>
            </a:r>
            <a:r>
              <a:rPr b="1" lang="en-US" sz="1400" spc="-1" strike="noStrike">
                <a:solidFill>
                  <a:srgbClr val="22d3ee"/>
                </a:solidFill>
                <a:latin typeface="Calibri"/>
              </a:rPr>
              <a:t>we are selling a governed drafting assistant, not an autonomous author.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3" name="Rectangle 22"/>
          <p:cNvSpPr/>
          <p:nvPr/>
        </p:nvSpPr>
        <p:spPr>
          <a:xfrm>
            <a:off x="567000" y="5074920"/>
            <a:ext cx="63360" cy="43812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5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6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7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98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TRUST &amp; SECURITY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9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Built for sensitive programme and grant data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TextBox 6"/>
          <p:cNvSpPr/>
          <p:nvPr/>
        </p:nvSpPr>
        <p:spPr>
          <a:xfrm>
            <a:off x="567000" y="1005840"/>
            <a:ext cx="9730080" cy="43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DonorDesk protects participant, beneficiary, research and programme information through tenant isolation, controlled access, traceable AI outputs and immutable audit records.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2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3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16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5" name="Rounded Rectangle 11"/>
          <p:cNvSpPr/>
          <p:nvPr/>
        </p:nvSpPr>
        <p:spPr>
          <a:xfrm>
            <a:off x="567000" y="1682640"/>
            <a:ext cx="2640240" cy="20476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◆  </a:t>
            </a: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Multi-tenant by design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Tenant isolation is enforced in the database, so no organisation can ever see another's data.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Rounded Rectangle 12"/>
          <p:cNvSpPr/>
          <p:nvPr/>
        </p:nvSpPr>
        <p:spPr>
          <a:xfrm>
            <a:off x="567000" y="1682640"/>
            <a:ext cx="49680" cy="2047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7" name="Rounded Rectangle 13"/>
          <p:cNvSpPr/>
          <p:nvPr/>
        </p:nvSpPr>
        <p:spPr>
          <a:xfrm>
            <a:off x="3372480" y="1682640"/>
            <a:ext cx="2640240" cy="20476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◆  </a:t>
            </a: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Immutable audit log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Every change is written to a chained, verifiable trail — ready for internal compliance and donor review.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Rounded Rectangle 14"/>
          <p:cNvSpPr/>
          <p:nvPr/>
        </p:nvSpPr>
        <p:spPr>
          <a:xfrm>
            <a:off x="3372480" y="1682640"/>
            <a:ext cx="49680" cy="2047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6a8f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09" name="Rounded Rectangle 15"/>
          <p:cNvSpPr/>
          <p:nvPr/>
        </p:nvSpPr>
        <p:spPr>
          <a:xfrm>
            <a:off x="6178320" y="1682640"/>
            <a:ext cx="2640240" cy="20476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◆  </a:t>
            </a: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Reviewable AI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Model, prompt version and source references are stored with every AI output, so nothing is written without a trace.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Rounded Rectangle 16"/>
          <p:cNvSpPr/>
          <p:nvPr/>
        </p:nvSpPr>
        <p:spPr>
          <a:xfrm>
            <a:off x="6178320" y="1682640"/>
            <a:ext cx="49680" cy="2047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1" name="Rounded Rectangle 17"/>
          <p:cNvSpPr/>
          <p:nvPr/>
        </p:nvSpPr>
        <p:spPr>
          <a:xfrm>
            <a:off x="8983800" y="1682640"/>
            <a:ext cx="2640240" cy="204768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◆  </a:t>
            </a: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Least-privilege roles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Project-level assignments keep access tight, from field staff to approvers and administrators.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Rounded Rectangle 18"/>
          <p:cNvSpPr/>
          <p:nvPr/>
        </p:nvSpPr>
        <p:spPr>
          <a:xfrm>
            <a:off x="8983800" y="1682640"/>
            <a:ext cx="49680" cy="2047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3" name="Rounded Rectangle 19"/>
          <p:cNvSpPr/>
          <p:nvPr/>
        </p:nvSpPr>
        <p:spPr>
          <a:xfrm>
            <a:off x="567000" y="3895200"/>
            <a:ext cx="11057040" cy="14623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Also in place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Encryption at rest and secure uploads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Confidential labels and PII warnings, with optional anonymisation of beneficiary lists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Version history and export history for the whole grant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Bring-your-own storage: field files can stay in the organisation's own Google Drive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Rounded Rectangle 20"/>
          <p:cNvSpPr/>
          <p:nvPr/>
        </p:nvSpPr>
        <p:spPr>
          <a:xfrm>
            <a:off x="567000" y="3895200"/>
            <a:ext cx="1105704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4d399"/>
              </a:gs>
              <a:gs pos="100000">
                <a:srgbClr val="6ee7b7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5" name="Rounded Rectangle 21"/>
          <p:cNvSpPr/>
          <p:nvPr/>
        </p:nvSpPr>
        <p:spPr>
          <a:xfrm>
            <a:off x="567000" y="5504760"/>
            <a:ext cx="11057040" cy="511200"/>
          </a:xfrm>
          <a:prstGeom prst="roundRect">
            <a:avLst>
              <a:gd name="adj" fmla="val 8000"/>
            </a:avLst>
          </a:prstGeom>
          <a:solidFill>
            <a:srgbClr val="fbbf24">
              <a:alpha val="14000"/>
            </a:srgbClr>
          </a:solidFill>
          <a:ln>
            <a:solidFill>
              <a:srgbClr val="fbbf24">
                <a:alpha val="35000"/>
              </a:srgbClr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0" lang="en-US" sz="1400" spc="-1" strike="noStrike">
                <a:solidFill>
                  <a:srgbClr val="fcd34d"/>
                </a:solidFill>
                <a:latin typeface="Calibri"/>
              </a:rPr>
              <a:t>▲  </a:t>
            </a:r>
            <a:r>
              <a:rPr b="0" lang="en-US" sz="1400" spc="-1" strike="noStrike">
                <a:solidFill>
                  <a:srgbClr val="fcd34d"/>
                </a:solidFill>
                <a:latin typeface="Calibri"/>
              </a:rPr>
              <a:t>In progress before scale: encrypted off-host backups with restore tests, availability monitoring and alerting, and the tenant-isolation step baked into every release.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Rectangle 22"/>
          <p:cNvSpPr/>
          <p:nvPr/>
        </p:nvSpPr>
        <p:spPr>
          <a:xfrm>
            <a:off x="567000" y="5504760"/>
            <a:ext cx="63360" cy="511200"/>
          </a:xfrm>
          <a:prstGeom prst="rect">
            <a:avLst/>
          </a:prstGeom>
          <a:gradFill rotWithShape="0">
            <a:gsLst>
              <a:gs pos="0">
                <a:srgbClr val="fbbf24"/>
              </a:gs>
              <a:gs pos="100000">
                <a:srgbClr val="fde68a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18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9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0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1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WHY WE WIN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Not another AI writer. Not another NGO ERP.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Box 6"/>
          <p:cNvSpPr/>
          <p:nvPr/>
        </p:nvSpPr>
        <p:spPr>
          <a:xfrm>
            <a:off x="567000" y="1005840"/>
            <a:ext cx="97300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Generic tools can generate text. Systems of record can store data. Neither can prove that a specific claim is supported by evidence the donor accepts.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5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26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7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17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Rounded Rectangle 11"/>
          <p:cNvSpPr/>
          <p:nvPr/>
        </p:nvSpPr>
        <p:spPr>
          <a:xfrm>
            <a:off x="567000" y="1682640"/>
            <a:ext cx="3563280" cy="23400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f1f5f9"/>
                </a:solidFill>
                <a:latin typeface="Calibri"/>
              </a:rPr>
              <a:t>×  Generic AI assistants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Can write prose. No logframe, no evidence library, no compliance state, no approval trail — and no way to show the funder where a number came from.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Rounded Rectangle 12"/>
          <p:cNvSpPr/>
          <p:nvPr/>
        </p:nvSpPr>
        <p:spPr>
          <a:xfrm>
            <a:off x="567000" y="1682640"/>
            <a:ext cx="49680" cy="234000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94a3b8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0" name="Rounded Rectangle 13"/>
          <p:cNvSpPr/>
          <p:nvPr/>
        </p:nvSpPr>
        <p:spPr>
          <a:xfrm>
            <a:off x="4313880" y="1682640"/>
            <a:ext cx="3563280" cy="23400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f1f5f9"/>
                </a:solidFill>
                <a:latin typeface="Calibri"/>
              </a:rPr>
              <a:t>×  NGO ERP and MIS platforms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Record delivery, finance and procurement well, but reporting still leaves the system and is reassembled by hand.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Rounded Rectangle 14"/>
          <p:cNvSpPr/>
          <p:nvPr/>
        </p:nvSpPr>
        <p:spPr>
          <a:xfrm>
            <a:off x="4313880" y="1682640"/>
            <a:ext cx="49680" cy="234000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fbbf24"/>
              </a:gs>
              <a:gs pos="100000">
                <a:srgbClr val="fde68a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2" name="Rounded Rectangle 15"/>
          <p:cNvSpPr/>
          <p:nvPr/>
        </p:nvSpPr>
        <p:spPr>
          <a:xfrm>
            <a:off x="8060760" y="1682640"/>
            <a:ext cx="3563280" cy="23400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200" spc="-1" strike="noStrike">
                <a:solidFill>
                  <a:srgbClr val="f1f5f9"/>
                </a:solidFill>
                <a:latin typeface="Calibri"/>
              </a:rPr>
              <a:t>×  File storage and folder trees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Store documents. No structure, no linking to indicators, no readiness view, no audit trail.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Rounded Rectangle 16"/>
          <p:cNvSpPr/>
          <p:nvPr/>
        </p:nvSpPr>
        <p:spPr>
          <a:xfrm>
            <a:off x="8060760" y="1682640"/>
            <a:ext cx="49680" cy="234000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94a3b8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4" name="Rounded Rectangle 17"/>
          <p:cNvSpPr/>
          <p:nvPr/>
        </p:nvSpPr>
        <p:spPr>
          <a:xfrm>
            <a:off x="567000" y="4187880"/>
            <a:ext cx="11057040" cy="45648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Where DonorDesk sits:  </a:t>
            </a:r>
            <a:r>
              <a:rPr b="1" lang="en-US" sz="1400" spc="-1" strike="noStrike">
                <a:solidFill>
                  <a:srgbClr val="22d3ee"/>
                </a:solidFill>
                <a:latin typeface="Calibri"/>
              </a:rPr>
              <a:t>delivery records → evidence → donor requirements → AI drafting → human approval → export, in one auditable path.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Rectangle 18"/>
          <p:cNvSpPr/>
          <p:nvPr/>
        </p:nvSpPr>
        <p:spPr>
          <a:xfrm>
            <a:off x="567000" y="4187880"/>
            <a:ext cx="63360" cy="4564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6" name="Rounded Rectangle 19"/>
          <p:cNvSpPr/>
          <p:nvPr/>
        </p:nvSpPr>
        <p:spPr>
          <a:xfrm>
            <a:off x="567000" y="4809600"/>
            <a:ext cx="2640240" cy="12978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01  Sector reporting packs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Nutrition, food security, WASH, protection, education.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Rounded Rectangle 20"/>
          <p:cNvSpPr/>
          <p:nvPr/>
        </p:nvSpPr>
        <p:spPr>
          <a:xfrm>
            <a:off x="567000" y="4809600"/>
            <a:ext cx="49680" cy="129780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38" name="Rounded Rectangle 21"/>
          <p:cNvSpPr/>
          <p:nvPr/>
        </p:nvSpPr>
        <p:spPr>
          <a:xfrm>
            <a:off x="3372480" y="4809600"/>
            <a:ext cx="2640240" cy="12978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02  Donor template library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Every review that structures a funder's template becomes reusable.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Rounded Rectangle 22"/>
          <p:cNvSpPr/>
          <p:nvPr/>
        </p:nvSpPr>
        <p:spPr>
          <a:xfrm>
            <a:off x="3372480" y="4809600"/>
            <a:ext cx="49680" cy="129780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0" name="Rounded Rectangle 23"/>
          <p:cNvSpPr/>
          <p:nvPr/>
        </p:nvSpPr>
        <p:spPr>
          <a:xfrm>
            <a:off x="6178320" y="4809600"/>
            <a:ext cx="2640240" cy="12978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03  The evidence graph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Claims must reconcile to records — the part that is hard to copy.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Rounded Rectangle 24"/>
          <p:cNvSpPr/>
          <p:nvPr/>
        </p:nvSpPr>
        <p:spPr>
          <a:xfrm>
            <a:off x="6178320" y="4809600"/>
            <a:ext cx="49680" cy="129780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6a8f6"/>
              </a:gs>
              <a:gs pos="100000">
                <a:srgbClr val="7cc7fb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2" name="Rounded Rectangle 25"/>
          <p:cNvSpPr/>
          <p:nvPr/>
        </p:nvSpPr>
        <p:spPr>
          <a:xfrm>
            <a:off x="8983800" y="4809600"/>
            <a:ext cx="2640240" cy="129780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64520" rIns="128160" tIns="118800" bIns="91440" anchor="t">
            <a:noAutofit/>
          </a:bodyPr>
          <a:p>
            <a:pPr defTabSz="457200">
              <a:lnSpc>
                <a:spcPct val="98000"/>
              </a:lnSpc>
              <a:spcAft>
                <a:spcPts val="400"/>
              </a:spcAft>
            </a:pPr>
            <a:r>
              <a:rPr b="1" lang="en-US" sz="1150" spc="-1" strike="noStrike">
                <a:solidFill>
                  <a:srgbClr val="f1f5f9"/>
                </a:solidFill>
                <a:latin typeface="Calibri"/>
              </a:rPr>
              <a:t>04  Switching cost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Years of evidence, versions and audit history live inside the workspace.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Rounded Rectangle 26"/>
          <p:cNvSpPr/>
          <p:nvPr/>
        </p:nvSpPr>
        <p:spPr>
          <a:xfrm>
            <a:off x="8983800" y="4809600"/>
            <a:ext cx="49680" cy="129780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a78bfa"/>
              </a:gs>
              <a:gs pos="100000">
                <a:srgbClr val="c4b5fd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5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46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7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48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STATUS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9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Version 2.0 is live in production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Box 6"/>
          <p:cNvSpPr/>
          <p:nvPr/>
        </p:nvSpPr>
        <p:spPr>
          <a:xfrm>
            <a:off x="567000" y="1005840"/>
            <a:ext cx="97300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Deployed, verified and reversible today — with the remaining operational gaps listed here rather than discovered later.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2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3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18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Rounded Rectangle 11"/>
          <p:cNvSpPr/>
          <p:nvPr/>
        </p:nvSpPr>
        <p:spPr>
          <a:xfrm>
            <a:off x="567000" y="1682640"/>
            <a:ext cx="5046840" cy="3528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In production today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donordesk.online served over HTTPS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API, web application and AI workers running as supervised services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Tenant isolation verified against the production database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Tiers, checkout and live billing provider in production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SuperAdmin control plane for tenants, plans and providers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One release path with a pre-deploy snapshot and rollback target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Rounded Rectangle 12"/>
          <p:cNvSpPr/>
          <p:nvPr/>
        </p:nvSpPr>
        <p:spPr>
          <a:xfrm>
            <a:off x="567000" y="1682640"/>
            <a:ext cx="504684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34d399"/>
              </a:gs>
              <a:gs pos="100000">
                <a:srgbClr val="6ee7b7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7" name="Rounded Rectangle 13"/>
          <p:cNvSpPr/>
          <p:nvPr/>
        </p:nvSpPr>
        <p:spPr>
          <a:xfrm>
            <a:off x="5815440" y="1682640"/>
            <a:ext cx="5808600" cy="16999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Measured before every release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25 / 25 report-quality acceptance cases pass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55 / 55 AI worker tests pass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136 / 137 infrastructure tests pass (1 intentionally skipped)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Full typecheck and build clean across all packages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Rounded Rectangle 14"/>
          <p:cNvSpPr/>
          <p:nvPr/>
        </p:nvSpPr>
        <p:spPr>
          <a:xfrm>
            <a:off x="5815440" y="1682640"/>
            <a:ext cx="580860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59" name="Rounded Rectangle 15"/>
          <p:cNvSpPr/>
          <p:nvPr/>
        </p:nvSpPr>
        <p:spPr>
          <a:xfrm>
            <a:off x="5815440" y="3511440"/>
            <a:ext cx="5808600" cy="16999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Operational gaps we are closing next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fbbf24"/>
                </a:solidFill>
                <a:latin typeface="Calibri"/>
              </a:rPr>
              <a:t>▲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Encrypted off-host backups with a documented restore test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fbbf24"/>
                </a:solidFill>
                <a:latin typeface="Calibri"/>
              </a:rPr>
              <a:t>▲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Availability monitoring with automatic restart and alerting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fbbf24"/>
                </a:solidFill>
                <a:latin typeface="Calibri"/>
              </a:rPr>
              <a:t>▲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Queue-backed background jobs for scale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300" spc="-1" strike="noStrike">
                <a:solidFill>
                  <a:srgbClr val="fbbf24"/>
                </a:solidFill>
                <a:latin typeface="Calibri"/>
              </a:rPr>
              <a:t>▲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Transactional email for invitations and deadline reminders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Rounded Rectangle 16"/>
          <p:cNvSpPr/>
          <p:nvPr/>
        </p:nvSpPr>
        <p:spPr>
          <a:xfrm>
            <a:off x="5815440" y="3511440"/>
            <a:ext cx="580860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fbbf24"/>
              </a:gs>
              <a:gs pos="100000">
                <a:srgbClr val="fde68a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1" name="Rounded Rectangle 17"/>
          <p:cNvSpPr/>
          <p:nvPr/>
        </p:nvSpPr>
        <p:spPr>
          <a:xfrm>
            <a:off x="567000" y="5358240"/>
            <a:ext cx="11057040" cy="43812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Institutional position:  </a:t>
            </a:r>
            <a:r>
              <a:rPr b="1" lang="en-US" sz="1400" spc="-1" strike="noStrike">
                <a:solidFill>
                  <a:srgbClr val="22d3ee"/>
                </a:solidFill>
                <a:latin typeface="Calibri"/>
              </a:rPr>
              <a:t>the product risk is behind us; what remains is operational hardening, not invention.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Rectangle 18"/>
          <p:cNvSpPr/>
          <p:nvPr/>
        </p:nvSpPr>
        <p:spPr>
          <a:xfrm>
            <a:off x="567000" y="5358240"/>
            <a:ext cx="63360" cy="43812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4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5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6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67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ROADMAP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Three horizons, each with an exit test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9" name="TextBox 6"/>
          <p:cNvSpPr/>
          <p:nvPr/>
        </p:nvSpPr>
        <p:spPr>
          <a:xfrm>
            <a:off x="567000" y="1005840"/>
            <a:ext cx="9730080" cy="21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What we are proving now, what makes it commercial, and what makes it the default choice for grant-funded reporting.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1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2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19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Rectangle 11"/>
          <p:cNvSpPr/>
          <p:nvPr/>
        </p:nvSpPr>
        <p:spPr>
          <a:xfrm>
            <a:off x="567000" y="1956960"/>
            <a:ext cx="11057040" cy="28440"/>
          </a:xfrm>
          <a:prstGeom prst="rect">
            <a:avLst/>
          </a:prstGeom>
          <a:solidFill>
            <a:srgbClr val="ffffff">
              <a:alpha val="16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5840" bIns="-158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75" name="Rounded Rectangle 12"/>
          <p:cNvSpPr/>
          <p:nvPr/>
        </p:nvSpPr>
        <p:spPr>
          <a:xfrm>
            <a:off x="567000" y="1682640"/>
            <a:ext cx="3551040" cy="730800"/>
          </a:xfrm>
          <a:prstGeom prst="roundRect">
            <a:avLst>
              <a:gd name="adj" fmla="val 7000"/>
            </a:avLst>
          </a:prstGeom>
          <a:solidFill>
            <a:srgbClr val="0c8de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rIns="128160" tIns="64080" bIns="6408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NOW · 0–3 MONTHS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98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Prove it in the field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Rounded Rectangle 13"/>
          <p:cNvSpPr/>
          <p:nvPr/>
        </p:nvSpPr>
        <p:spPr>
          <a:xfrm>
            <a:off x="567000" y="2541960"/>
            <a:ext cx="3551040" cy="2943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5520" rIns="128160" tIns="128160" bIns="91440" anchor="t">
            <a:noAutofit/>
          </a:bodyPr>
          <a:p>
            <a:pPr defTabSz="457200">
              <a:lnSpc>
                <a:spcPct val="106000"/>
              </a:lnSpc>
              <a:spcAft>
                <a:spcPts val="499"/>
              </a:spcAft>
            </a:pPr>
            <a:r>
              <a:rPr b="1" lang="en-US" sz="1300" spc="-1" strike="noStrike">
                <a:solidFill>
                  <a:srgbClr val="7cc7fb"/>
                </a:solidFill>
                <a:latin typeface="Calibri"/>
              </a:rPr>
              <a:t>▪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Pilot with 3–5 NGOs, service-assisted at the start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99"/>
              </a:spcAft>
            </a:pPr>
            <a:r>
              <a:rPr b="1" lang="en-US" sz="1300" spc="-1" strike="noStrike">
                <a:solidFill>
                  <a:srgbClr val="7cc7fb"/>
                </a:solidFill>
                <a:latin typeface="Calibri"/>
              </a:rPr>
              <a:t>▪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Enable AI-assisted drafting for pilot tenants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99"/>
              </a:spcAft>
            </a:pPr>
            <a:r>
              <a:rPr b="1" lang="en-US" sz="1300" spc="-1" strike="noStrike">
                <a:solidFill>
                  <a:srgbClr val="7cc7fb"/>
                </a:solidFill>
                <a:latin typeface="Calibri"/>
              </a:rPr>
              <a:t>▪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Close the operational gaps: backups, monitoring, queue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99"/>
              </a:spcAft>
            </a:pPr>
            <a:r>
              <a:rPr b="1" lang="en-US" sz="1300" spc="-1" strike="noStrike">
                <a:solidFill>
                  <a:srgbClr val="7cc7fb"/>
                </a:solidFill>
                <a:latin typeface="Calibri"/>
              </a:rPr>
              <a:t>▪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Onboarding smooth enough for a first report unaided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99"/>
              </a:spcAft>
            </a:pPr>
            <a:r>
              <a:rPr b="1" lang="en-US" sz="1300" spc="-1" strike="noStrike">
                <a:solidFill>
                  <a:srgbClr val="7cc7fb"/>
                </a:solidFill>
                <a:latin typeface="Calibri"/>
              </a:rPr>
              <a:t>▪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Turn pilot feedback into the repeatable onboarding flow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7" name="Rounded Rectangle 14"/>
          <p:cNvSpPr/>
          <p:nvPr/>
        </p:nvSpPr>
        <p:spPr>
          <a:xfrm>
            <a:off x="567000" y="5559480"/>
            <a:ext cx="3551040" cy="841320"/>
          </a:xfrm>
          <a:prstGeom prst="roundRect">
            <a:avLst>
              <a:gd name="adj" fmla="val 7000"/>
            </a:avLst>
          </a:prstGeom>
          <a:gradFill rotWithShape="0">
            <a:gsLst>
              <a:gs pos="0">
                <a:srgbClr val="22d3ee">
                  <a:alpha val="10000"/>
                </a:srgbClr>
              </a:gs>
              <a:gs pos="100000">
                <a:srgbClr val="22d3ee">
                  <a:alpha val="3000"/>
                </a:srgbClr>
              </a:gs>
            </a:gsLst>
            <a:lin ang="5400000"/>
          </a:gradFill>
          <a:ln>
            <a:solidFill>
              <a:srgbClr val="22d3ee">
                <a:alpha val="25000"/>
              </a:srgbClr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rIns="128160" tIns="64080" bIns="6408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7cc7fb"/>
                </a:solidFill>
                <a:latin typeface="Calibri"/>
              </a:rPr>
              <a:t>EXIT TEST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3000"/>
              </a:lnSpc>
            </a:pP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Three pilots each complete a live reporting period end to end.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Rounded Rectangle 15"/>
          <p:cNvSpPr/>
          <p:nvPr/>
        </p:nvSpPr>
        <p:spPr>
          <a:xfrm>
            <a:off x="4320000" y="1682640"/>
            <a:ext cx="3551040" cy="730800"/>
          </a:xfrm>
          <a:prstGeom prst="roundRect">
            <a:avLst>
              <a:gd name="adj" fmla="val 7000"/>
            </a:avLst>
          </a:prstGeom>
          <a:solidFill>
            <a:srgbClr val="22d3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rIns="128160" tIns="64080" bIns="6408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NEXT · 3–9 MONTHS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8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Make it commercial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Rounded Rectangle 16"/>
          <p:cNvSpPr/>
          <p:nvPr/>
        </p:nvSpPr>
        <p:spPr>
          <a:xfrm>
            <a:off x="4320000" y="2541960"/>
            <a:ext cx="3551040" cy="2943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5520" rIns="128160" tIns="128160" bIns="91440" anchor="t">
            <a:noAutofit/>
          </a:bodyPr>
          <a:p>
            <a:pPr defTabSz="457200">
              <a:lnSpc>
                <a:spcPct val="106000"/>
              </a:lnSpc>
              <a:spcAft>
                <a:spcPts val="499"/>
              </a:spcAf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</a:rPr>
              <a:t>▪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Deadline reminders and escalation to owners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99"/>
              </a:spcAf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</a:rPr>
              <a:t>▪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Version history, comments and team collaboration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99"/>
              </a:spcAf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</a:rPr>
              <a:t>▪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Support console and tenant health for scale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99"/>
              </a:spcAf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</a:rPr>
              <a:t>▪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Self-serve growth on published pricing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99"/>
              </a:spcAf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</a:rPr>
              <a:t>▪  </a:t>
            </a: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Reference customers for the fundraising story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Rounded Rectangle 17"/>
          <p:cNvSpPr/>
          <p:nvPr/>
        </p:nvSpPr>
        <p:spPr>
          <a:xfrm>
            <a:off x="4320000" y="5559480"/>
            <a:ext cx="3551040" cy="841320"/>
          </a:xfrm>
          <a:prstGeom prst="roundRect">
            <a:avLst>
              <a:gd name="adj" fmla="val 7000"/>
            </a:avLst>
          </a:prstGeom>
          <a:solidFill>
            <a:srgbClr val="ffffff">
              <a:alpha val="16000"/>
            </a:srgbClr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rIns="128160" tIns="64080" bIns="6408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</a:rPr>
              <a:t>EXIT TEST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3000"/>
              </a:lnSpc>
            </a:pP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Paid conversion without service-assisted set-up.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Rounded Rectangle 18"/>
          <p:cNvSpPr/>
          <p:nvPr/>
        </p:nvSpPr>
        <p:spPr>
          <a:xfrm>
            <a:off x="8073000" y="1682640"/>
            <a:ext cx="3551040" cy="730800"/>
          </a:xfrm>
          <a:prstGeom prst="roundRect">
            <a:avLst>
              <a:gd name="adj" fmla="val 7000"/>
            </a:avLst>
          </a:prstGeom>
          <a:solidFill>
            <a:srgbClr val="a78bf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rIns="128160" tIns="64080" bIns="64080" anchor="ctr">
            <a:noAutofit/>
          </a:bodyPr>
          <a:p>
            <a:pPr defTabSz="457200">
              <a:lnSpc>
                <a:spcPct val="100000"/>
              </a:lnSpc>
              <a:spcAft>
                <a:spcPts val="300"/>
              </a:spcAft>
            </a:pPr>
            <a:r>
              <a:rPr b="1" lang="en-US" sz="900" spc="-1" strike="noStrike">
                <a:solidFill>
                  <a:srgbClr val="ffffff"/>
                </a:solidFill>
                <a:latin typeface="Calibri"/>
              </a:rPr>
              <a:t>LATER · 9–24 MONTHS</a:t>
            </a:r>
            <a:endParaRPr b="0" lang="en-US" sz="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8000"/>
              </a:lnSpc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</a:rPr>
              <a:t>Own the category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Rounded Rectangle 19"/>
          <p:cNvSpPr/>
          <p:nvPr/>
        </p:nvSpPr>
        <p:spPr>
          <a:xfrm>
            <a:off x="8073000" y="2541960"/>
            <a:ext cx="3551040" cy="29437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55520" rIns="128160" tIns="128160" bIns="91440" anchor="t">
            <a:noAutofit/>
          </a:bodyPr>
          <a:p>
            <a:pPr defTabSz="457200">
              <a:lnSpc>
                <a:spcPct val="106000"/>
              </a:lnSpc>
              <a:spcAft>
                <a:spcPts val="499"/>
              </a:spcAf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</a:rPr>
              <a:t>▪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Sector packs: nutrition, food security, WASH, protection, education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99"/>
              </a:spcAf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</a:rPr>
              <a:t>▪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Integrations for field data, storage and dashboards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99"/>
              </a:spcAf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</a:rPr>
              <a:t>▪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Enterprise: SSO, data residency, service commitments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99"/>
              </a:spcAft>
            </a:pPr>
            <a:r>
              <a:rPr b="1" lang="en-US" sz="1300" spc="-1" strike="noStrike">
                <a:solidFill>
                  <a:srgbClr val="22d3ee"/>
                </a:solidFill>
                <a:latin typeface="Calibri"/>
              </a:rPr>
              <a:t>▪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A donor-side view of what was submitted, and when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3" name="Rounded Rectangle 20"/>
          <p:cNvSpPr/>
          <p:nvPr/>
        </p:nvSpPr>
        <p:spPr>
          <a:xfrm>
            <a:off x="8073000" y="5559480"/>
            <a:ext cx="3551040" cy="841320"/>
          </a:xfrm>
          <a:prstGeom prst="roundRect">
            <a:avLst>
              <a:gd name="adj" fmla="val 7000"/>
            </a:avLst>
          </a:prstGeom>
          <a:solidFill>
            <a:srgbClr val="a78bfa">
              <a:alpha val="16000"/>
            </a:srgbClr>
          </a:solidFill>
          <a:ln>
            <a:solidFill>
              <a:srgbClr val="a78bfa">
                <a:alpha val="35000"/>
              </a:srgbClr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8160" rIns="128160" tIns="64080" bIns="64080" anchor="ctr">
            <a:noAutofit/>
          </a:bodyPr>
          <a:p>
            <a:pPr defTabSz="457200">
              <a:lnSpc>
                <a:spcPct val="100000"/>
              </a:lnSpc>
              <a:spcAft>
                <a:spcPts val="201"/>
              </a:spcAft>
            </a:pPr>
            <a:r>
              <a:rPr b="1" lang="en-US" sz="1300" spc="-1" strike="noStrike">
                <a:solidFill>
                  <a:srgbClr val="a78bfa"/>
                </a:solidFill>
                <a:latin typeface="Calibri"/>
              </a:rPr>
              <a:t>EXIT TEST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3000"/>
              </a:lnSpc>
            </a:pPr>
            <a:r>
              <a:rPr b="0" lang="en-US" sz="1300" spc="-1" strike="noStrike">
                <a:solidFill>
                  <a:srgbClr val="f1f5f9"/>
                </a:solidFill>
                <a:latin typeface="Calibri"/>
              </a:rPr>
              <a:t>Teams choose DonorDesk because the pack already knows their funder's requirements.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Rectangle 1"/>
          <p:cNvSpPr/>
          <p:nvPr/>
        </p:nvSpPr>
        <p:spPr>
          <a:xfrm>
            <a:off x="0" y="0"/>
            <a:ext cx="12191040" cy="6857280"/>
          </a:xfrm>
          <a:prstGeom prst="rect">
            <a:avLst/>
          </a:prstGeom>
          <a:gradFill rotWithShape="0">
            <a:gsLst>
              <a:gs pos="0">
                <a:srgbClr val="020617"/>
              </a:gs>
              <a:gs pos="48000">
                <a:srgbClr val="050b1b"/>
              </a:gs>
              <a:gs pos="100000">
                <a:srgbClr val="020617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5" name="HeroGlow"/>
          <p:cNvSpPr/>
          <p:nvPr/>
        </p:nvSpPr>
        <p:spPr>
          <a:xfrm>
            <a:off x="-1463040" y="-2286000"/>
            <a:ext cx="15117120" cy="4571280"/>
          </a:xfrm>
          <a:prstGeom prst="ellipse">
            <a:avLst/>
          </a:prstGeom>
          <a:solidFill>
            <a:srgbClr val="0c8de6">
              <a:alpha val="10000"/>
            </a:srgbClr>
          </a:solidFill>
          <a:ln w="0">
            <a:noFill/>
          </a:ln>
          <a:effectLst>
            <a:softEdge rad="1270080"/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86" name="Oval 2"/>
          <p:cNvSpPr/>
          <p:nvPr/>
        </p:nvSpPr>
        <p:spPr>
          <a:xfrm>
            <a:off x="7955280" y="-2286000"/>
            <a:ext cx="6765840" cy="6765840"/>
          </a:xfrm>
          <a:prstGeom prst="ellipse">
            <a:avLst/>
          </a:prstGeom>
          <a:solidFill>
            <a:srgbClr val="0c8de6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7" name="Oval 3"/>
          <p:cNvSpPr/>
          <p:nvPr/>
        </p:nvSpPr>
        <p:spPr>
          <a:xfrm>
            <a:off x="-2651760" y="3749040"/>
            <a:ext cx="6217200" cy="6217200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>
            <a:softEdge rad="1270080"/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88" name="TextBox 4"/>
          <p:cNvSpPr/>
          <p:nvPr/>
        </p:nvSpPr>
        <p:spPr>
          <a:xfrm>
            <a:off x="567000" y="311040"/>
            <a:ext cx="11057040" cy="14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950" spc="-1" strike="noStrike">
                <a:solidFill>
                  <a:srgbClr val="7cc7fb"/>
                </a:solidFill>
                <a:latin typeface="Calibri"/>
              </a:rPr>
              <a:t>BUSINESS MODEL &amp; DECISIONS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TextBox 5"/>
          <p:cNvSpPr/>
          <p:nvPr/>
        </p:nvSpPr>
        <p:spPr>
          <a:xfrm>
            <a:off x="567000" y="548640"/>
            <a:ext cx="11057040" cy="36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1f5f9"/>
                </a:solidFill>
                <a:latin typeface="Calibri"/>
              </a:rPr>
              <a:t>Free to start. Priced for the teams that report most.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Box 6"/>
          <p:cNvSpPr/>
          <p:nvPr/>
        </p:nvSpPr>
        <p:spPr>
          <a:xfrm>
            <a:off x="567000" y="1005840"/>
            <a:ext cx="9730080" cy="4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1300" spc="-1" strike="noStrike">
                <a:solidFill>
                  <a:srgbClr val="cbd5e1"/>
                </a:solidFill>
                <a:latin typeface="Calibri"/>
              </a:rPr>
              <a:t>Subscriptions scale with projects, seats, storage and AI drafts — supported by service-assisted onboarding that turns pilots into recurring revenue.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Rectangle 7"/>
          <p:cNvSpPr/>
          <p:nvPr/>
        </p:nvSpPr>
        <p:spPr>
          <a:xfrm>
            <a:off x="567000" y="1463040"/>
            <a:ext cx="1233720" cy="49680"/>
          </a:xfrm>
          <a:prstGeom prst="rect">
            <a:avLst/>
          </a:prstGeom>
          <a:gradFill rotWithShape="0">
            <a:gsLst>
              <a:gs pos="0">
                <a:srgbClr val="0c8de6"/>
              </a:gs>
              <a:gs pos="100000">
                <a:srgbClr val="7cc7fb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2" name="Rectangle 8"/>
          <p:cNvSpPr/>
          <p:nvPr/>
        </p:nvSpPr>
        <p:spPr>
          <a:xfrm>
            <a:off x="1801440" y="1463040"/>
            <a:ext cx="273600" cy="4968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3" name="TextBox 9"/>
          <p:cNvSpPr/>
          <p:nvPr/>
        </p:nvSpPr>
        <p:spPr>
          <a:xfrm>
            <a:off x="567000" y="6391800"/>
            <a:ext cx="884556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DonorDesk · Evidence intelligence for funded programmes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4" name="TextBox 10"/>
          <p:cNvSpPr/>
          <p:nvPr/>
        </p:nvSpPr>
        <p:spPr>
          <a:xfrm>
            <a:off x="10436040" y="6391800"/>
            <a:ext cx="1188000" cy="12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850" spc="-1" strike="noStrike">
                <a:solidFill>
                  <a:srgbClr val="94a3b8"/>
                </a:solidFill>
                <a:latin typeface="Calibri"/>
              </a:rPr>
              <a:t>20 / 20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95" name="Table 11"/>
          <p:cNvGraphicFramePr/>
          <p:nvPr/>
        </p:nvGraphicFramePr>
        <p:xfrm>
          <a:off x="567000" y="1737360"/>
          <a:ext cx="5887800" cy="1792080"/>
        </p:xfrm>
        <a:graphic>
          <a:graphicData uri="http://schemas.openxmlformats.org/drawingml/2006/table">
            <a:tbl>
              <a:tblPr/>
              <a:tblGrid>
                <a:gridCol w="1447920"/>
                <a:gridCol w="965160"/>
                <a:gridCol w="965160"/>
                <a:gridCol w="2509920"/>
              </a:tblGrid>
              <a:tr h="32904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Plan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0c8de6"/>
                        </a:gs>
                        <a:gs pos="100000">
                          <a:srgbClr val="0070c4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Monthly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0c8de6"/>
                        </a:gs>
                        <a:gs pos="100000">
                          <a:srgbClr val="0070c4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Annual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0c8de6"/>
                        </a:gs>
                        <a:gs pos="100000">
                          <a:srgbClr val="0070c4"/>
                        </a:gs>
                      </a:gsLst>
                      <a:lin ang="5400000"/>
                    </a:gra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Who it fits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0c8de6"/>
                        </a:gs>
                        <a:gs pos="100000">
                          <a:srgbClr val="0070c4"/>
                        </a:gs>
                      </a:gsLst>
                      <a:lin ang="5400000"/>
                    </a:gradFill>
                  </a:tcPr>
                </a:tc>
              </a:tr>
              <a:tr h="36576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1" lang="en-US" sz="12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Starter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$0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$0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First funded programme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36576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1" lang="en-US" sz="12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Team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>
                        <a:alpha val="3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$59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>
                        <a:alpha val="3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$590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>
                        <a:alpha val="3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Several grants or projects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>
                        <a:alpha val="3000"/>
                      </a:srgbClr>
                    </a:solidFill>
                  </a:tcPr>
                </a:tc>
              </a:tr>
              <a:tr h="36576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1" lang="en-US" sz="12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Growth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$149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$1,490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Multiple funders, high volume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</a:tr>
              <a:tr h="365760"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1" lang="en-US" sz="1200" spc="-1" strike="noStrike">
                          <a:solidFill>
                            <a:srgbClr val="f1f5f9"/>
                          </a:solidFill>
                          <a:latin typeface="Calibri"/>
                        </a:rPr>
                        <a:t>Enterprise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>
                        <a:alpha val="3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Custom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>
                        <a:alpha val="3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Custom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>
                        <a:alpha val="3000"/>
                      </a:srgbClr>
                    </a:solidFill>
                  </a:tcPr>
                </a:tc>
                <a:tc>
                  <a:txBody>
                    <a:bodyPr lIns="82080" rIns="82080" anchor="ctr">
                      <a:noAutofit/>
                    </a:bodyPr>
                    <a:p>
                      <a:pPr defTabSz="457200">
                        <a:lnSpc>
                          <a:spcPct val="98000"/>
                        </a:lnSpc>
                      </a:pPr>
                      <a:r>
                        <a:rPr b="0" lang="en-US" sz="1200" spc="-1" strike="noStrike">
                          <a:solidFill>
                            <a:srgbClr val="cbd5e1"/>
                          </a:solidFill>
                          <a:latin typeface="Calibri"/>
                        </a:rPr>
                        <a:t>INGOs, research, public bodies</a:t>
                      </a:r>
                      <a:endParaRPr b="0" lang="en-US" sz="12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080" marR="820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2d3ee">
                        <a:alpha val="3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96" name="TextBox 12"/>
          <p:cNvSpPr/>
          <p:nvPr/>
        </p:nvSpPr>
        <p:spPr>
          <a:xfrm>
            <a:off x="567000" y="3602880"/>
            <a:ext cx="58881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10000"/>
              </a:lnSpc>
            </a:pPr>
            <a:r>
              <a:rPr b="0" lang="en-US" sz="950" spc="-1" strike="noStrike">
                <a:solidFill>
                  <a:srgbClr val="64748b"/>
                </a:solidFill>
                <a:latin typeface="Calibri"/>
              </a:rPr>
              <a:t>Annual billing gives two months free. Nonprofit discounts are available for qualifying organisations; tax is calculated at checkout.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Rounded Rectangle 13"/>
          <p:cNvSpPr/>
          <p:nvPr/>
        </p:nvSpPr>
        <p:spPr>
          <a:xfrm>
            <a:off x="567000" y="4060080"/>
            <a:ext cx="5888160" cy="120636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Unit economics we watch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Cost to serve falls as templates and sector packs are reused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AI usage is metered per plan, and a failed run is never charged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1" lang="en-US" sz="1100" spc="-1" strike="noStrike">
                <a:solidFill>
                  <a:srgbClr val="34d399"/>
                </a:solidFill>
                <a:latin typeface="Calibri"/>
              </a:rPr>
              <a:t>✓  </a:t>
            </a: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Storage stays bring-your-own where the organisation prefers it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8" name="Rounded Rectangle 14"/>
          <p:cNvSpPr/>
          <p:nvPr/>
        </p:nvSpPr>
        <p:spPr>
          <a:xfrm>
            <a:off x="567000" y="4060080"/>
            <a:ext cx="588816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499" name="Rounded Rectangle 17"/>
          <p:cNvSpPr/>
          <p:nvPr/>
        </p:nvSpPr>
        <p:spPr>
          <a:xfrm>
            <a:off x="6656760" y="1847880"/>
            <a:ext cx="4967280" cy="1572120"/>
          </a:xfrm>
          <a:prstGeom prst="roundRect">
            <a:avLst>
              <a:gd name="adj" fmla="val 6000"/>
            </a:avLst>
          </a:prstGeom>
          <a:gradFill rotWithShape="0">
            <a:gsLst>
              <a:gs pos="0">
                <a:srgbClr val="ffffff">
                  <a:alpha val="7000"/>
                </a:srgbClr>
              </a:gs>
              <a:gs pos="100000">
                <a:srgbClr val="ffffff">
                  <a:alpha val="2000"/>
                </a:srgbClr>
              </a:gs>
            </a:gsLst>
            <a:lin ang="5400000"/>
          </a:gradFill>
          <a:ln>
            <a:solidFill>
              <a:srgbClr val="ffffff">
                <a:alpha val="1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46160" tIns="164520" bIns="109800" anchor="t">
            <a:noAutofit/>
          </a:bodyPr>
          <a:p>
            <a:pPr defTabSz="457200">
              <a:lnSpc>
                <a:spcPct val="98000"/>
              </a:lnSpc>
              <a:spcAft>
                <a:spcPts val="601"/>
              </a:spcAft>
            </a:pPr>
            <a:r>
              <a:rPr b="1" lang="en-US" sz="1250" spc="-1" strike="noStrike">
                <a:solidFill>
                  <a:srgbClr val="f1f5f9"/>
                </a:solidFill>
                <a:latin typeface="Calibri"/>
              </a:rPr>
              <a:t>Decisions requested today</a:t>
            </a:r>
            <a:endParaRPr b="0" lang="en-US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1  Approve the published pricing and the nonprofit discount policy.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2  Approve a 3–5 NGO pilot programme with service-assisted onboarding.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3  Note the go-to-market sequence: local and national NGOs first.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6000"/>
              </a:lnSpc>
              <a:spcAft>
                <a:spcPts val="400"/>
              </a:spcAft>
            </a:pPr>
            <a:r>
              <a:rPr b="0" lang="en-US" sz="1100" spc="-1" strike="noStrike">
                <a:solidFill>
                  <a:srgbClr val="cbd5e1"/>
                </a:solidFill>
                <a:latin typeface="Calibri"/>
              </a:rPr>
              <a:t>4  Note the 90-day operational hardening list on slide 18.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Rounded Rectangle 18"/>
          <p:cNvSpPr/>
          <p:nvPr/>
        </p:nvSpPr>
        <p:spPr>
          <a:xfrm>
            <a:off x="6691320" y="1779120"/>
            <a:ext cx="4967280" cy="49680"/>
          </a:xfrm>
          <a:prstGeom prst="roundRect">
            <a:avLst>
              <a:gd name="adj" fmla="val 30000"/>
            </a:avLst>
          </a:prstGeom>
          <a:gradFill rotWithShape="0">
            <a:gsLst>
              <a:gs pos="0">
                <a:srgbClr val="a78bfa"/>
              </a:gs>
              <a:gs pos="100000">
                <a:srgbClr val="c4b5fd"/>
              </a:gs>
            </a:gsLst>
            <a:lin ang="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" bIns="-36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01" name="Rounded Rectangle 19"/>
          <p:cNvSpPr/>
          <p:nvPr/>
        </p:nvSpPr>
        <p:spPr>
          <a:xfrm>
            <a:off x="567000" y="5477400"/>
            <a:ext cx="11057040" cy="438120"/>
          </a:xfrm>
          <a:prstGeom prst="roundRect">
            <a:avLst>
              <a:gd name="adj" fmla="val 8000"/>
            </a:avLst>
          </a:prstGeom>
          <a:gradFill rotWithShape="0">
            <a:gsLst>
              <a:gs pos="0">
                <a:srgbClr val="0c8de6">
                  <a:alpha val="32000"/>
                </a:srgbClr>
              </a:gs>
              <a:gs pos="60000">
                <a:srgbClr val="0c8de6">
                  <a:alpha val="14000"/>
                </a:srgbClr>
              </a:gs>
              <a:gs pos="100000">
                <a:srgbClr val="22d3ee">
                  <a:alpha val="7000"/>
                </a:srgbClr>
              </a:gs>
            </a:gsLst>
            <a:lin ang="0"/>
          </a:gradFill>
          <a:ln>
            <a:solidFill>
              <a:srgbClr val="7cc7fb">
                <a:alpha val="30000"/>
              </a:srgbClr>
            </a:solidFill>
            <a:round/>
          </a:ln>
          <a:effectLst>
            <a:outerShdw blurRad="228600" dir="5400000" dist="50760" rotWithShape="0">
              <a:srgbClr val="000000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219600" rIns="182880" tIns="45000" bIns="45000" anchor="ctr">
            <a:noAutofit/>
          </a:bodyPr>
          <a:p>
            <a:pPr defTabSz="457200">
              <a:lnSpc>
                <a:spcPct val="105000"/>
              </a:lnSpc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</a:rPr>
              <a:t>Closing:  </a:t>
            </a:r>
            <a:r>
              <a:rPr b="1" lang="en-US" sz="1400" spc="-1" strike="noStrike">
                <a:solidFill>
                  <a:srgbClr val="22d3ee"/>
                </a:solidFill>
                <a:latin typeface="Calibri"/>
              </a:rPr>
              <a:t>make every reporting period easier than the last.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Rectangle 20"/>
          <p:cNvSpPr/>
          <p:nvPr/>
        </p:nvSpPr>
        <p:spPr>
          <a:xfrm>
            <a:off x="567000" y="5477400"/>
            <a:ext cx="63360" cy="438120"/>
          </a:xfrm>
          <a:prstGeom prst="rect">
            <a:avLst/>
          </a:prstGeom>
          <a:gradFill rotWithShape="0">
            <a:gsLst>
              <a:gs pos="0">
                <a:srgbClr val="22d3ee"/>
              </a:gs>
              <a:gs pos="100000">
                <a:srgbClr val="a5f3fc"/>
              </a:gs>
            </a:gsLst>
            <a:lin ang="5400000"/>
          </a:gra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Mohammad Najeeb</cp:lastModifiedBy>
  <dcterms:modified xsi:type="dcterms:W3CDTF">2026-09-28T19:25:45Z</dcterms:modified>
  <cp:revision>15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